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Lu" userId="65677d25-64a9-4d0a-aaa0-eb9773526453" providerId="ADAL" clId="{0BF73FD7-F12C-41D7-A3E2-149EC2D734D6}"/>
    <pc:docChg chg="undo custSel delSld modSld">
      <pc:chgData name="Alex Lu" userId="65677d25-64a9-4d0a-aaa0-eb9773526453" providerId="ADAL" clId="{0BF73FD7-F12C-41D7-A3E2-149EC2D734D6}" dt="2026-01-19T02:29:49.949" v="56" actId="1038"/>
      <pc:docMkLst>
        <pc:docMk/>
      </pc:docMkLst>
      <pc:sldChg chg="delSp mod">
        <pc:chgData name="Alex Lu" userId="65677d25-64a9-4d0a-aaa0-eb9773526453" providerId="ADAL" clId="{0BF73FD7-F12C-41D7-A3E2-149EC2D734D6}" dt="2026-01-19T01:49:59.059" v="2" actId="478"/>
        <pc:sldMkLst>
          <pc:docMk/>
          <pc:sldMk cId="0" sldId="256"/>
        </pc:sldMkLst>
        <pc:spChg chg="del">
          <ac:chgData name="Alex Lu" userId="65677d25-64a9-4d0a-aaa0-eb9773526453" providerId="ADAL" clId="{0BF73FD7-F12C-41D7-A3E2-149EC2D734D6}" dt="2026-01-19T01:49:59.059" v="2" actId="478"/>
          <ac:spMkLst>
            <pc:docMk/>
            <pc:sldMk cId="0" sldId="256"/>
            <ac:spMk id="6" creationId="{00000000-0000-0000-0000-000000000000}"/>
          </ac:spMkLst>
        </pc:spChg>
        <pc:spChg chg="del">
          <ac:chgData name="Alex Lu" userId="65677d25-64a9-4d0a-aaa0-eb9773526453" providerId="ADAL" clId="{0BF73FD7-F12C-41D7-A3E2-149EC2D734D6}" dt="2026-01-19T01:49:57.380" v="1" actId="478"/>
          <ac:spMkLst>
            <pc:docMk/>
            <pc:sldMk cId="0" sldId="256"/>
            <ac:spMk id="7" creationId="{00000000-0000-0000-0000-000000000000}"/>
          </ac:spMkLst>
        </pc:spChg>
      </pc:sldChg>
      <pc:sldChg chg="modSp mod">
        <pc:chgData name="Alex Lu" userId="65677d25-64a9-4d0a-aaa0-eb9773526453" providerId="ADAL" clId="{0BF73FD7-F12C-41D7-A3E2-149EC2D734D6}" dt="2026-01-19T02:29:49.949" v="56" actId="1038"/>
        <pc:sldMkLst>
          <pc:docMk/>
          <pc:sldMk cId="0" sldId="262"/>
        </pc:sldMkLst>
        <pc:spChg chg="mod">
          <ac:chgData name="Alex Lu" userId="65677d25-64a9-4d0a-aaa0-eb9773526453" providerId="ADAL" clId="{0BF73FD7-F12C-41D7-A3E2-149EC2D734D6}" dt="2026-01-19T02:29:43.906" v="36" actId="1037"/>
          <ac:spMkLst>
            <pc:docMk/>
            <pc:sldMk cId="0" sldId="262"/>
            <ac:spMk id="4" creationId="{00000000-0000-0000-0000-000000000000}"/>
          </ac:spMkLst>
        </pc:spChg>
        <pc:spChg chg="mod">
          <ac:chgData name="Alex Lu" userId="65677d25-64a9-4d0a-aaa0-eb9773526453" providerId="ADAL" clId="{0BF73FD7-F12C-41D7-A3E2-149EC2D734D6}" dt="2026-01-19T02:29:34.694" v="24" actId="1037"/>
          <ac:spMkLst>
            <pc:docMk/>
            <pc:sldMk cId="0" sldId="262"/>
            <ac:spMk id="5" creationId="{00000000-0000-0000-0000-000000000000}"/>
          </ac:spMkLst>
        </pc:spChg>
        <pc:spChg chg="mod">
          <ac:chgData name="Alex Lu" userId="65677d25-64a9-4d0a-aaa0-eb9773526453" providerId="ADAL" clId="{0BF73FD7-F12C-41D7-A3E2-149EC2D734D6}" dt="2026-01-19T02:29:34.694" v="24" actId="1037"/>
          <ac:spMkLst>
            <pc:docMk/>
            <pc:sldMk cId="0" sldId="262"/>
            <ac:spMk id="7" creationId="{00000000-0000-0000-0000-000000000000}"/>
          </ac:spMkLst>
        </pc:spChg>
        <pc:spChg chg="mod">
          <ac:chgData name="Alex Lu" userId="65677d25-64a9-4d0a-aaa0-eb9773526453" providerId="ADAL" clId="{0BF73FD7-F12C-41D7-A3E2-149EC2D734D6}" dt="2026-01-19T02:29:43.906" v="36" actId="1037"/>
          <ac:spMkLst>
            <pc:docMk/>
            <pc:sldMk cId="0" sldId="262"/>
            <ac:spMk id="8" creationId="{00000000-0000-0000-0000-000000000000}"/>
          </ac:spMkLst>
        </pc:spChg>
        <pc:spChg chg="mod">
          <ac:chgData name="Alex Lu" userId="65677d25-64a9-4d0a-aaa0-eb9773526453" providerId="ADAL" clId="{0BF73FD7-F12C-41D7-A3E2-149EC2D734D6}" dt="2026-01-19T02:29:27.170" v="15" actId="1037"/>
          <ac:spMkLst>
            <pc:docMk/>
            <pc:sldMk cId="0" sldId="262"/>
            <ac:spMk id="9" creationId="{00000000-0000-0000-0000-000000000000}"/>
          </ac:spMkLst>
        </pc:spChg>
        <pc:spChg chg="mod">
          <ac:chgData name="Alex Lu" userId="65677d25-64a9-4d0a-aaa0-eb9773526453" providerId="ADAL" clId="{0BF73FD7-F12C-41D7-A3E2-149EC2D734D6}" dt="2026-01-19T02:29:43.906" v="36" actId="1037"/>
          <ac:spMkLst>
            <pc:docMk/>
            <pc:sldMk cId="0" sldId="262"/>
            <ac:spMk id="11" creationId="{00000000-0000-0000-0000-000000000000}"/>
          </ac:spMkLst>
        </pc:spChg>
        <pc:spChg chg="mod">
          <ac:chgData name="Alex Lu" userId="65677d25-64a9-4d0a-aaa0-eb9773526453" providerId="ADAL" clId="{0BF73FD7-F12C-41D7-A3E2-149EC2D734D6}" dt="2026-01-19T02:29:34.694" v="24" actId="1037"/>
          <ac:spMkLst>
            <pc:docMk/>
            <pc:sldMk cId="0" sldId="262"/>
            <ac:spMk id="12" creationId="{00000000-0000-0000-0000-000000000000}"/>
          </ac:spMkLst>
        </pc:spChg>
        <pc:spChg chg="mod">
          <ac:chgData name="Alex Lu" userId="65677d25-64a9-4d0a-aaa0-eb9773526453" providerId="ADAL" clId="{0BF73FD7-F12C-41D7-A3E2-149EC2D734D6}" dt="2026-01-19T02:29:34.694" v="24" actId="1037"/>
          <ac:spMkLst>
            <pc:docMk/>
            <pc:sldMk cId="0" sldId="262"/>
            <ac:spMk id="14" creationId="{00000000-0000-0000-0000-000000000000}"/>
          </ac:spMkLst>
        </pc:spChg>
        <pc:spChg chg="mod">
          <ac:chgData name="Alex Lu" userId="65677d25-64a9-4d0a-aaa0-eb9773526453" providerId="ADAL" clId="{0BF73FD7-F12C-41D7-A3E2-149EC2D734D6}" dt="2026-01-19T02:29:34.694" v="24" actId="1037"/>
          <ac:spMkLst>
            <pc:docMk/>
            <pc:sldMk cId="0" sldId="262"/>
            <ac:spMk id="16" creationId="{00000000-0000-0000-0000-000000000000}"/>
          </ac:spMkLst>
        </pc:spChg>
        <pc:spChg chg="mod">
          <ac:chgData name="Alex Lu" userId="65677d25-64a9-4d0a-aaa0-eb9773526453" providerId="ADAL" clId="{0BF73FD7-F12C-41D7-A3E2-149EC2D734D6}" dt="2026-01-19T02:29:43.906" v="36" actId="1037"/>
          <ac:spMkLst>
            <pc:docMk/>
            <pc:sldMk cId="0" sldId="262"/>
            <ac:spMk id="18" creationId="{00000000-0000-0000-0000-000000000000}"/>
          </ac:spMkLst>
        </pc:spChg>
        <pc:spChg chg="mod">
          <ac:chgData name="Alex Lu" userId="65677d25-64a9-4d0a-aaa0-eb9773526453" providerId="ADAL" clId="{0BF73FD7-F12C-41D7-A3E2-149EC2D734D6}" dt="2026-01-19T02:29:43.906" v="36" actId="1037"/>
          <ac:spMkLst>
            <pc:docMk/>
            <pc:sldMk cId="0" sldId="262"/>
            <ac:spMk id="20" creationId="{00000000-0000-0000-0000-000000000000}"/>
          </ac:spMkLst>
        </pc:spChg>
        <pc:spChg chg="mod">
          <ac:chgData name="Alex Lu" userId="65677d25-64a9-4d0a-aaa0-eb9773526453" providerId="ADAL" clId="{0BF73FD7-F12C-41D7-A3E2-149EC2D734D6}" dt="2026-01-19T02:29:43.906" v="36" actId="1037"/>
          <ac:spMkLst>
            <pc:docMk/>
            <pc:sldMk cId="0" sldId="262"/>
            <ac:spMk id="22" creationId="{00000000-0000-0000-0000-000000000000}"/>
          </ac:spMkLst>
        </pc:spChg>
        <pc:spChg chg="mod">
          <ac:chgData name="Alex Lu" userId="65677d25-64a9-4d0a-aaa0-eb9773526453" providerId="ADAL" clId="{0BF73FD7-F12C-41D7-A3E2-149EC2D734D6}" dt="2026-01-19T02:29:43.906" v="36" actId="1037"/>
          <ac:spMkLst>
            <pc:docMk/>
            <pc:sldMk cId="0" sldId="262"/>
            <ac:spMk id="25" creationId="{00000000-0000-0000-0000-000000000000}"/>
          </ac:spMkLst>
        </pc:spChg>
        <pc:spChg chg="mod">
          <ac:chgData name="Alex Lu" userId="65677d25-64a9-4d0a-aaa0-eb9773526453" providerId="ADAL" clId="{0BF73FD7-F12C-41D7-A3E2-149EC2D734D6}" dt="2026-01-19T02:29:43.906" v="36" actId="1037"/>
          <ac:spMkLst>
            <pc:docMk/>
            <pc:sldMk cId="0" sldId="262"/>
            <ac:spMk id="29" creationId="{00000000-0000-0000-0000-000000000000}"/>
          </ac:spMkLst>
        </pc:spChg>
        <pc:spChg chg="mod">
          <ac:chgData name="Alex Lu" userId="65677d25-64a9-4d0a-aaa0-eb9773526453" providerId="ADAL" clId="{0BF73FD7-F12C-41D7-A3E2-149EC2D734D6}" dt="2026-01-19T02:29:43.906" v="36" actId="1037"/>
          <ac:spMkLst>
            <pc:docMk/>
            <pc:sldMk cId="0" sldId="262"/>
            <ac:spMk id="34" creationId="{00000000-0000-0000-0000-000000000000}"/>
          </ac:spMkLst>
        </pc:spChg>
        <pc:spChg chg="mod">
          <ac:chgData name="Alex Lu" userId="65677d25-64a9-4d0a-aaa0-eb9773526453" providerId="ADAL" clId="{0BF73FD7-F12C-41D7-A3E2-149EC2D734D6}" dt="2026-01-19T02:29:43.906" v="36" actId="1037"/>
          <ac:spMkLst>
            <pc:docMk/>
            <pc:sldMk cId="0" sldId="262"/>
            <ac:spMk id="38" creationId="{00000000-0000-0000-0000-000000000000}"/>
          </ac:spMkLst>
        </pc:spChg>
        <pc:picChg chg="mod">
          <ac:chgData name="Alex Lu" userId="65677d25-64a9-4d0a-aaa0-eb9773526453" providerId="ADAL" clId="{0BF73FD7-F12C-41D7-A3E2-149EC2D734D6}" dt="2026-01-19T02:29:27.170" v="15" actId="1037"/>
          <ac:picMkLst>
            <pc:docMk/>
            <pc:sldMk cId="0" sldId="262"/>
            <ac:picMk id="6" creationId="{00000000-0000-0000-0000-000000000000}"/>
          </ac:picMkLst>
        </pc:picChg>
        <pc:picChg chg="mod">
          <ac:chgData name="Alex Lu" userId="65677d25-64a9-4d0a-aaa0-eb9773526453" providerId="ADAL" clId="{0BF73FD7-F12C-41D7-A3E2-149EC2D734D6}" dt="2026-01-19T02:29:27.170" v="15" actId="1037"/>
          <ac:picMkLst>
            <pc:docMk/>
            <pc:sldMk cId="0" sldId="262"/>
            <ac:picMk id="10" creationId="{00000000-0000-0000-0000-000000000000}"/>
          </ac:picMkLst>
        </pc:picChg>
        <pc:cxnChg chg="mod">
          <ac:chgData name="Alex Lu" userId="65677d25-64a9-4d0a-aaa0-eb9773526453" providerId="ADAL" clId="{0BF73FD7-F12C-41D7-A3E2-149EC2D734D6}" dt="2026-01-19T02:29:27.170" v="15" actId="1037"/>
          <ac:cxnSpMkLst>
            <pc:docMk/>
            <pc:sldMk cId="0" sldId="262"/>
            <ac:cxnSpMk id="13" creationId="{00000000-0000-0000-0000-000000000000}"/>
          </ac:cxnSpMkLst>
        </pc:cxnChg>
        <pc:cxnChg chg="mod">
          <ac:chgData name="Alex Lu" userId="65677d25-64a9-4d0a-aaa0-eb9773526453" providerId="ADAL" clId="{0BF73FD7-F12C-41D7-A3E2-149EC2D734D6}" dt="2026-01-19T02:29:49.949" v="56" actId="1038"/>
          <ac:cxnSpMkLst>
            <pc:docMk/>
            <pc:sldMk cId="0" sldId="262"/>
            <ac:cxnSpMk id="21" creationId="{00000000-0000-0000-0000-000000000000}"/>
          </ac:cxnSpMkLst>
        </pc:cxnChg>
      </pc:sldChg>
      <pc:sldChg chg="del">
        <pc:chgData name="Alex Lu" userId="65677d25-64a9-4d0a-aaa0-eb9773526453" providerId="ADAL" clId="{0BF73FD7-F12C-41D7-A3E2-149EC2D734D6}" dt="2026-01-19T01:49:46.221" v="0" actId="47"/>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关于美国养老院市场医疗器械耗材的分析报告。今天，我们将深入探讨美国长期护理市场中消耗量最大的几类医疗器械耗材产品，分析它们的使用场景，并为有意进入这一市场的企业提供切实可行的渠道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本次报告将分为四个部分。首先，我们将分析消耗量最大的注射器类产品；其次，是感染控制的核心——PPE产品；第三部分将聚焦于伤口护理产品；最后，我们将为大家提供进入美国市场的渠道策略建议。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来看注射器类产品，这是养老院中消耗量最大的基础耗材。普通安全注射器主要用于常规药物注射和疫苗接种，其中3ml规格的年消耗量高达45-50亿支。而胰岛素注射器则是糖尿病居民的必需品，年消耗量也达到了12-15亿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普通和胰岛素注射器，结核菌素注射器和预填充注射器也有很大的市场需求。结核菌素注射器主要用于皮肤测试和小剂量注射，年消耗量约8-10亿支。而预填充注射器因其使用方便、减少污染风险的特点，在急救和预防性用药中得到广泛应用，年消耗量约6-8亿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接下来是PPE产品，这是感染控制的核心耗材。医用检查手套的年消耗量高达18-20亿双，是所有护理操作的必备品。医用外科口罩的年消耗量也达到了10-12亿个，在日常护理和访客探视中广泛使用。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隔离衣和防护面罩也是PPE产品中的重要组成部分。隔离衣的年消耗量约1.2-1.5亿件，主要用于接触隔离患者和处理体液。防护面罩的年消耗量约1.5-2亿个，在高风险操作中提供全脸防护。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伤口护理产品方面，无菌纱布垫是最基础的耗材，年消耗量约8-10亿片，主要用于清洁和覆盖伤口。水胶体敷料则因其能形成湿润愈合环境、不粘连新生组织的特点，在压疮预防和浅表烧伤护理中得到广泛应用，年消耗量约2.5-3亿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对于中重度渗出的伤口，藻酸盐敷料是首选，它的高吸收性能够有效吸收渗出液，促进肉芽组织生长，年消耗量约1.2-1.5亿片。而银离子抗菌敷料则在感染伤口的治疗中发挥重要作用，年消耗量约0.8-1亿片。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探讨如何进入美国市场。主要有三种渠道策略：GPO合作、分销商网络和直销团队。GPO合作是核心渠道，可以快速覆盖大量养老院；分销商网络可以提供完善的配送和本地化服务；而直销团队则可以针对大型连锁机构，建立长期合作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总结一下，美国养老院市场对医疗器械耗材的需求量巨大，产品规格明确。企业要进入这一市场，需要选择合适的渠道组合，并确保产品合规。希望本次报告能为大家提供有价值的参考。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18" Type="http://schemas.openxmlformats.org/officeDocument/2006/relationships/image" Target="../media/image22.sv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21.png"/><Relationship Id="rId2" Type="http://schemas.openxmlformats.org/officeDocument/2006/relationships/notesSlide" Target="../notesSlides/notesSlide4.xml"/><Relationship Id="rId16" Type="http://schemas.openxmlformats.org/officeDocument/2006/relationships/image" Target="../media/image20.svg"/><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2.svg"/><Relationship Id="rId9" Type="http://schemas.openxmlformats.org/officeDocument/2006/relationships/image" Target="../media/image13.png"/><Relationship Id="rId14"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29.png"/><Relationship Id="rId3" Type="http://schemas.openxmlformats.org/officeDocument/2006/relationships/image" Target="../media/image23.png"/><Relationship Id="rId7" Type="http://schemas.openxmlformats.org/officeDocument/2006/relationships/image" Target="../media/image25.png"/><Relationship Id="rId12" Type="http://schemas.openxmlformats.org/officeDocument/2006/relationships/image" Target="../media/image6.svg"/><Relationship Id="rId2" Type="http://schemas.openxmlformats.org/officeDocument/2006/relationships/notesSlide" Target="../notesSlides/notesSlide5.xml"/><Relationship Id="rId16" Type="http://schemas.openxmlformats.org/officeDocument/2006/relationships/image" Target="../media/image32.svg"/><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5.png"/><Relationship Id="rId5" Type="http://schemas.openxmlformats.org/officeDocument/2006/relationships/image" Target="../media/image9.png"/><Relationship Id="rId15" Type="http://schemas.openxmlformats.org/officeDocument/2006/relationships/image" Target="../media/image31.png"/><Relationship Id="rId10" Type="http://schemas.openxmlformats.org/officeDocument/2006/relationships/image" Target="../media/image28.svg"/><Relationship Id="rId4" Type="http://schemas.openxmlformats.org/officeDocument/2006/relationships/image" Target="../media/image24.svg"/><Relationship Id="rId9" Type="http://schemas.openxmlformats.org/officeDocument/2006/relationships/image" Target="../media/image27.pn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1.png"/><Relationship Id="rId18" Type="http://schemas.openxmlformats.org/officeDocument/2006/relationships/image" Target="../media/image44.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0.svg"/><Relationship Id="rId17" Type="http://schemas.openxmlformats.org/officeDocument/2006/relationships/image" Target="../media/image43.png"/><Relationship Id="rId2" Type="http://schemas.openxmlformats.org/officeDocument/2006/relationships/notesSlide" Target="../notesSlides/notesSlide6.xml"/><Relationship Id="rId16" Type="http://schemas.openxmlformats.org/officeDocument/2006/relationships/image" Target="../media/image42.svg"/><Relationship Id="rId1" Type="http://schemas.openxmlformats.org/officeDocument/2006/relationships/slideLayout" Target="../slideLayouts/slideLayout12.xml"/><Relationship Id="rId6" Type="http://schemas.openxmlformats.org/officeDocument/2006/relationships/image" Target="../media/image36.svg"/><Relationship Id="rId11" Type="http://schemas.openxmlformats.org/officeDocument/2006/relationships/image" Target="../media/image39.png"/><Relationship Id="rId5" Type="http://schemas.openxmlformats.org/officeDocument/2006/relationships/image" Target="../media/image35.png"/><Relationship Id="rId15" Type="http://schemas.openxmlformats.org/officeDocument/2006/relationships/image" Target="../media/image41.png"/><Relationship Id="rId10" Type="http://schemas.openxmlformats.org/officeDocument/2006/relationships/image" Target="../media/image30.svg"/><Relationship Id="rId4" Type="http://schemas.openxmlformats.org/officeDocument/2006/relationships/image" Target="../media/image34.svg"/><Relationship Id="rId9" Type="http://schemas.openxmlformats.org/officeDocument/2006/relationships/image" Target="../media/image29.png"/><Relationship Id="rId1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9.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svg"/><Relationship Id="rId2" Type="http://schemas.openxmlformats.org/officeDocument/2006/relationships/notesSlide" Target="../notesSlides/notesSlide8.xml"/><Relationship Id="rId16" Type="http://schemas.openxmlformats.org/officeDocument/2006/relationships/image" Target="../media/image62.svg"/><Relationship Id="rId1" Type="http://schemas.openxmlformats.org/officeDocument/2006/relationships/slideLayout" Target="../slideLayouts/slideLayout12.xml"/><Relationship Id="rId6" Type="http://schemas.openxmlformats.org/officeDocument/2006/relationships/image" Target="../media/image52.sv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 Id="rId14" Type="http://schemas.openxmlformats.org/officeDocument/2006/relationships/image" Target="../media/image60.svg"/></Relationships>
</file>

<file path=ppt/slides/_rels/slide9.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png"/><Relationship Id="rId18" Type="http://schemas.openxmlformats.org/officeDocument/2006/relationships/image" Target="../media/image62.svg"/><Relationship Id="rId3" Type="http://schemas.openxmlformats.org/officeDocument/2006/relationships/image" Target="../media/image63.png"/><Relationship Id="rId7" Type="http://schemas.openxmlformats.org/officeDocument/2006/relationships/image" Target="../media/image65.png"/><Relationship Id="rId12" Type="http://schemas.openxmlformats.org/officeDocument/2006/relationships/image" Target="../media/image70.svg"/><Relationship Id="rId17" Type="http://schemas.openxmlformats.org/officeDocument/2006/relationships/image" Target="../media/image61.png"/><Relationship Id="rId2" Type="http://schemas.openxmlformats.org/officeDocument/2006/relationships/notesSlide" Target="../notesSlides/notesSlide9.xml"/><Relationship Id="rId16" Type="http://schemas.openxmlformats.org/officeDocument/2006/relationships/image" Target="../media/image40.svg"/><Relationship Id="rId1" Type="http://schemas.openxmlformats.org/officeDocument/2006/relationships/slideLayout" Target="../slideLayouts/slideLayout12.xml"/><Relationship Id="rId6" Type="http://schemas.openxmlformats.org/officeDocument/2006/relationships/image" Target="../media/image26.svg"/><Relationship Id="rId11" Type="http://schemas.openxmlformats.org/officeDocument/2006/relationships/image" Target="../media/image69.png"/><Relationship Id="rId5" Type="http://schemas.openxmlformats.org/officeDocument/2006/relationships/image" Target="../media/image25.png"/><Relationship Id="rId15" Type="http://schemas.openxmlformats.org/officeDocument/2006/relationships/image" Target="../media/image39.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 Id="rId14" Type="http://schemas.openxmlformats.org/officeDocument/2006/relationships/image" Target="../media/image72.svg"/></Relationships>
</file>

<file path=ppt/slides/_rels/slide10.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9.png"/><Relationship Id="rId7"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4.svg"/><Relationship Id="rId5" Type="http://schemas.openxmlformats.org/officeDocument/2006/relationships/image" Target="../media/image73.png"/><Relationship Id="rId10" Type="http://schemas.openxmlformats.org/officeDocument/2006/relationships/image" Target="../media/image60.svg"/><Relationship Id="rId4" Type="http://schemas.openxmlformats.org/officeDocument/2006/relationships/image" Target="../media/image10.svg"/><Relationship Id="rId9"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2032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005A9C"/>
                </a:solidFill>
                <a:latin typeface="Noto Sans SC"/>
                <a:ea typeface="Noto Sans SC"/>
                <a:cs typeface="Noto Sans SC"/>
                <a:sym typeface="Noto Sans SC"/>
              </a:rPr>
              <a:t>美国养老院市场医疗器械耗材分析报告</a:t>
            </a:r>
            <a:endParaRPr lang="en-US" sz="1100"/>
          </a:p>
        </p:txBody>
      </p:sp>
      <p:cxnSp>
        <p:nvCxnSpPr>
          <p:cNvPr id="3" name="Connector 3"/>
          <p:cNvCxnSpPr/>
          <p:nvPr/>
        </p:nvCxnSpPr>
        <p:spPr>
          <a:xfrm rot="-14323">
            <a:off x="1016013" y="3041650"/>
            <a:ext cx="3048000" cy="12700"/>
          </a:xfrm>
          <a:prstGeom prst="straightConnector1">
            <a:avLst/>
          </a:prstGeom>
          <a:solidFill>
            <a:srgbClr val="DEE0E3">
              <a:alpha val="100000"/>
            </a:srgbClr>
          </a:solidFill>
          <a:ln w="38100" cap="flat" cmpd="sng">
            <a:solidFill>
              <a:srgbClr val="4A90E2">
                <a:alpha val="100000"/>
              </a:srgbClr>
            </a:solidFill>
            <a:prstDash val="solid"/>
            <a:round/>
            <a:headEnd type="none" w="lg" len="lg"/>
            <a:tailEnd type="none" w="lg" len="lg"/>
          </a:ln>
        </p:spPr>
      </p:cxnSp>
      <p:sp>
        <p:nvSpPr>
          <p:cNvPr id="4" name="AutoShape 4"/>
          <p:cNvSpPr/>
          <p:nvPr/>
        </p:nvSpPr>
        <p:spPr>
          <a:xfrm>
            <a:off x="1016000" y="33655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374151"/>
                </a:solidFill>
                <a:latin typeface="Noto Sans SC"/>
                <a:ea typeface="Noto Sans SC"/>
                <a:cs typeface="Noto Sans SC"/>
                <a:sym typeface="Noto Sans SC"/>
              </a:rPr>
              <a:t>消耗量最大产品与市场进入策略</a:t>
            </a:r>
            <a:endParaRPr lang="en-US" sz="1100"/>
          </a:p>
        </p:txBody>
      </p:sp>
      <p:cxnSp>
        <p:nvCxnSpPr>
          <p:cNvPr id="5" name="Connector 5"/>
          <p:cNvCxnSpPr/>
          <p:nvPr/>
        </p:nvCxnSpPr>
        <p:spPr>
          <a:xfrm rot="-4297">
            <a:off x="1016004" y="532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A9C"/>
                </a:solidFill>
                <a:latin typeface="Noto Sans SC"/>
                <a:ea typeface="Noto Sans SC"/>
                <a:cs typeface="Noto Sans SC"/>
                <a:sym typeface="Noto Sans SC"/>
              </a:rPr>
              <a:t>目录</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2032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01</a:t>
            </a:r>
            <a:endParaRPr lang="en-US" sz="1100"/>
          </a:p>
        </p:txBody>
      </p:sp>
      <p:sp>
        <p:nvSpPr>
          <p:cNvPr id="5" name="AutoShape 5"/>
          <p:cNvSpPr/>
          <p:nvPr/>
        </p:nvSpPr>
        <p:spPr>
          <a:xfrm>
            <a:off x="1778000" y="2070100"/>
            <a:ext cx="914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注射器类产品</a:t>
            </a:r>
            <a:endParaRPr lang="en-US" sz="1100"/>
          </a:p>
        </p:txBody>
      </p:sp>
      <p:sp>
        <p:nvSpPr>
          <p:cNvPr id="6" name="AutoShape 6"/>
          <p:cNvSpPr/>
          <p:nvPr/>
        </p:nvSpPr>
        <p:spPr>
          <a:xfrm>
            <a:off x="1778000" y="2451100"/>
            <a:ext cx="914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消耗量最大的基础耗材</a:t>
            </a:r>
            <a:endParaRPr lang="en-US" sz="1100"/>
          </a:p>
        </p:txBody>
      </p:sp>
      <p:cxnSp>
        <p:nvCxnSpPr>
          <p:cNvPr id="7" name="Connector 7"/>
          <p:cNvCxnSpPr/>
          <p:nvPr/>
        </p:nvCxnSpPr>
        <p:spPr>
          <a:xfrm rot="-4645">
            <a:off x="1778004" y="2914650"/>
            <a:ext cx="939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016000" y="3175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02</a:t>
            </a:r>
            <a:endParaRPr lang="en-US" sz="1100"/>
          </a:p>
        </p:txBody>
      </p:sp>
      <p:sp>
        <p:nvSpPr>
          <p:cNvPr id="9" name="AutoShape 9"/>
          <p:cNvSpPr/>
          <p:nvPr/>
        </p:nvSpPr>
        <p:spPr>
          <a:xfrm>
            <a:off x="1778000" y="3213100"/>
            <a:ext cx="914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PPE产品</a:t>
            </a:r>
            <a:endParaRPr lang="en-US" sz="1100"/>
          </a:p>
        </p:txBody>
      </p:sp>
      <p:sp>
        <p:nvSpPr>
          <p:cNvPr id="10" name="AutoShape 10"/>
          <p:cNvSpPr/>
          <p:nvPr/>
        </p:nvSpPr>
        <p:spPr>
          <a:xfrm>
            <a:off x="1778000" y="3594100"/>
            <a:ext cx="914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感染控制核心耗材</a:t>
            </a:r>
            <a:endParaRPr lang="en-US" sz="1100"/>
          </a:p>
        </p:txBody>
      </p:sp>
      <p:cxnSp>
        <p:nvCxnSpPr>
          <p:cNvPr id="11" name="Connector 11"/>
          <p:cNvCxnSpPr/>
          <p:nvPr/>
        </p:nvCxnSpPr>
        <p:spPr>
          <a:xfrm rot="-4645">
            <a:off x="1778004" y="4057650"/>
            <a:ext cx="939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nvSpPr>
        <p:spPr>
          <a:xfrm>
            <a:off x="1016000" y="4318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03</a:t>
            </a:r>
            <a:endParaRPr lang="en-US" sz="1100"/>
          </a:p>
        </p:txBody>
      </p:sp>
      <p:sp>
        <p:nvSpPr>
          <p:cNvPr id="13" name="AutoShape 13"/>
          <p:cNvSpPr/>
          <p:nvPr/>
        </p:nvSpPr>
        <p:spPr>
          <a:xfrm>
            <a:off x="1778000" y="4356100"/>
            <a:ext cx="914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伤口护理产品</a:t>
            </a:r>
            <a:endParaRPr lang="en-US" sz="1100"/>
          </a:p>
        </p:txBody>
      </p:sp>
      <p:sp>
        <p:nvSpPr>
          <p:cNvPr id="14" name="AutoShape 14"/>
          <p:cNvSpPr/>
          <p:nvPr/>
        </p:nvSpPr>
        <p:spPr>
          <a:xfrm>
            <a:off x="1778000" y="4737100"/>
            <a:ext cx="914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压疮与慢性伤口管理刚需</a:t>
            </a:r>
            <a:endParaRPr lang="en-US" sz="1100"/>
          </a:p>
        </p:txBody>
      </p:sp>
      <p:cxnSp>
        <p:nvCxnSpPr>
          <p:cNvPr id="15" name="Connector 15"/>
          <p:cNvCxnSpPr/>
          <p:nvPr/>
        </p:nvCxnSpPr>
        <p:spPr>
          <a:xfrm rot="-4645">
            <a:off x="1778004" y="5200650"/>
            <a:ext cx="939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1016000" y="5461000"/>
            <a:ext cx="50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04</a:t>
            </a:r>
            <a:endParaRPr lang="en-US" sz="1100"/>
          </a:p>
        </p:txBody>
      </p:sp>
      <p:sp>
        <p:nvSpPr>
          <p:cNvPr id="17" name="AutoShape 17"/>
          <p:cNvSpPr/>
          <p:nvPr/>
        </p:nvSpPr>
        <p:spPr>
          <a:xfrm>
            <a:off x="1778000" y="5499100"/>
            <a:ext cx="914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进入美国市场的渠道策略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5A9C"/>
                </a:solidFill>
                <a:latin typeface="Noto Sans SC"/>
                <a:ea typeface="Noto Sans SC"/>
                <a:cs typeface="Noto Sans SC"/>
                <a:sym typeface="Noto Sans SC"/>
              </a:rPr>
              <a:t>注射器类产品：消耗量最大的基础耗材</a:t>
            </a:r>
            <a:endParaRPr lang="en-US" sz="1100"/>
          </a:p>
        </p:txBody>
      </p:sp>
      <p:cxnSp>
        <p:nvCxnSpPr>
          <p:cNvPr id="3" name="Connector 3"/>
          <p:cNvCxnSpPr/>
          <p:nvPr/>
        </p:nvCxnSpPr>
        <p:spPr>
          <a:xfrm rot="-4297">
            <a:off x="1016004" y="1390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A9C"/>
                </a:solidFill>
                <a:latin typeface="Noto Sans SC"/>
                <a:ea typeface="Noto Sans SC"/>
                <a:cs typeface="Noto Sans SC"/>
                <a:sym typeface="Noto Sans SC"/>
              </a:rPr>
              <a:t>普通安全注射器</a:t>
            </a:r>
            <a:endParaRPr lang="en-US" sz="1100"/>
          </a:p>
        </p:txBody>
      </p:sp>
      <p:sp>
        <p:nvSpPr>
          <p:cNvPr id="5" name="AutoShape 5"/>
          <p:cNvSpPr/>
          <p:nvPr/>
        </p:nvSpPr>
        <p:spPr>
          <a:xfrm>
            <a:off x="1016000" y="2286000"/>
            <a:ext cx="4826000" cy="889000"/>
          </a:xfrm>
          <a:prstGeom prst="roundRect">
            <a:avLst>
              <a:gd name="adj" fmla="val 1142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2578100"/>
            <a:ext cx="304800" cy="304800"/>
          </a:xfrm>
          <a:prstGeom prst="rect">
            <a:avLst/>
          </a:prstGeom>
        </p:spPr>
      </p:pic>
      <p:sp>
        <p:nvSpPr>
          <p:cNvPr id="7" name="AutoShape 7"/>
          <p:cNvSpPr/>
          <p:nvPr/>
        </p:nvSpPr>
        <p:spPr>
          <a:xfrm>
            <a:off x="1714500" y="2463800"/>
            <a:ext cx="3556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Noto Sans SC"/>
                <a:ea typeface="Noto Sans SC"/>
                <a:cs typeface="Noto Sans SC"/>
                <a:sym typeface="Noto Sans SC"/>
              </a:rPr>
              <a:t>3ml 规格</a:t>
            </a:r>
            <a:endParaRPr lang="en-US" sz="1100"/>
          </a:p>
        </p:txBody>
      </p:sp>
      <p:sp>
        <p:nvSpPr>
          <p:cNvPr id="8" name="AutoShape 8"/>
          <p:cNvSpPr/>
          <p:nvPr/>
        </p:nvSpPr>
        <p:spPr>
          <a:xfrm>
            <a:off x="1714500" y="27940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年消耗量：约</a:t>
            </a:r>
            <a:r>
              <a:rPr lang="en-US" sz="1300" b="1" i="0" u="none" strike="noStrike">
                <a:solidFill>
                  <a:srgbClr val="4A90E2"/>
                </a:solidFill>
                <a:latin typeface="Noto Sans SC"/>
                <a:ea typeface="Noto Sans SC"/>
                <a:cs typeface="Noto Sans SC"/>
                <a:sym typeface="Noto Sans SC"/>
              </a:rPr>
              <a:t>45-50</a:t>
            </a:r>
            <a:r>
              <a:rPr lang="en-US" sz="1300" b="0" i="0" u="none" strike="noStrike">
                <a:solidFill>
                  <a:srgbClr val="6B7280"/>
                </a:solidFill>
                <a:latin typeface="Noto Sans SC"/>
                <a:ea typeface="Noto Sans SC"/>
                <a:cs typeface="Noto Sans SC"/>
                <a:sym typeface="Noto Sans SC"/>
              </a:rPr>
              <a:t>亿支</a:t>
            </a:r>
            <a:endParaRPr lang="en-US" sz="1100"/>
          </a:p>
        </p:txBody>
      </p:sp>
      <p:sp>
        <p:nvSpPr>
          <p:cNvPr id="9" name="AutoShape 9"/>
          <p:cNvSpPr/>
          <p:nvPr/>
        </p:nvSpPr>
        <p:spPr>
          <a:xfrm>
            <a:off x="1016000" y="3365500"/>
            <a:ext cx="4826000" cy="889000"/>
          </a:xfrm>
          <a:prstGeom prst="roundRect">
            <a:avLst>
              <a:gd name="adj" fmla="val 1142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657600"/>
            <a:ext cx="304800" cy="304800"/>
          </a:xfrm>
          <a:prstGeom prst="rect">
            <a:avLst/>
          </a:prstGeom>
        </p:spPr>
      </p:pic>
      <p:sp>
        <p:nvSpPr>
          <p:cNvPr id="11" name="AutoShape 11"/>
          <p:cNvSpPr/>
          <p:nvPr/>
        </p:nvSpPr>
        <p:spPr>
          <a:xfrm>
            <a:off x="1714500" y="3543300"/>
            <a:ext cx="3556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Noto Sans SC"/>
                <a:ea typeface="Noto Sans SC"/>
                <a:cs typeface="Noto Sans SC"/>
                <a:sym typeface="Noto Sans SC"/>
              </a:rPr>
              <a:t>5ml 规格</a:t>
            </a:r>
            <a:endParaRPr lang="en-US" sz="1100"/>
          </a:p>
        </p:txBody>
      </p:sp>
      <p:sp>
        <p:nvSpPr>
          <p:cNvPr id="12" name="AutoShape 12"/>
          <p:cNvSpPr/>
          <p:nvPr/>
        </p:nvSpPr>
        <p:spPr>
          <a:xfrm>
            <a:off x="1714500" y="38735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年消耗量：约</a:t>
            </a:r>
            <a:r>
              <a:rPr lang="en-US" sz="1300" b="1" i="0" u="none" strike="noStrike">
                <a:solidFill>
                  <a:srgbClr val="4A90E2"/>
                </a:solidFill>
                <a:latin typeface="Noto Sans SC"/>
                <a:ea typeface="Noto Sans SC"/>
                <a:cs typeface="Noto Sans SC"/>
                <a:sym typeface="Noto Sans SC"/>
              </a:rPr>
              <a:t>20-25</a:t>
            </a:r>
            <a:r>
              <a:rPr lang="en-US" sz="1300" b="0" i="0" u="none" strike="noStrike">
                <a:solidFill>
                  <a:srgbClr val="6B7280"/>
                </a:solidFill>
                <a:latin typeface="Noto Sans SC"/>
                <a:ea typeface="Noto Sans SC"/>
                <a:cs typeface="Noto Sans SC"/>
                <a:sym typeface="Noto Sans SC"/>
              </a:rPr>
              <a:t>亿支</a:t>
            </a:r>
            <a:endParaRPr lang="en-US" sz="1100"/>
          </a:p>
        </p:txBody>
      </p:sp>
      <p:sp>
        <p:nvSpPr>
          <p:cNvPr id="13" name="AutoShape 13"/>
          <p:cNvSpPr/>
          <p:nvPr/>
        </p:nvSpPr>
        <p:spPr>
          <a:xfrm>
            <a:off x="1016000" y="4445000"/>
            <a:ext cx="4826000" cy="889000"/>
          </a:xfrm>
          <a:prstGeom prst="roundRect">
            <a:avLst>
              <a:gd name="adj" fmla="val 1142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4737100"/>
            <a:ext cx="304800" cy="304800"/>
          </a:xfrm>
          <a:prstGeom prst="rect">
            <a:avLst/>
          </a:prstGeom>
        </p:spPr>
      </p:pic>
      <p:sp>
        <p:nvSpPr>
          <p:cNvPr id="15" name="AutoShape 15"/>
          <p:cNvSpPr/>
          <p:nvPr/>
        </p:nvSpPr>
        <p:spPr>
          <a:xfrm>
            <a:off x="1714500" y="4622800"/>
            <a:ext cx="3556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Noto Sans SC"/>
                <a:ea typeface="Noto Sans SC"/>
                <a:cs typeface="Noto Sans SC"/>
                <a:sym typeface="Noto Sans SC"/>
              </a:rPr>
              <a:t>10ml 规格</a:t>
            </a:r>
            <a:endParaRPr lang="en-US" sz="1100"/>
          </a:p>
        </p:txBody>
      </p:sp>
      <p:sp>
        <p:nvSpPr>
          <p:cNvPr id="16" name="AutoShape 16"/>
          <p:cNvSpPr/>
          <p:nvPr/>
        </p:nvSpPr>
        <p:spPr>
          <a:xfrm>
            <a:off x="1714500" y="49530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年消耗量：约</a:t>
            </a:r>
            <a:r>
              <a:rPr lang="en-US" sz="1300" b="1" i="0" u="none" strike="noStrike">
                <a:solidFill>
                  <a:srgbClr val="4A90E2"/>
                </a:solidFill>
                <a:latin typeface="Noto Sans SC"/>
                <a:ea typeface="Noto Sans SC"/>
                <a:cs typeface="Noto Sans SC"/>
                <a:sym typeface="Noto Sans SC"/>
              </a:rPr>
              <a:t>10-15</a:t>
            </a:r>
            <a:r>
              <a:rPr lang="en-US" sz="1300" b="0" i="0" u="none" strike="noStrike">
                <a:solidFill>
                  <a:srgbClr val="6B7280"/>
                </a:solidFill>
                <a:latin typeface="Noto Sans SC"/>
                <a:ea typeface="Noto Sans SC"/>
                <a:cs typeface="Noto Sans SC"/>
                <a:sym typeface="Noto Sans SC"/>
              </a:rPr>
              <a:t>亿支</a:t>
            </a:r>
            <a:endParaRPr lang="en-US" sz="1100"/>
          </a:p>
        </p:txBody>
      </p:sp>
      <p:cxnSp>
        <p:nvCxnSpPr>
          <p:cNvPr id="17" name="Connector 17"/>
          <p:cNvCxnSpPr/>
          <p:nvPr/>
        </p:nvCxnSpPr>
        <p:spPr>
          <a:xfrm rot="5387722">
            <a:off x="4318000" y="3549661"/>
            <a:ext cx="355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8" name="AutoShape 18"/>
          <p:cNvSpPr/>
          <p:nvPr/>
        </p:nvSpPr>
        <p:spPr>
          <a:xfrm>
            <a:off x="66040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A9C"/>
                </a:solidFill>
                <a:latin typeface="Noto Sans SC"/>
                <a:ea typeface="Noto Sans SC"/>
                <a:cs typeface="Noto Sans SC"/>
                <a:sym typeface="Noto Sans SC"/>
              </a:rPr>
              <a:t>胰岛素注射器</a:t>
            </a:r>
            <a:endParaRPr lang="en-US" sz="1100"/>
          </a:p>
        </p:txBody>
      </p:sp>
      <p:sp>
        <p:nvSpPr>
          <p:cNvPr id="19" name="AutoShape 19"/>
          <p:cNvSpPr/>
          <p:nvPr/>
        </p:nvSpPr>
        <p:spPr>
          <a:xfrm>
            <a:off x="6604000" y="2286000"/>
            <a:ext cx="4826000" cy="889000"/>
          </a:xfrm>
          <a:prstGeom prst="roundRect">
            <a:avLst>
              <a:gd name="adj" fmla="val 11428"/>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94500" y="2578100"/>
            <a:ext cx="304800" cy="304800"/>
          </a:xfrm>
          <a:prstGeom prst="rect">
            <a:avLst/>
          </a:prstGeom>
        </p:spPr>
      </p:pic>
      <p:sp>
        <p:nvSpPr>
          <p:cNvPr id="21" name="AutoShape 21"/>
          <p:cNvSpPr/>
          <p:nvPr/>
        </p:nvSpPr>
        <p:spPr>
          <a:xfrm>
            <a:off x="7302500" y="2463800"/>
            <a:ext cx="3556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Noto Sans SC"/>
                <a:ea typeface="Noto Sans SC"/>
                <a:cs typeface="Noto Sans SC"/>
                <a:sym typeface="Noto Sans SC"/>
              </a:rPr>
              <a:t>U-100 规格 (0.3/0.5/1ml)</a:t>
            </a:r>
            <a:endParaRPr lang="en-US" sz="1100"/>
          </a:p>
        </p:txBody>
      </p:sp>
      <p:sp>
        <p:nvSpPr>
          <p:cNvPr id="22" name="AutoShape 22"/>
          <p:cNvSpPr/>
          <p:nvPr/>
        </p:nvSpPr>
        <p:spPr>
          <a:xfrm>
            <a:off x="7302500" y="2794000"/>
            <a:ext cx="355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B7280"/>
                </a:solidFill>
                <a:latin typeface="Noto Sans SC"/>
                <a:ea typeface="Noto Sans SC"/>
                <a:cs typeface="Noto Sans SC"/>
                <a:sym typeface="Noto Sans SC"/>
              </a:rPr>
              <a:t>年消耗量：约</a:t>
            </a:r>
            <a:r>
              <a:rPr lang="en-US" sz="1300" b="1" i="0" u="none" strike="noStrike">
                <a:solidFill>
                  <a:srgbClr val="4A90E2"/>
                </a:solidFill>
                <a:latin typeface="Noto Sans SC"/>
                <a:ea typeface="Noto Sans SC"/>
                <a:cs typeface="Noto Sans SC"/>
                <a:sym typeface="Noto Sans SC"/>
              </a:rPr>
              <a:t>12-15</a:t>
            </a:r>
            <a:r>
              <a:rPr lang="en-US" sz="1300" b="0" i="0" u="none" strike="noStrike">
                <a:solidFill>
                  <a:srgbClr val="6B7280"/>
                </a:solidFill>
                <a:latin typeface="Noto Sans SC"/>
                <a:ea typeface="Noto Sans SC"/>
                <a:cs typeface="Noto Sans SC"/>
                <a:sym typeface="Noto Sans SC"/>
              </a:rPr>
              <a:t>亿支</a:t>
            </a:r>
            <a:endParaRPr lang="en-US" sz="1100"/>
          </a:p>
        </p:txBody>
      </p:sp>
      <p:cxnSp>
        <p:nvCxnSpPr>
          <p:cNvPr id="23" name="Connector 23"/>
          <p:cNvCxnSpPr/>
          <p:nvPr/>
        </p:nvCxnSpPr>
        <p:spPr>
          <a:xfrm rot="-9046">
            <a:off x="6604008" y="3422650"/>
            <a:ext cx="482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6604000" y="3683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A9C"/>
                </a:solidFill>
                <a:latin typeface="Noto Sans SC"/>
                <a:ea typeface="Noto Sans SC"/>
                <a:cs typeface="Noto Sans SC"/>
                <a:sym typeface="Noto Sans SC"/>
              </a:rPr>
              <a:t>主要使用场景</a:t>
            </a:r>
            <a:endParaRPr lang="en-US" sz="1100"/>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191000"/>
            <a:ext cx="254000" cy="254000"/>
          </a:xfrm>
          <a:prstGeom prst="rect">
            <a:avLst/>
          </a:prstGeom>
        </p:spPr>
      </p:pic>
      <p:sp>
        <p:nvSpPr>
          <p:cNvPr id="26" name="AutoShape 26"/>
          <p:cNvSpPr/>
          <p:nvPr/>
        </p:nvSpPr>
        <p:spPr>
          <a:xfrm>
            <a:off x="6985000" y="41910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常规药物注射、疫苗接种</a:t>
            </a:r>
            <a:endParaRPr lang="en-US" sz="1100"/>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4699000"/>
            <a:ext cx="254000" cy="254000"/>
          </a:xfrm>
          <a:prstGeom prst="rect">
            <a:avLst/>
          </a:prstGeom>
        </p:spPr>
      </p:pic>
      <p:sp>
        <p:nvSpPr>
          <p:cNvPr id="28" name="AutoShape 28"/>
          <p:cNvSpPr/>
          <p:nvPr/>
        </p:nvSpPr>
        <p:spPr>
          <a:xfrm>
            <a:off x="6985000" y="46990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糖尿病居民胰岛素注射</a:t>
            </a:r>
            <a:endParaRPr lang="en-US" sz="1100"/>
          </a:p>
        </p:txBody>
      </p:sp>
      <p:cxnSp>
        <p:nvCxnSpPr>
          <p:cNvPr id="29" name="Connector 29"/>
          <p:cNvCxnSpPr/>
          <p:nvPr/>
        </p:nvCxnSpPr>
        <p:spPr>
          <a:xfrm rot="-4297">
            <a:off x="1016004" y="5581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0" name="AutoShape 30"/>
          <p:cNvSpPr/>
          <p:nvPr/>
        </p:nvSpPr>
        <p:spPr>
          <a:xfrm>
            <a:off x="1016000" y="5842000"/>
            <a:ext cx="10160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注射器作为基础医疗耗材，在日常诊疗中扮演着不可或缺的角色，市场需求持续稳定。</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5A9C"/>
                </a:solidFill>
                <a:latin typeface="Noto Sans SC"/>
                <a:ea typeface="Noto Sans SC"/>
                <a:cs typeface="Noto Sans SC"/>
                <a:sym typeface="Noto Sans SC"/>
              </a:rPr>
              <a:t>注射器类产品：消耗量最大的基础耗材</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841500"/>
            <a:ext cx="4826000" cy="2921000"/>
          </a:xfrm>
          <a:prstGeom prst="roundRect">
            <a:avLst>
              <a:gd name="adj" fmla="val 347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095500"/>
            <a:ext cx="304800" cy="304800"/>
          </a:xfrm>
          <a:prstGeom prst="rect">
            <a:avLst/>
          </a:prstGeom>
        </p:spPr>
      </p:pic>
      <p:sp>
        <p:nvSpPr>
          <p:cNvPr id="6" name="AutoShape 6"/>
          <p:cNvSpPr/>
          <p:nvPr/>
        </p:nvSpPr>
        <p:spPr>
          <a:xfrm>
            <a:off x="1701800" y="2095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结核菌素注射器</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2667000"/>
            <a:ext cx="203200" cy="203200"/>
          </a:xfrm>
          <a:prstGeom prst="rect">
            <a:avLst/>
          </a:prstGeom>
        </p:spPr>
      </p:pic>
      <p:sp>
        <p:nvSpPr>
          <p:cNvPr id="8" name="AutoShape 8"/>
          <p:cNvSpPr/>
          <p:nvPr/>
        </p:nvSpPr>
        <p:spPr>
          <a:xfrm>
            <a:off x="1600200" y="2667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年消耗量：</a:t>
            </a:r>
            <a:r>
              <a:rPr lang="en-US" sz="1400" b="1" i="0" u="none" strike="noStrike">
                <a:solidFill>
                  <a:srgbClr val="005A9C"/>
                </a:solidFill>
                <a:latin typeface="Noto Sans SC"/>
                <a:ea typeface="Noto Sans SC"/>
                <a:cs typeface="Noto Sans SC"/>
                <a:sym typeface="Noto Sans SC"/>
              </a:rPr>
              <a:t>8-10亿支</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3175000"/>
            <a:ext cx="203200" cy="203200"/>
          </a:xfrm>
          <a:prstGeom prst="rect">
            <a:avLst/>
          </a:prstGeom>
        </p:spPr>
      </p:pic>
      <p:sp>
        <p:nvSpPr>
          <p:cNvPr id="10" name="AutoShape 10"/>
          <p:cNvSpPr/>
          <p:nvPr/>
        </p:nvSpPr>
        <p:spPr>
          <a:xfrm>
            <a:off x="1600200" y="3175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常用规格：1ml (0.01ml刻度)</a:t>
            </a:r>
            <a:endParaRPr lang="en-US" sz="1100"/>
          </a:p>
        </p:txBody>
      </p:sp>
      <p:pic>
        <p:nvPicPr>
          <p:cNvPr id="11" name="Picture 1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70000" y="3683000"/>
            <a:ext cx="203200" cy="203200"/>
          </a:xfrm>
          <a:prstGeom prst="rect">
            <a:avLst/>
          </a:prstGeom>
        </p:spPr>
      </p:pic>
      <p:sp>
        <p:nvSpPr>
          <p:cNvPr id="12" name="AutoShape 12"/>
          <p:cNvSpPr/>
          <p:nvPr/>
        </p:nvSpPr>
        <p:spPr>
          <a:xfrm>
            <a:off x="1600200" y="3683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针头规格：25G×5/8"</a:t>
            </a:r>
            <a:endParaRPr lang="en-US" sz="1100"/>
          </a:p>
        </p:txBody>
      </p:sp>
      <p:sp>
        <p:nvSpPr>
          <p:cNvPr id="13" name="AutoShape 13"/>
          <p:cNvSpPr/>
          <p:nvPr/>
        </p:nvSpPr>
        <p:spPr>
          <a:xfrm>
            <a:off x="6350000" y="1841500"/>
            <a:ext cx="4826000" cy="2921000"/>
          </a:xfrm>
          <a:prstGeom prst="roundRect">
            <a:avLst>
              <a:gd name="adj" fmla="val 347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095500"/>
            <a:ext cx="304800" cy="304800"/>
          </a:xfrm>
          <a:prstGeom prst="rect">
            <a:avLst/>
          </a:prstGeom>
        </p:spPr>
      </p:pic>
      <p:sp>
        <p:nvSpPr>
          <p:cNvPr id="15" name="AutoShape 15"/>
          <p:cNvSpPr/>
          <p:nvPr/>
        </p:nvSpPr>
        <p:spPr>
          <a:xfrm>
            <a:off x="7035800" y="2095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预填充注射器</a:t>
            </a:r>
            <a:endParaRPr lang="en-US" sz="1100"/>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667000"/>
            <a:ext cx="203200" cy="203200"/>
          </a:xfrm>
          <a:prstGeom prst="rect">
            <a:avLst/>
          </a:prstGeom>
        </p:spPr>
      </p:pic>
      <p:sp>
        <p:nvSpPr>
          <p:cNvPr id="17" name="AutoShape 17"/>
          <p:cNvSpPr/>
          <p:nvPr/>
        </p:nvSpPr>
        <p:spPr>
          <a:xfrm>
            <a:off x="6934200" y="2667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年消耗量：</a:t>
            </a:r>
            <a:r>
              <a:rPr lang="en-US" sz="1400" b="1" i="0" u="none" strike="noStrike">
                <a:solidFill>
                  <a:srgbClr val="005A9C"/>
                </a:solidFill>
                <a:latin typeface="Noto Sans SC"/>
                <a:ea typeface="Noto Sans SC"/>
                <a:cs typeface="Noto Sans SC"/>
                <a:sym typeface="Noto Sans SC"/>
              </a:rPr>
              <a:t>6-8亿支</a:t>
            </a:r>
            <a:endParaRPr lang="en-US" sz="1100"/>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175000"/>
            <a:ext cx="203200" cy="203200"/>
          </a:xfrm>
          <a:prstGeom prst="rect">
            <a:avLst/>
          </a:prstGeom>
        </p:spPr>
      </p:pic>
      <p:sp>
        <p:nvSpPr>
          <p:cNvPr id="19" name="AutoShape 19"/>
          <p:cNvSpPr/>
          <p:nvPr/>
        </p:nvSpPr>
        <p:spPr>
          <a:xfrm>
            <a:off x="6934200" y="3175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常用规格：1ml、2ml、5ml</a:t>
            </a:r>
            <a:endParaRPr lang="en-US" sz="1100"/>
          </a:p>
        </p:txBody>
      </p:sp>
      <p:pic>
        <p:nvPicPr>
          <p:cNvPr id="20" name="Picture 2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3683000"/>
            <a:ext cx="203200" cy="203200"/>
          </a:xfrm>
          <a:prstGeom prst="rect">
            <a:avLst/>
          </a:prstGeom>
        </p:spPr>
      </p:pic>
      <p:sp>
        <p:nvSpPr>
          <p:cNvPr id="21" name="AutoShape 21"/>
          <p:cNvSpPr/>
          <p:nvPr/>
        </p:nvSpPr>
        <p:spPr>
          <a:xfrm>
            <a:off x="6934200" y="3683000"/>
            <a:ext cx="381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针头规格：定制匹配</a:t>
            </a:r>
            <a:endParaRPr lang="en-US" sz="1100"/>
          </a:p>
        </p:txBody>
      </p:sp>
      <p:cxnSp>
        <p:nvCxnSpPr>
          <p:cNvPr id="22" name="Connector 22"/>
          <p:cNvCxnSpPr/>
          <p:nvPr/>
        </p:nvCxnSpPr>
        <p:spPr>
          <a:xfrm rot="-4297">
            <a:off x="1016004" y="5010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3" name="Picture 2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16000" y="5334000"/>
            <a:ext cx="254000" cy="254000"/>
          </a:xfrm>
          <a:prstGeom prst="rect">
            <a:avLst/>
          </a:prstGeom>
        </p:spPr>
      </p:pic>
      <p:sp>
        <p:nvSpPr>
          <p:cNvPr id="24" name="AutoShape 24"/>
          <p:cNvSpPr/>
          <p:nvPr/>
        </p:nvSpPr>
        <p:spPr>
          <a:xfrm>
            <a:off x="1397000" y="5334000"/>
            <a:ext cx="457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Noto Sans SC"/>
                <a:ea typeface="Noto Sans SC"/>
                <a:cs typeface="Noto Sans SC"/>
                <a:sym typeface="Noto Sans SC"/>
              </a:rPr>
              <a:t>结核菌素注射器应用场景</a:t>
            </a:r>
            <a:endParaRPr lang="en-US" sz="1100"/>
          </a:p>
        </p:txBody>
      </p:sp>
      <p:sp>
        <p:nvSpPr>
          <p:cNvPr id="25" name="AutoShape 25"/>
          <p:cNvSpPr/>
          <p:nvPr/>
        </p:nvSpPr>
        <p:spPr>
          <a:xfrm>
            <a:off x="1397000" y="5715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皮肤过敏测试、结核菌素试验、小剂量药物注射</a:t>
            </a:r>
            <a:endParaRPr lang="en-US" sz="1100"/>
          </a:p>
        </p:txBody>
      </p:sp>
      <p:cxnSp>
        <p:nvCxnSpPr>
          <p:cNvPr id="26" name="Connector 26"/>
          <p:cNvCxnSpPr/>
          <p:nvPr/>
        </p:nvCxnSpPr>
        <p:spPr>
          <a:xfrm rot="5331254">
            <a:off x="5778500" y="5645213"/>
            <a:ext cx="63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7" name="Picture 27"/>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350000" y="5334000"/>
            <a:ext cx="254000" cy="254000"/>
          </a:xfrm>
          <a:prstGeom prst="rect">
            <a:avLst/>
          </a:prstGeom>
        </p:spPr>
      </p:pic>
      <p:sp>
        <p:nvSpPr>
          <p:cNvPr id="28" name="AutoShape 28"/>
          <p:cNvSpPr/>
          <p:nvPr/>
        </p:nvSpPr>
        <p:spPr>
          <a:xfrm>
            <a:off x="6731000" y="5334000"/>
            <a:ext cx="4572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329"/>
                </a:solidFill>
                <a:latin typeface="Noto Sans SC"/>
                <a:ea typeface="Noto Sans SC"/>
                <a:cs typeface="Noto Sans SC"/>
                <a:sym typeface="Noto Sans SC"/>
              </a:rPr>
              <a:t>预填充注射器应用场景</a:t>
            </a:r>
            <a:endParaRPr lang="en-US" sz="1100"/>
          </a:p>
        </p:txBody>
      </p:sp>
      <p:sp>
        <p:nvSpPr>
          <p:cNvPr id="29" name="AutoShape 29"/>
          <p:cNvSpPr/>
          <p:nvPr/>
        </p:nvSpPr>
        <p:spPr>
          <a:xfrm>
            <a:off x="6731000" y="5715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急救药物、抗凝剂、疫苗</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5A9C"/>
                </a:solidFill>
                <a:latin typeface="Noto Sans SC"/>
                <a:ea typeface="Noto Sans SC"/>
                <a:cs typeface="Noto Sans SC"/>
                <a:sym typeface="Noto Sans SC"/>
              </a:rPr>
              <a:t>PPE产品：感染控制核心耗材</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41500"/>
            <a:ext cx="355600" cy="355600"/>
          </a:xfrm>
          <a:prstGeom prst="rect">
            <a:avLst/>
          </a:prstGeom>
        </p:spPr>
      </p:pic>
      <p:sp>
        <p:nvSpPr>
          <p:cNvPr id="5" name="AutoShape 5"/>
          <p:cNvSpPr/>
          <p:nvPr/>
        </p:nvSpPr>
        <p:spPr>
          <a:xfrm>
            <a:off x="1524000" y="1841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A9C"/>
                </a:solidFill>
                <a:latin typeface="Noto Sans SC"/>
                <a:ea typeface="Noto Sans SC"/>
                <a:cs typeface="Noto Sans SC"/>
                <a:sym typeface="Noto Sans SC"/>
              </a:rPr>
              <a:t>医用检查手套</a:t>
            </a:r>
            <a:endParaRPr lang="en-US" sz="110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476500"/>
            <a:ext cx="254000" cy="254000"/>
          </a:xfrm>
          <a:prstGeom prst="rect">
            <a:avLst/>
          </a:prstGeom>
        </p:spPr>
      </p:pic>
      <p:sp>
        <p:nvSpPr>
          <p:cNvPr id="7" name="AutoShape 7"/>
          <p:cNvSpPr/>
          <p:nvPr/>
        </p:nvSpPr>
        <p:spPr>
          <a:xfrm>
            <a:off x="1422400" y="2476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年消耗量：</a:t>
            </a:r>
            <a:r>
              <a:rPr lang="en-US" sz="1400" b="0" i="0" u="none" strike="noStrike">
                <a:solidFill>
                  <a:srgbClr val="374151"/>
                </a:solidFill>
                <a:latin typeface="Noto Sans SC"/>
                <a:ea typeface="Noto Sans SC"/>
                <a:cs typeface="Noto Sans SC"/>
                <a:sym typeface="Noto Sans SC"/>
              </a:rPr>
              <a:t>约 18-20 亿双</a:t>
            </a:r>
            <a:endParaRPr lang="en-US" sz="1100"/>
          </a:p>
        </p:txBody>
      </p:sp>
      <p:pic>
        <p:nvPicPr>
          <p:cNvPr id="8" name="Picture 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111500"/>
            <a:ext cx="254000" cy="254000"/>
          </a:xfrm>
          <a:prstGeom prst="rect">
            <a:avLst/>
          </a:prstGeom>
        </p:spPr>
      </p:pic>
      <p:sp>
        <p:nvSpPr>
          <p:cNvPr id="9" name="AutoShape 9"/>
          <p:cNvSpPr/>
          <p:nvPr/>
        </p:nvSpPr>
        <p:spPr>
          <a:xfrm>
            <a:off x="1422400" y="3111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执行标准：</a:t>
            </a:r>
            <a:r>
              <a:rPr lang="en-US" sz="1400" b="0" i="0" u="none" strike="noStrike">
                <a:solidFill>
                  <a:srgbClr val="374151"/>
                </a:solidFill>
                <a:latin typeface="Noto Sans SC"/>
                <a:ea typeface="Noto Sans SC"/>
                <a:cs typeface="Noto Sans SC"/>
                <a:sym typeface="Noto Sans SC"/>
              </a:rPr>
              <a:t>ASTM D6319 (Level 3)</a:t>
            </a:r>
            <a:endParaRPr lang="en-US" sz="1100"/>
          </a:p>
        </p:txBody>
      </p:sp>
      <p:pic>
        <p:nvPicPr>
          <p:cNvPr id="10" name="Picture 1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3746500"/>
            <a:ext cx="254000" cy="254000"/>
          </a:xfrm>
          <a:prstGeom prst="rect">
            <a:avLst/>
          </a:prstGeom>
        </p:spPr>
      </p:pic>
      <p:sp>
        <p:nvSpPr>
          <p:cNvPr id="11" name="AutoShape 11"/>
          <p:cNvSpPr/>
          <p:nvPr/>
        </p:nvSpPr>
        <p:spPr>
          <a:xfrm>
            <a:off x="1422400" y="3746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常用规格：</a:t>
            </a:r>
            <a:r>
              <a:rPr lang="en-US" sz="1400" b="0" i="0" u="none" strike="noStrike">
                <a:solidFill>
                  <a:srgbClr val="374151"/>
                </a:solidFill>
                <a:latin typeface="Noto Sans SC"/>
                <a:ea typeface="Noto Sans SC"/>
                <a:cs typeface="Noto Sans SC"/>
                <a:sym typeface="Noto Sans SC"/>
              </a:rPr>
              <a:t>无粉丁腈 (XS-XL)</a:t>
            </a:r>
            <a:endParaRPr lang="en-US" sz="1100"/>
          </a:p>
        </p:txBody>
      </p:sp>
      <p:pic>
        <p:nvPicPr>
          <p:cNvPr id="12" name="Picture 1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4381500"/>
            <a:ext cx="254000" cy="254000"/>
          </a:xfrm>
          <a:prstGeom prst="rect">
            <a:avLst/>
          </a:prstGeom>
        </p:spPr>
      </p:pic>
      <p:sp>
        <p:nvSpPr>
          <p:cNvPr id="13" name="AutoShape 13"/>
          <p:cNvSpPr/>
          <p:nvPr/>
        </p:nvSpPr>
        <p:spPr>
          <a:xfrm>
            <a:off x="1422400" y="43815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使用场景：</a:t>
            </a:r>
            <a:r>
              <a:rPr lang="en-US" sz="1400" b="0" i="0" u="none" strike="noStrike">
                <a:solidFill>
                  <a:srgbClr val="374151"/>
                </a:solidFill>
                <a:latin typeface="Noto Sans SC"/>
                <a:ea typeface="Noto Sans SC"/>
                <a:cs typeface="Noto Sans SC"/>
                <a:sym typeface="Noto Sans SC"/>
              </a:rPr>
              <a:t>所有护理操作、接触体液时</a:t>
            </a:r>
            <a:endParaRPr lang="en-US" sz="1100"/>
          </a:p>
        </p:txBody>
      </p:sp>
      <p:cxnSp>
        <p:nvCxnSpPr>
          <p:cNvPr id="14" name="Connector 14"/>
          <p:cNvCxnSpPr/>
          <p:nvPr/>
        </p:nvCxnSpPr>
        <p:spPr>
          <a:xfrm rot="5385968">
            <a:off x="4540250" y="3390913"/>
            <a:ext cx="3111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5" name="Picture 1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1841500"/>
            <a:ext cx="355600" cy="355600"/>
          </a:xfrm>
          <a:prstGeom prst="rect">
            <a:avLst/>
          </a:prstGeom>
        </p:spPr>
      </p:pic>
      <p:sp>
        <p:nvSpPr>
          <p:cNvPr id="16" name="AutoShape 16"/>
          <p:cNvSpPr/>
          <p:nvPr/>
        </p:nvSpPr>
        <p:spPr>
          <a:xfrm>
            <a:off x="7112000" y="1841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A9C"/>
                </a:solidFill>
                <a:latin typeface="Noto Sans SC"/>
                <a:ea typeface="Noto Sans SC"/>
                <a:cs typeface="Noto Sans SC"/>
                <a:sym typeface="Noto Sans SC"/>
              </a:rPr>
              <a:t>医用外科口罩</a:t>
            </a:r>
            <a:endParaRPr lang="en-US" sz="1100"/>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476500"/>
            <a:ext cx="254000" cy="254000"/>
          </a:xfrm>
          <a:prstGeom prst="rect">
            <a:avLst/>
          </a:prstGeom>
        </p:spPr>
      </p:pic>
      <p:sp>
        <p:nvSpPr>
          <p:cNvPr id="18" name="AutoShape 18"/>
          <p:cNvSpPr/>
          <p:nvPr/>
        </p:nvSpPr>
        <p:spPr>
          <a:xfrm>
            <a:off x="7010400" y="2476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年消耗量：</a:t>
            </a:r>
            <a:r>
              <a:rPr lang="en-US" sz="1400" b="0" i="0" u="none" strike="noStrike">
                <a:solidFill>
                  <a:srgbClr val="374151"/>
                </a:solidFill>
                <a:latin typeface="Noto Sans SC"/>
                <a:ea typeface="Noto Sans SC"/>
                <a:cs typeface="Noto Sans SC"/>
                <a:sym typeface="Noto Sans SC"/>
              </a:rPr>
              <a:t>约 10-12 亿个</a:t>
            </a:r>
            <a:endParaRPr lang="en-US" sz="1100"/>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111500"/>
            <a:ext cx="254000" cy="254000"/>
          </a:xfrm>
          <a:prstGeom prst="rect">
            <a:avLst/>
          </a:prstGeom>
        </p:spPr>
      </p:pic>
      <p:sp>
        <p:nvSpPr>
          <p:cNvPr id="20" name="AutoShape 20"/>
          <p:cNvSpPr/>
          <p:nvPr/>
        </p:nvSpPr>
        <p:spPr>
          <a:xfrm>
            <a:off x="7010400" y="3111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执行标准：</a:t>
            </a:r>
            <a:r>
              <a:rPr lang="en-US" sz="1400" b="0" i="0" u="none" strike="noStrike">
                <a:solidFill>
                  <a:srgbClr val="374151"/>
                </a:solidFill>
                <a:latin typeface="Noto Sans SC"/>
                <a:ea typeface="Noto Sans SC"/>
                <a:cs typeface="Noto Sans SC"/>
                <a:sym typeface="Noto Sans SC"/>
              </a:rPr>
              <a:t>ASTM F2100 (Level 2)</a:t>
            </a:r>
            <a:endParaRPr lang="en-US" sz="1100"/>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746500"/>
            <a:ext cx="254000" cy="254000"/>
          </a:xfrm>
          <a:prstGeom prst="rect">
            <a:avLst/>
          </a:prstGeom>
        </p:spPr>
      </p:pic>
      <p:sp>
        <p:nvSpPr>
          <p:cNvPr id="22" name="AutoShape 22"/>
          <p:cNvSpPr/>
          <p:nvPr/>
        </p:nvSpPr>
        <p:spPr>
          <a:xfrm>
            <a:off x="7010400" y="37465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常用规格：</a:t>
            </a:r>
            <a:r>
              <a:rPr lang="en-US" sz="1400" b="0" i="0" u="none" strike="noStrike">
                <a:solidFill>
                  <a:srgbClr val="374151"/>
                </a:solidFill>
                <a:latin typeface="Noto Sans SC"/>
                <a:ea typeface="Noto Sans SC"/>
                <a:cs typeface="Noto Sans SC"/>
                <a:sym typeface="Noto Sans SC"/>
              </a:rPr>
              <a:t>标准型、耳挂式</a:t>
            </a:r>
            <a:endParaRPr lang="en-US" sz="1100"/>
          </a:p>
        </p:txBody>
      </p:sp>
      <p:pic>
        <p:nvPicPr>
          <p:cNvPr id="23" name="Picture 2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4381500"/>
            <a:ext cx="254000" cy="254000"/>
          </a:xfrm>
          <a:prstGeom prst="rect">
            <a:avLst/>
          </a:prstGeom>
        </p:spPr>
      </p:pic>
      <p:sp>
        <p:nvSpPr>
          <p:cNvPr id="24" name="AutoShape 24"/>
          <p:cNvSpPr/>
          <p:nvPr/>
        </p:nvSpPr>
        <p:spPr>
          <a:xfrm>
            <a:off x="7010400" y="4381500"/>
            <a:ext cx="4318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使用场景：</a:t>
            </a:r>
            <a:r>
              <a:rPr lang="en-US" sz="1400" b="0" i="0" u="none" strike="noStrike">
                <a:solidFill>
                  <a:srgbClr val="374151"/>
                </a:solidFill>
                <a:latin typeface="Noto Sans SC"/>
                <a:ea typeface="Noto Sans SC"/>
                <a:cs typeface="Noto Sans SC"/>
                <a:sym typeface="Noto Sans SC"/>
              </a:rPr>
              <a:t>日常护理、访客探视、非隔离患者接触</a:t>
            </a:r>
            <a:endParaRPr lang="en-US" sz="1100"/>
          </a:p>
        </p:txBody>
      </p:sp>
      <p:sp>
        <p:nvSpPr>
          <p:cNvPr id="25" name="AutoShape 25"/>
          <p:cNvSpPr/>
          <p:nvPr/>
        </p:nvSpPr>
        <p:spPr>
          <a:xfrm>
            <a:off x="1016000" y="5461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a:ea typeface="Noto Sans SC"/>
                <a:cs typeface="Noto Sans SC"/>
                <a:sym typeface="Noto Sans SC"/>
              </a:rPr>
              <a:t>PPE产品是构建医院感染防线的第一道屏障，保障医护人员与患者安全。</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A9C"/>
                </a:solidFill>
                <a:latin typeface="Noto Sans SC"/>
                <a:ea typeface="Noto Sans SC"/>
                <a:cs typeface="Noto Sans SC"/>
                <a:sym typeface="Noto Sans SC"/>
              </a:rPr>
              <a:t>PPE产品：感染控制核心耗材</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4826000" cy="2159000"/>
          </a:xfrm>
          <a:prstGeom prst="roundRect">
            <a:avLst>
              <a:gd name="adj" fmla="val 470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1968500"/>
            <a:ext cx="304800" cy="304800"/>
          </a:xfrm>
          <a:prstGeom prst="rect">
            <a:avLst/>
          </a:prstGeom>
        </p:spPr>
      </p:pic>
      <p:sp>
        <p:nvSpPr>
          <p:cNvPr id="6" name="AutoShape 6"/>
          <p:cNvSpPr/>
          <p:nvPr/>
        </p:nvSpPr>
        <p:spPr>
          <a:xfrm>
            <a:off x="1651000" y="1968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隔离衣/防护服</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2476500"/>
            <a:ext cx="203200" cy="203200"/>
          </a:xfrm>
          <a:prstGeom prst="rect">
            <a:avLst/>
          </a:prstGeom>
        </p:spPr>
      </p:pic>
      <p:sp>
        <p:nvSpPr>
          <p:cNvPr id="8" name="AutoShape 8"/>
          <p:cNvSpPr/>
          <p:nvPr/>
        </p:nvSpPr>
        <p:spPr>
          <a:xfrm>
            <a:off x="1587500" y="24765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执行标准：AAMI PB70 Level 2</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2984500"/>
            <a:ext cx="203200" cy="203200"/>
          </a:xfrm>
          <a:prstGeom prst="rect">
            <a:avLst/>
          </a:prstGeom>
        </p:spPr>
      </p:pic>
      <p:sp>
        <p:nvSpPr>
          <p:cNvPr id="10" name="AutoShape 10"/>
          <p:cNvSpPr/>
          <p:nvPr/>
        </p:nvSpPr>
        <p:spPr>
          <a:xfrm>
            <a:off x="1587500" y="29845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年消耗量：约</a:t>
            </a:r>
            <a:r>
              <a:rPr lang="en-US" sz="1400" b="1" i="0" u="none" strike="noStrike">
                <a:solidFill>
                  <a:srgbClr val="4A90E2"/>
                </a:solidFill>
                <a:latin typeface="Noto Sans SC"/>
                <a:ea typeface="Noto Sans SC"/>
                <a:cs typeface="Noto Sans SC"/>
                <a:sym typeface="Noto Sans SC"/>
              </a:rPr>
              <a:t>1.2-1.5亿</a:t>
            </a:r>
            <a:r>
              <a:rPr lang="en-US" sz="1400" b="0" i="0" u="none" strike="noStrike">
                <a:solidFill>
                  <a:srgbClr val="6B7280"/>
                </a:solidFill>
                <a:latin typeface="Noto Sans SC"/>
                <a:ea typeface="Noto Sans SC"/>
                <a:cs typeface="Noto Sans SC"/>
                <a:sym typeface="Noto Sans SC"/>
              </a:rPr>
              <a:t>件</a:t>
            </a:r>
            <a:endParaRPr lang="en-US" sz="1100"/>
          </a:p>
        </p:txBody>
      </p:sp>
      <p:sp>
        <p:nvSpPr>
          <p:cNvPr id="11" name="AutoShape 11"/>
          <p:cNvSpPr/>
          <p:nvPr/>
        </p:nvSpPr>
        <p:spPr>
          <a:xfrm>
            <a:off x="1016000" y="4127500"/>
            <a:ext cx="4826000" cy="2159000"/>
          </a:xfrm>
          <a:prstGeom prst="roundRect">
            <a:avLst>
              <a:gd name="adj" fmla="val 470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06500" y="4318000"/>
            <a:ext cx="304800" cy="304800"/>
          </a:xfrm>
          <a:prstGeom prst="rect">
            <a:avLst/>
          </a:prstGeom>
        </p:spPr>
      </p:pic>
      <p:sp>
        <p:nvSpPr>
          <p:cNvPr id="13" name="AutoShape 13"/>
          <p:cNvSpPr/>
          <p:nvPr/>
        </p:nvSpPr>
        <p:spPr>
          <a:xfrm>
            <a:off x="1651000" y="43180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防护面罩</a:t>
            </a:r>
            <a:endParaRPr lang="en-US" sz="1100"/>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4826000"/>
            <a:ext cx="203200" cy="203200"/>
          </a:xfrm>
          <a:prstGeom prst="rect">
            <a:avLst/>
          </a:prstGeom>
        </p:spPr>
      </p:pic>
      <p:sp>
        <p:nvSpPr>
          <p:cNvPr id="15" name="AutoShape 15"/>
          <p:cNvSpPr/>
          <p:nvPr/>
        </p:nvSpPr>
        <p:spPr>
          <a:xfrm>
            <a:off x="1587500" y="4826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执行标准：ANSI Z87.1</a:t>
            </a:r>
            <a:endParaRPr lang="en-US" sz="1100"/>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5334000"/>
            <a:ext cx="203200" cy="203200"/>
          </a:xfrm>
          <a:prstGeom prst="rect">
            <a:avLst/>
          </a:prstGeom>
        </p:spPr>
      </p:pic>
      <p:sp>
        <p:nvSpPr>
          <p:cNvPr id="17" name="AutoShape 17"/>
          <p:cNvSpPr/>
          <p:nvPr/>
        </p:nvSpPr>
        <p:spPr>
          <a:xfrm>
            <a:off x="1587500" y="5334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年消耗量：约</a:t>
            </a:r>
            <a:r>
              <a:rPr lang="en-US" sz="1400" b="1" i="0" u="none" strike="noStrike">
                <a:solidFill>
                  <a:srgbClr val="4A90E2"/>
                </a:solidFill>
                <a:latin typeface="Noto Sans SC"/>
                <a:ea typeface="Noto Sans SC"/>
                <a:cs typeface="Noto Sans SC"/>
                <a:sym typeface="Noto Sans SC"/>
              </a:rPr>
              <a:t>1.5-2亿</a:t>
            </a:r>
            <a:r>
              <a:rPr lang="en-US" sz="1400" b="0" i="0" u="none" strike="noStrike">
                <a:solidFill>
                  <a:srgbClr val="6B7280"/>
                </a:solidFill>
                <a:latin typeface="Noto Sans SC"/>
                <a:ea typeface="Noto Sans SC"/>
                <a:cs typeface="Noto Sans SC"/>
                <a:sym typeface="Noto Sans SC"/>
              </a:rPr>
              <a:t>个</a:t>
            </a:r>
            <a:endParaRPr lang="en-US" sz="1100"/>
          </a:p>
        </p:txBody>
      </p:sp>
      <p:cxnSp>
        <p:nvCxnSpPr>
          <p:cNvPr id="18" name="Connector 18"/>
          <p:cNvCxnSpPr/>
          <p:nvPr/>
        </p:nvCxnSpPr>
        <p:spPr>
          <a:xfrm rot="5390316">
            <a:off x="3841750" y="4025909"/>
            <a:ext cx="4508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9" name="AutoShape 19"/>
          <p:cNvSpPr/>
          <p:nvPr/>
        </p:nvSpPr>
        <p:spPr>
          <a:xfrm>
            <a:off x="64770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A9C"/>
                </a:solidFill>
                <a:latin typeface="Noto Sans SC"/>
                <a:ea typeface="Noto Sans SC"/>
                <a:cs typeface="Noto Sans SC"/>
                <a:sym typeface="Noto Sans SC"/>
              </a:rPr>
              <a:t>关键使用场景</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77000" y="2413000"/>
            <a:ext cx="254000" cy="254000"/>
          </a:xfrm>
          <a:prstGeom prst="rect">
            <a:avLst/>
          </a:prstGeom>
        </p:spPr>
      </p:pic>
      <p:sp>
        <p:nvSpPr>
          <p:cNvPr id="21" name="AutoShape 21"/>
          <p:cNvSpPr/>
          <p:nvPr/>
        </p:nvSpPr>
        <p:spPr>
          <a:xfrm>
            <a:off x="6921500" y="2413000"/>
            <a:ext cx="444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a:ea typeface="Noto Sans SC"/>
                <a:cs typeface="Noto Sans SC"/>
                <a:sym typeface="Noto Sans SC"/>
              </a:rPr>
              <a:t>接触隔离患者</a:t>
            </a:r>
            <a:endParaRPr lang="en-US" sz="1100"/>
          </a:p>
        </p:txBody>
      </p:sp>
      <p:sp>
        <p:nvSpPr>
          <p:cNvPr id="22" name="AutoShape 22"/>
          <p:cNvSpPr/>
          <p:nvPr/>
        </p:nvSpPr>
        <p:spPr>
          <a:xfrm>
            <a:off x="6921500" y="27305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用于标准预防和接触隔离，防止交叉感染。</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3365500"/>
            <a:ext cx="254000" cy="254000"/>
          </a:xfrm>
          <a:prstGeom prst="rect">
            <a:avLst/>
          </a:prstGeom>
        </p:spPr>
      </p:pic>
      <p:sp>
        <p:nvSpPr>
          <p:cNvPr id="24" name="AutoShape 24"/>
          <p:cNvSpPr/>
          <p:nvPr/>
        </p:nvSpPr>
        <p:spPr>
          <a:xfrm>
            <a:off x="6921500" y="3365500"/>
            <a:ext cx="444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a:ea typeface="Noto Sans SC"/>
                <a:cs typeface="Noto Sans SC"/>
                <a:sym typeface="Noto Sans SC"/>
              </a:rPr>
              <a:t>处理体液/伤口</a:t>
            </a:r>
            <a:endParaRPr lang="en-US" sz="1100"/>
          </a:p>
        </p:txBody>
      </p:sp>
      <p:sp>
        <p:nvSpPr>
          <p:cNvPr id="25" name="AutoShape 25"/>
          <p:cNvSpPr/>
          <p:nvPr/>
        </p:nvSpPr>
        <p:spPr>
          <a:xfrm>
            <a:off x="6921500" y="36830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在换药、吸痰等高风险操作中提供防护。</a:t>
            </a:r>
            <a:endParaRPr lang="en-US" sz="1100"/>
          </a:p>
        </p:txBody>
      </p:sp>
      <p:pic>
        <p:nvPicPr>
          <p:cNvPr id="26" name="Picture 26"/>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77000" y="4318000"/>
            <a:ext cx="254000" cy="254000"/>
          </a:xfrm>
          <a:prstGeom prst="rect">
            <a:avLst/>
          </a:prstGeom>
        </p:spPr>
      </p:pic>
      <p:sp>
        <p:nvSpPr>
          <p:cNvPr id="27" name="AutoShape 27"/>
          <p:cNvSpPr/>
          <p:nvPr/>
        </p:nvSpPr>
        <p:spPr>
          <a:xfrm>
            <a:off x="6921500" y="4318000"/>
            <a:ext cx="444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a:ea typeface="Noto Sans SC"/>
                <a:cs typeface="Noto Sans SC"/>
                <a:sym typeface="Noto Sans SC"/>
              </a:rPr>
              <a:t>手术/侵入性操作</a:t>
            </a:r>
            <a:endParaRPr lang="en-US" sz="1100"/>
          </a:p>
        </p:txBody>
      </p:sp>
      <p:sp>
        <p:nvSpPr>
          <p:cNvPr id="28" name="AutoShape 28"/>
          <p:cNvSpPr/>
          <p:nvPr/>
        </p:nvSpPr>
        <p:spPr>
          <a:xfrm>
            <a:off x="6921500" y="46355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为医护人员提供全面的面部和身体防护。</a:t>
            </a:r>
            <a:endParaRPr lang="en-US" sz="1100"/>
          </a:p>
        </p:txBody>
      </p:sp>
      <p:pic>
        <p:nvPicPr>
          <p:cNvPr id="29" name="Picture 29"/>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477000" y="5270500"/>
            <a:ext cx="254000" cy="254000"/>
          </a:xfrm>
          <a:prstGeom prst="rect">
            <a:avLst/>
          </a:prstGeom>
        </p:spPr>
      </p:pic>
      <p:sp>
        <p:nvSpPr>
          <p:cNvPr id="30" name="AutoShape 30"/>
          <p:cNvSpPr/>
          <p:nvPr/>
        </p:nvSpPr>
        <p:spPr>
          <a:xfrm>
            <a:off x="6921500" y="5270500"/>
            <a:ext cx="4445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329"/>
                </a:solidFill>
                <a:latin typeface="Noto Sans SC"/>
                <a:ea typeface="Noto Sans SC"/>
                <a:cs typeface="Noto Sans SC"/>
                <a:sym typeface="Noto Sans SC"/>
              </a:rPr>
              <a:t>传染病爆发应对</a:t>
            </a:r>
            <a:endParaRPr lang="en-US" sz="1100"/>
          </a:p>
        </p:txBody>
      </p:sp>
      <p:sp>
        <p:nvSpPr>
          <p:cNvPr id="31" name="AutoShape 31"/>
          <p:cNvSpPr/>
          <p:nvPr/>
        </p:nvSpPr>
        <p:spPr>
          <a:xfrm>
            <a:off x="6921500" y="5588000"/>
            <a:ext cx="4445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在公共卫生事件中，保障一线人员安全。</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5A9C"/>
                </a:solidFill>
                <a:latin typeface="Noto Sans SC"/>
                <a:ea typeface="Noto Sans SC"/>
                <a:cs typeface="Noto Sans SC"/>
                <a:sym typeface="Noto Sans SC"/>
              </a:rPr>
              <a:t>伤口护理产品：压疮与慢性伤口管理刚需</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822044" y="1778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a:ea typeface="Noto Sans SC"/>
                <a:cs typeface="Noto Sans SC"/>
                <a:sym typeface="Noto Sans SC"/>
              </a:rPr>
              <a:t>无菌纱布垫</a:t>
            </a:r>
            <a:endParaRPr lang="en-US" sz="1100"/>
          </a:p>
        </p:txBody>
      </p:sp>
      <p:sp>
        <p:nvSpPr>
          <p:cNvPr id="5" name="AutoShape 5"/>
          <p:cNvSpPr/>
          <p:nvPr/>
        </p:nvSpPr>
        <p:spPr>
          <a:xfrm>
            <a:off x="822044" y="2286000"/>
            <a:ext cx="2413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2544" y="2438400"/>
            <a:ext cx="304800" cy="304800"/>
          </a:xfrm>
          <a:prstGeom prst="rect">
            <a:avLst/>
          </a:prstGeom>
        </p:spPr>
      </p:pic>
      <p:sp>
        <p:nvSpPr>
          <p:cNvPr id="7" name="AutoShape 7"/>
          <p:cNvSpPr/>
          <p:nvPr/>
        </p:nvSpPr>
        <p:spPr>
          <a:xfrm>
            <a:off x="1393544" y="2463800"/>
            <a:ext cx="1778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年消耗量</a:t>
            </a:r>
            <a:endParaRPr lang="en-US" sz="1100"/>
          </a:p>
        </p:txBody>
      </p:sp>
      <p:sp>
        <p:nvSpPr>
          <p:cNvPr id="8" name="AutoShape 8"/>
          <p:cNvSpPr/>
          <p:nvPr/>
        </p:nvSpPr>
        <p:spPr>
          <a:xfrm>
            <a:off x="1393544" y="2743200"/>
            <a:ext cx="17780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005A9C"/>
                </a:solidFill>
                <a:latin typeface="Noto Sans SC"/>
                <a:ea typeface="Noto Sans SC"/>
                <a:cs typeface="Noto Sans SC"/>
                <a:sym typeface="Noto Sans SC"/>
              </a:rPr>
              <a:t>8-10 亿片</a:t>
            </a:r>
            <a:endParaRPr lang="en-US" sz="1100"/>
          </a:p>
        </p:txBody>
      </p:sp>
      <p:sp>
        <p:nvSpPr>
          <p:cNvPr id="9" name="AutoShape 9"/>
          <p:cNvSpPr/>
          <p:nvPr/>
        </p:nvSpPr>
        <p:spPr>
          <a:xfrm>
            <a:off x="3489044" y="2286000"/>
            <a:ext cx="2413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79544" y="2438400"/>
            <a:ext cx="304800" cy="304800"/>
          </a:xfrm>
          <a:prstGeom prst="rect">
            <a:avLst/>
          </a:prstGeom>
        </p:spPr>
      </p:pic>
      <p:sp>
        <p:nvSpPr>
          <p:cNvPr id="11" name="AutoShape 11"/>
          <p:cNvSpPr/>
          <p:nvPr/>
        </p:nvSpPr>
        <p:spPr>
          <a:xfrm>
            <a:off x="4060544" y="2463800"/>
            <a:ext cx="1778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适用伤口类型</a:t>
            </a:r>
            <a:endParaRPr lang="en-US" sz="1100"/>
          </a:p>
        </p:txBody>
      </p:sp>
      <p:sp>
        <p:nvSpPr>
          <p:cNvPr id="12" name="AutoShape 12"/>
          <p:cNvSpPr/>
          <p:nvPr/>
        </p:nvSpPr>
        <p:spPr>
          <a:xfrm>
            <a:off x="4060544" y="2743200"/>
            <a:ext cx="17780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dirty="0">
                <a:solidFill>
                  <a:srgbClr val="005A9C"/>
                </a:solidFill>
                <a:latin typeface="Noto Sans SC"/>
                <a:ea typeface="Noto Sans SC"/>
                <a:cs typeface="Noto Sans SC"/>
                <a:sym typeface="Noto Sans SC"/>
              </a:rPr>
              <a:t>USP Type VII</a:t>
            </a:r>
            <a:endParaRPr lang="en-US" sz="1100" dirty="0"/>
          </a:p>
        </p:txBody>
      </p:sp>
      <p:cxnSp>
        <p:nvCxnSpPr>
          <p:cNvPr id="13" name="Connector 13"/>
          <p:cNvCxnSpPr/>
          <p:nvPr/>
        </p:nvCxnSpPr>
        <p:spPr>
          <a:xfrm rot="-8594">
            <a:off x="822052" y="33591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4" name="AutoShape 14"/>
          <p:cNvSpPr/>
          <p:nvPr/>
        </p:nvSpPr>
        <p:spPr>
          <a:xfrm>
            <a:off x="822044" y="3556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主要使用场景</a:t>
            </a:r>
            <a:endParaRPr lang="en-US" sz="1100"/>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2044" y="4000500"/>
            <a:ext cx="203200" cy="203200"/>
          </a:xfrm>
          <a:prstGeom prst="rect">
            <a:avLst/>
          </a:prstGeom>
        </p:spPr>
      </p:pic>
      <p:sp>
        <p:nvSpPr>
          <p:cNvPr id="16" name="AutoShape 16"/>
          <p:cNvSpPr/>
          <p:nvPr/>
        </p:nvSpPr>
        <p:spPr>
          <a:xfrm>
            <a:off x="1126844" y="4000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清洁伤口、覆盖创面</a:t>
            </a:r>
            <a:endParaRPr lang="en-US" sz="1100"/>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2044" y="4445000"/>
            <a:ext cx="203200" cy="203200"/>
          </a:xfrm>
          <a:prstGeom prst="rect">
            <a:avLst/>
          </a:prstGeom>
        </p:spPr>
      </p:pic>
      <p:sp>
        <p:nvSpPr>
          <p:cNvPr id="18" name="AutoShape 18"/>
          <p:cNvSpPr/>
          <p:nvPr/>
        </p:nvSpPr>
        <p:spPr>
          <a:xfrm>
            <a:off x="1126844" y="4445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吸收少量渗出液</a:t>
            </a:r>
            <a:endParaRPr lang="en-US" sz="1100"/>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2044" y="4889500"/>
            <a:ext cx="203200" cy="203200"/>
          </a:xfrm>
          <a:prstGeom prst="rect">
            <a:avLst/>
          </a:prstGeom>
        </p:spPr>
      </p:pic>
      <p:sp>
        <p:nvSpPr>
          <p:cNvPr id="20" name="AutoShape 20"/>
          <p:cNvSpPr/>
          <p:nvPr/>
        </p:nvSpPr>
        <p:spPr>
          <a:xfrm>
            <a:off x="1126844" y="4889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作为二级敷料固定</a:t>
            </a:r>
            <a:endParaRPr lang="en-US" sz="1100"/>
          </a:p>
        </p:txBody>
      </p:sp>
      <p:cxnSp>
        <p:nvCxnSpPr>
          <p:cNvPr id="21" name="Connector 21"/>
          <p:cNvCxnSpPr/>
          <p:nvPr/>
        </p:nvCxnSpPr>
        <p:spPr>
          <a:xfrm rot="5387722">
            <a:off x="4391888" y="3549661"/>
            <a:ext cx="355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2" name="AutoShape 22"/>
          <p:cNvSpPr/>
          <p:nvPr/>
        </p:nvSpPr>
        <p:spPr>
          <a:xfrm>
            <a:off x="6493168" y="1778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a:ea typeface="Noto Sans SC"/>
                <a:cs typeface="Noto Sans SC"/>
                <a:sym typeface="Noto Sans SC"/>
              </a:rPr>
              <a:t>水胶体敷料</a:t>
            </a:r>
            <a:endParaRPr lang="en-US" sz="1100"/>
          </a:p>
        </p:txBody>
      </p:sp>
      <p:sp>
        <p:nvSpPr>
          <p:cNvPr id="23" name="AutoShape 23"/>
          <p:cNvSpPr/>
          <p:nvPr/>
        </p:nvSpPr>
        <p:spPr>
          <a:xfrm>
            <a:off x="6493168" y="2286000"/>
            <a:ext cx="2413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83668" y="2438400"/>
            <a:ext cx="304800" cy="304800"/>
          </a:xfrm>
          <a:prstGeom prst="rect">
            <a:avLst/>
          </a:prstGeom>
        </p:spPr>
      </p:pic>
      <p:sp>
        <p:nvSpPr>
          <p:cNvPr id="25" name="AutoShape 25"/>
          <p:cNvSpPr/>
          <p:nvPr/>
        </p:nvSpPr>
        <p:spPr>
          <a:xfrm>
            <a:off x="7064668" y="2463800"/>
            <a:ext cx="1778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年消耗量</a:t>
            </a:r>
            <a:endParaRPr lang="en-US" sz="1100"/>
          </a:p>
        </p:txBody>
      </p:sp>
      <p:sp>
        <p:nvSpPr>
          <p:cNvPr id="26" name="AutoShape 26"/>
          <p:cNvSpPr/>
          <p:nvPr/>
        </p:nvSpPr>
        <p:spPr>
          <a:xfrm>
            <a:off x="7064668" y="2743200"/>
            <a:ext cx="17780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005A9C"/>
                </a:solidFill>
                <a:latin typeface="Noto Sans SC"/>
                <a:ea typeface="Noto Sans SC"/>
                <a:cs typeface="Noto Sans SC"/>
                <a:sym typeface="Noto Sans SC"/>
              </a:rPr>
              <a:t>2.5-3 亿片</a:t>
            </a:r>
            <a:endParaRPr lang="en-US" sz="1100"/>
          </a:p>
        </p:txBody>
      </p:sp>
      <p:sp>
        <p:nvSpPr>
          <p:cNvPr id="27" name="AutoShape 27"/>
          <p:cNvSpPr/>
          <p:nvPr/>
        </p:nvSpPr>
        <p:spPr>
          <a:xfrm>
            <a:off x="9160168" y="2286000"/>
            <a:ext cx="2413000" cy="889000"/>
          </a:xfrm>
          <a:prstGeom prst="roundRect">
            <a:avLst>
              <a:gd name="adj" fmla="val 11428"/>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50668" y="2438400"/>
            <a:ext cx="304800" cy="304800"/>
          </a:xfrm>
          <a:prstGeom prst="rect">
            <a:avLst/>
          </a:prstGeom>
        </p:spPr>
      </p:pic>
      <p:sp>
        <p:nvSpPr>
          <p:cNvPr id="29" name="AutoShape 29"/>
          <p:cNvSpPr/>
          <p:nvPr/>
        </p:nvSpPr>
        <p:spPr>
          <a:xfrm>
            <a:off x="9731668" y="2463800"/>
            <a:ext cx="1778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适用伤口类型</a:t>
            </a:r>
            <a:endParaRPr lang="en-US" sz="1100"/>
          </a:p>
        </p:txBody>
      </p:sp>
      <p:sp>
        <p:nvSpPr>
          <p:cNvPr id="30" name="AutoShape 30"/>
          <p:cNvSpPr/>
          <p:nvPr/>
        </p:nvSpPr>
        <p:spPr>
          <a:xfrm>
            <a:off x="9731668" y="2743200"/>
            <a:ext cx="1778000" cy="304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005A9C"/>
                </a:solidFill>
                <a:latin typeface="Noto Sans SC"/>
                <a:ea typeface="Noto Sans SC"/>
                <a:cs typeface="Noto Sans SC"/>
                <a:sym typeface="Noto Sans SC"/>
              </a:rPr>
              <a:t>低-中度渗出压疮</a:t>
            </a:r>
            <a:endParaRPr lang="en-US" sz="1100"/>
          </a:p>
        </p:txBody>
      </p:sp>
      <p:cxnSp>
        <p:nvCxnSpPr>
          <p:cNvPr id="31" name="Connector 31"/>
          <p:cNvCxnSpPr/>
          <p:nvPr/>
        </p:nvCxnSpPr>
        <p:spPr>
          <a:xfrm rot="-8594">
            <a:off x="6493176" y="3359150"/>
            <a:ext cx="508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2" name="AutoShape 32"/>
          <p:cNvSpPr/>
          <p:nvPr/>
        </p:nvSpPr>
        <p:spPr>
          <a:xfrm>
            <a:off x="6493168" y="3556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主要使用场景</a:t>
            </a:r>
            <a:endParaRPr lang="en-US" sz="1100"/>
          </a:p>
        </p:txBody>
      </p:sp>
      <p:pic>
        <p:nvPicPr>
          <p:cNvPr id="33" name="Picture 3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93168" y="4000500"/>
            <a:ext cx="203200" cy="203200"/>
          </a:xfrm>
          <a:prstGeom prst="rect">
            <a:avLst/>
          </a:prstGeom>
        </p:spPr>
      </p:pic>
      <p:sp>
        <p:nvSpPr>
          <p:cNvPr id="34" name="AutoShape 34"/>
          <p:cNvSpPr/>
          <p:nvPr/>
        </p:nvSpPr>
        <p:spPr>
          <a:xfrm>
            <a:off x="6797968" y="4000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压疮预防（骶尾部、足跟）</a:t>
            </a:r>
            <a:endParaRPr lang="en-US" sz="1100"/>
          </a:p>
        </p:txBody>
      </p:sp>
      <p:pic>
        <p:nvPicPr>
          <p:cNvPr id="35" name="Picture 3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93168" y="4445000"/>
            <a:ext cx="203200" cy="203200"/>
          </a:xfrm>
          <a:prstGeom prst="rect">
            <a:avLst/>
          </a:prstGeom>
        </p:spPr>
      </p:pic>
      <p:sp>
        <p:nvSpPr>
          <p:cNvPr id="36" name="AutoShape 36"/>
          <p:cNvSpPr/>
          <p:nvPr/>
        </p:nvSpPr>
        <p:spPr>
          <a:xfrm>
            <a:off x="6797968" y="4445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浅表烧伤护理</a:t>
            </a:r>
            <a:endParaRPr lang="en-US" sz="1100"/>
          </a:p>
        </p:txBody>
      </p:sp>
      <p:pic>
        <p:nvPicPr>
          <p:cNvPr id="37" name="Picture 3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93168" y="4889500"/>
            <a:ext cx="203200" cy="203200"/>
          </a:xfrm>
          <a:prstGeom prst="rect">
            <a:avLst/>
          </a:prstGeom>
        </p:spPr>
      </p:pic>
      <p:sp>
        <p:nvSpPr>
          <p:cNvPr id="38" name="AutoShape 38"/>
          <p:cNvSpPr/>
          <p:nvPr/>
        </p:nvSpPr>
        <p:spPr>
          <a:xfrm>
            <a:off x="6797968" y="4889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术后切口保护</a:t>
            </a:r>
            <a:endParaRPr lang="en-US" sz="1100"/>
          </a:p>
        </p:txBody>
      </p:sp>
      <p:cxnSp>
        <p:nvCxnSpPr>
          <p:cNvPr id="39" name="Connector 39"/>
          <p:cNvCxnSpPr/>
          <p:nvPr/>
        </p:nvCxnSpPr>
        <p:spPr>
          <a:xfrm rot="-4297">
            <a:off x="1016004" y="5581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0" name="AutoShape 40"/>
          <p:cNvSpPr/>
          <p:nvPr/>
        </p:nvSpPr>
        <p:spPr>
          <a:xfrm>
            <a:off x="1016000" y="5778500"/>
            <a:ext cx="1016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CA3AF"/>
                </a:solidFill>
                <a:latin typeface="Noto Sans SC"/>
                <a:ea typeface="Noto Sans SC"/>
                <a:cs typeface="Noto Sans SC"/>
                <a:sym typeface="Noto Sans SC"/>
              </a:rPr>
              <a:t>数据来源：行业报告及市场分析（2024）</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05A9C"/>
                </a:solidFill>
                <a:latin typeface="Noto Sans SC"/>
                <a:ea typeface="Noto Sans SC"/>
                <a:cs typeface="Noto Sans SC"/>
                <a:sym typeface="Noto Sans SC"/>
              </a:rPr>
              <a:t>伤口护理产品：压疮与慢性伤口管理刚需</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778000"/>
            <a:ext cx="4826000" cy="3683000"/>
          </a:xfrm>
          <a:prstGeom prst="roundRect">
            <a:avLst>
              <a:gd name="adj" fmla="val 27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032000"/>
            <a:ext cx="304800" cy="304800"/>
          </a:xfrm>
          <a:prstGeom prst="rect">
            <a:avLst/>
          </a:prstGeom>
        </p:spPr>
      </p:pic>
      <p:sp>
        <p:nvSpPr>
          <p:cNvPr id="6" name="AutoShape 6"/>
          <p:cNvSpPr/>
          <p:nvPr/>
        </p:nvSpPr>
        <p:spPr>
          <a:xfrm>
            <a:off x="1701800" y="20320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藻酸盐敷料</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2603500"/>
            <a:ext cx="203200" cy="203200"/>
          </a:xfrm>
          <a:prstGeom prst="rect">
            <a:avLst/>
          </a:prstGeom>
        </p:spPr>
      </p:pic>
      <p:sp>
        <p:nvSpPr>
          <p:cNvPr id="8" name="AutoShape 8"/>
          <p:cNvSpPr/>
          <p:nvPr/>
        </p:nvSpPr>
        <p:spPr>
          <a:xfrm>
            <a:off x="1600200" y="2603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主流型号：</a:t>
            </a:r>
            <a:r>
              <a:rPr lang="en-US" sz="1400" b="0" i="0" u="none" strike="noStrike">
                <a:solidFill>
                  <a:srgbClr val="6B7280"/>
                </a:solidFill>
                <a:latin typeface="Noto Sans SC"/>
                <a:ea typeface="Noto Sans SC"/>
                <a:cs typeface="Noto Sans SC"/>
                <a:sym typeface="Noto Sans SC"/>
              </a:rPr>
              <a:t>Biatain Alginate, Cardinal Health</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3111500"/>
            <a:ext cx="203200" cy="203200"/>
          </a:xfrm>
          <a:prstGeom prst="rect">
            <a:avLst/>
          </a:prstGeom>
        </p:spPr>
      </p:pic>
      <p:sp>
        <p:nvSpPr>
          <p:cNvPr id="10" name="AutoShape 10"/>
          <p:cNvSpPr/>
          <p:nvPr/>
        </p:nvSpPr>
        <p:spPr>
          <a:xfrm>
            <a:off x="1600200" y="3111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常用规格：</a:t>
            </a:r>
            <a:r>
              <a:rPr lang="en-US" sz="1400" b="0" i="0" u="none" strike="noStrike">
                <a:solidFill>
                  <a:srgbClr val="6B7280"/>
                </a:solidFill>
                <a:latin typeface="Noto Sans SC"/>
                <a:ea typeface="Noto Sans SC"/>
                <a:cs typeface="Noto Sans SC"/>
                <a:sym typeface="Noto Sans SC"/>
              </a:rPr>
              <a:t>5×5cm, 10×10cm, 条状</a:t>
            </a:r>
            <a:endParaRPr lang="en-US" sz="1100"/>
          </a:p>
        </p:txBody>
      </p:sp>
      <p:pic>
        <p:nvPicPr>
          <p:cNvPr id="11" name="Picture 1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70000" y="3619500"/>
            <a:ext cx="203200" cy="203200"/>
          </a:xfrm>
          <a:prstGeom prst="rect">
            <a:avLst/>
          </a:prstGeom>
        </p:spPr>
      </p:pic>
      <p:sp>
        <p:nvSpPr>
          <p:cNvPr id="12" name="AutoShape 12"/>
          <p:cNvSpPr/>
          <p:nvPr/>
        </p:nvSpPr>
        <p:spPr>
          <a:xfrm>
            <a:off x="1600200" y="3619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适用伤口：</a:t>
            </a:r>
            <a:r>
              <a:rPr lang="en-US" sz="1400" b="0" i="0" u="none" strike="noStrike">
                <a:solidFill>
                  <a:srgbClr val="6B7280"/>
                </a:solidFill>
                <a:latin typeface="Noto Sans SC"/>
                <a:ea typeface="Noto Sans SC"/>
                <a:cs typeface="Noto Sans SC"/>
                <a:sym typeface="Noto Sans SC"/>
              </a:rPr>
              <a:t>中-重度渗出伤口</a:t>
            </a:r>
            <a:endParaRPr lang="en-US" sz="1100"/>
          </a:p>
        </p:txBody>
      </p:sp>
      <p:pic>
        <p:nvPicPr>
          <p:cNvPr id="13" name="Picture 1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270000" y="4127500"/>
            <a:ext cx="203200" cy="203200"/>
          </a:xfrm>
          <a:prstGeom prst="rect">
            <a:avLst/>
          </a:prstGeom>
        </p:spPr>
      </p:pic>
      <p:sp>
        <p:nvSpPr>
          <p:cNvPr id="14" name="AutoShape 14"/>
          <p:cNvSpPr/>
          <p:nvPr/>
        </p:nvSpPr>
        <p:spPr>
          <a:xfrm>
            <a:off x="1600200" y="4127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年消耗量：</a:t>
            </a:r>
            <a:r>
              <a:rPr lang="en-US" sz="1400" b="1" i="0" u="none" strike="noStrike">
                <a:solidFill>
                  <a:srgbClr val="005A9C"/>
                </a:solidFill>
                <a:latin typeface="Noto Sans SC"/>
                <a:ea typeface="Noto Sans SC"/>
                <a:cs typeface="Noto Sans SC"/>
                <a:sym typeface="Noto Sans SC"/>
              </a:rPr>
              <a:t>约1.2-1.5亿片</a:t>
            </a:r>
            <a:endParaRPr lang="en-US" sz="1100"/>
          </a:p>
        </p:txBody>
      </p:sp>
      <p:cxnSp>
        <p:nvCxnSpPr>
          <p:cNvPr id="15" name="Connector 15"/>
          <p:cNvCxnSpPr/>
          <p:nvPr/>
        </p:nvCxnSpPr>
        <p:spPr>
          <a:xfrm rot="5388145">
            <a:off x="4254500" y="3613161"/>
            <a:ext cx="3683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6" name="AutoShape 16"/>
          <p:cNvSpPr/>
          <p:nvPr/>
        </p:nvSpPr>
        <p:spPr>
          <a:xfrm>
            <a:off x="6350000" y="1778000"/>
            <a:ext cx="4826000" cy="3683000"/>
          </a:xfrm>
          <a:prstGeom prst="roundRect">
            <a:avLst>
              <a:gd name="adj" fmla="val 27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2032000"/>
            <a:ext cx="304800" cy="304800"/>
          </a:xfrm>
          <a:prstGeom prst="rect">
            <a:avLst/>
          </a:prstGeom>
        </p:spPr>
      </p:pic>
      <p:sp>
        <p:nvSpPr>
          <p:cNvPr id="18" name="AutoShape 18"/>
          <p:cNvSpPr/>
          <p:nvPr/>
        </p:nvSpPr>
        <p:spPr>
          <a:xfrm>
            <a:off x="7035800" y="20320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银离子抗菌敷料</a:t>
            </a:r>
            <a:endParaRPr lang="en-US" sz="1100"/>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603500"/>
            <a:ext cx="203200" cy="203200"/>
          </a:xfrm>
          <a:prstGeom prst="rect">
            <a:avLst/>
          </a:prstGeom>
        </p:spPr>
      </p:pic>
      <p:sp>
        <p:nvSpPr>
          <p:cNvPr id="20" name="AutoShape 20"/>
          <p:cNvSpPr/>
          <p:nvPr/>
        </p:nvSpPr>
        <p:spPr>
          <a:xfrm>
            <a:off x="6934200" y="2603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主流型号：</a:t>
            </a:r>
            <a:r>
              <a:rPr lang="en-US" sz="1400" b="0" i="0" u="none" strike="noStrike">
                <a:solidFill>
                  <a:srgbClr val="6B7280"/>
                </a:solidFill>
                <a:latin typeface="Noto Sans SC"/>
                <a:ea typeface="Noto Sans SC"/>
                <a:cs typeface="Noto Sans SC"/>
                <a:sym typeface="Noto Sans SC"/>
              </a:rPr>
              <a:t>Systagenix Acticoat, Mepilex Ag</a:t>
            </a:r>
            <a:endParaRPr lang="en-US" sz="1100"/>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111500"/>
            <a:ext cx="203200" cy="203200"/>
          </a:xfrm>
          <a:prstGeom prst="rect">
            <a:avLst/>
          </a:prstGeom>
        </p:spPr>
      </p:pic>
      <p:sp>
        <p:nvSpPr>
          <p:cNvPr id="22" name="AutoShape 22"/>
          <p:cNvSpPr/>
          <p:nvPr/>
        </p:nvSpPr>
        <p:spPr>
          <a:xfrm>
            <a:off x="6934200" y="3111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常用规格：</a:t>
            </a:r>
            <a:r>
              <a:rPr lang="en-US" sz="1400" b="0" i="0" u="none" strike="noStrike">
                <a:solidFill>
                  <a:srgbClr val="6B7280"/>
                </a:solidFill>
                <a:latin typeface="Noto Sans SC"/>
                <a:ea typeface="Noto Sans SC"/>
                <a:cs typeface="Noto Sans SC"/>
                <a:sym typeface="Noto Sans SC"/>
              </a:rPr>
              <a:t>5×5cm, 10×10cm</a:t>
            </a:r>
            <a:endParaRPr lang="en-US" sz="1100"/>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619500"/>
            <a:ext cx="203200" cy="203200"/>
          </a:xfrm>
          <a:prstGeom prst="rect">
            <a:avLst/>
          </a:prstGeom>
        </p:spPr>
      </p:pic>
      <p:sp>
        <p:nvSpPr>
          <p:cNvPr id="24" name="AutoShape 24"/>
          <p:cNvSpPr/>
          <p:nvPr/>
        </p:nvSpPr>
        <p:spPr>
          <a:xfrm>
            <a:off x="6934200" y="3619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适用伤口：</a:t>
            </a:r>
            <a:r>
              <a:rPr lang="en-US" sz="1400" b="0" i="0" u="none" strike="noStrike">
                <a:solidFill>
                  <a:srgbClr val="6B7280"/>
                </a:solidFill>
                <a:latin typeface="Noto Sans SC"/>
                <a:ea typeface="Noto Sans SC"/>
                <a:cs typeface="Noto Sans SC"/>
                <a:sym typeface="Noto Sans SC"/>
              </a:rPr>
              <a:t>感染风险伤口</a:t>
            </a:r>
            <a:endParaRPr lang="en-US" sz="1100"/>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4127500"/>
            <a:ext cx="203200" cy="203200"/>
          </a:xfrm>
          <a:prstGeom prst="rect">
            <a:avLst/>
          </a:prstGeom>
        </p:spPr>
      </p:pic>
      <p:sp>
        <p:nvSpPr>
          <p:cNvPr id="26" name="AutoShape 26"/>
          <p:cNvSpPr/>
          <p:nvPr/>
        </p:nvSpPr>
        <p:spPr>
          <a:xfrm>
            <a:off x="6934200" y="4127500"/>
            <a:ext cx="4064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6B7280"/>
                </a:solidFill>
                <a:latin typeface="Noto Sans SC"/>
                <a:ea typeface="Noto Sans SC"/>
                <a:cs typeface="Noto Sans SC"/>
                <a:sym typeface="Noto Sans SC"/>
              </a:rPr>
              <a:t>年消耗量：</a:t>
            </a:r>
            <a:r>
              <a:rPr lang="en-US" sz="1400" b="1" i="0" u="none" strike="noStrike">
                <a:solidFill>
                  <a:srgbClr val="005A9C"/>
                </a:solidFill>
                <a:latin typeface="Noto Sans SC"/>
                <a:ea typeface="Noto Sans SC"/>
                <a:cs typeface="Noto Sans SC"/>
                <a:sym typeface="Noto Sans SC"/>
              </a:rPr>
              <a:t>约0.8-1亿片</a:t>
            </a:r>
            <a:endParaRPr lang="en-US" sz="1100"/>
          </a:p>
        </p:txBody>
      </p:sp>
      <p:cxnSp>
        <p:nvCxnSpPr>
          <p:cNvPr id="27" name="Connector 27"/>
          <p:cNvCxnSpPr/>
          <p:nvPr/>
        </p:nvCxnSpPr>
        <p:spPr>
          <a:xfrm rot="-4297">
            <a:off x="1016004" y="5708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28" name="Picture 28"/>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16000" y="5969000"/>
            <a:ext cx="254000" cy="254000"/>
          </a:xfrm>
          <a:prstGeom prst="rect">
            <a:avLst/>
          </a:prstGeom>
        </p:spPr>
      </p:pic>
      <p:sp>
        <p:nvSpPr>
          <p:cNvPr id="29" name="AutoShape 29"/>
          <p:cNvSpPr/>
          <p:nvPr/>
        </p:nvSpPr>
        <p:spPr>
          <a:xfrm>
            <a:off x="1397000" y="59690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总结：藻酸盐敷料针对重度渗出，银离子敷料聚焦感染控制，二者共同构成慢性伤口管理的核心产品矩阵。</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A9C"/>
                </a:solidFill>
                <a:latin typeface="Noto Sans SC"/>
                <a:ea typeface="Noto Sans SC"/>
                <a:cs typeface="Noto Sans SC"/>
                <a:sym typeface="Noto Sans SC"/>
              </a:rPr>
              <a:t>进入美国市场的渠道策略</a:t>
            </a:r>
            <a:endParaRPr lang="en-US" sz="1100"/>
          </a:p>
        </p:txBody>
      </p:sp>
      <p:cxnSp>
        <p:nvCxnSpPr>
          <p:cNvPr id="3" name="Connector 3"/>
          <p:cNvCxnSpPr/>
          <p:nvPr/>
        </p:nvCxnSpPr>
        <p:spPr>
          <a:xfrm rot="-4297">
            <a:off x="1016004" y="14541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1016000" y="18415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A9C"/>
                </a:solidFill>
                <a:latin typeface="Noto Sans SC"/>
                <a:ea typeface="Noto Sans SC"/>
                <a:cs typeface="Noto Sans SC"/>
                <a:sym typeface="Noto Sans SC"/>
              </a:rPr>
              <a:t>GPO合作策略 (核心)</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413000"/>
            <a:ext cx="254000" cy="254000"/>
          </a:xfrm>
          <a:prstGeom prst="rect">
            <a:avLst/>
          </a:prstGeom>
        </p:spPr>
      </p:pic>
      <p:sp>
        <p:nvSpPr>
          <p:cNvPr id="6" name="AutoShape 6"/>
          <p:cNvSpPr/>
          <p:nvPr/>
        </p:nvSpPr>
        <p:spPr>
          <a:xfrm>
            <a:off x="1397000" y="2413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目标GPO：</a:t>
            </a:r>
            <a:r>
              <a:rPr lang="en-US" sz="1400" b="0" i="0" u="none" strike="noStrike">
                <a:solidFill>
                  <a:srgbClr val="374151"/>
                </a:solidFill>
                <a:latin typeface="Noto Sans SC"/>
                <a:ea typeface="Noto Sans SC"/>
                <a:cs typeface="Noto Sans SC"/>
                <a:sym typeface="Noto Sans SC"/>
              </a:rPr>
              <a:t>Navigator, MediGroup, Premier</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175000"/>
            <a:ext cx="254000" cy="254000"/>
          </a:xfrm>
          <a:prstGeom prst="rect">
            <a:avLst/>
          </a:prstGeom>
        </p:spPr>
      </p:pic>
      <p:sp>
        <p:nvSpPr>
          <p:cNvPr id="8" name="AutoShape 8"/>
          <p:cNvSpPr/>
          <p:nvPr/>
        </p:nvSpPr>
        <p:spPr>
          <a:xfrm>
            <a:off x="1397000" y="3175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合作要点：</a:t>
            </a:r>
            <a:r>
              <a:rPr lang="en-US" sz="1400" b="0" i="0" u="none" strike="noStrike">
                <a:solidFill>
                  <a:srgbClr val="374151"/>
                </a:solidFill>
                <a:latin typeface="Noto Sans SC"/>
                <a:ea typeface="Noto Sans SC"/>
                <a:cs typeface="Noto Sans SC"/>
                <a:sym typeface="Noto Sans SC"/>
              </a:rPr>
              <a:t>价格折扣、年度招标、库存支持</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937000"/>
            <a:ext cx="254000" cy="254000"/>
          </a:xfrm>
          <a:prstGeom prst="rect">
            <a:avLst/>
          </a:prstGeom>
        </p:spPr>
      </p:pic>
      <p:sp>
        <p:nvSpPr>
          <p:cNvPr id="10" name="AutoShape 10"/>
          <p:cNvSpPr/>
          <p:nvPr/>
        </p:nvSpPr>
        <p:spPr>
          <a:xfrm>
            <a:off x="1397000" y="3937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优势：</a:t>
            </a:r>
            <a:r>
              <a:rPr lang="en-US" sz="1400" b="0" i="0" u="none" strike="noStrike">
                <a:solidFill>
                  <a:srgbClr val="374151"/>
                </a:solidFill>
                <a:latin typeface="Noto Sans SC"/>
                <a:ea typeface="Noto Sans SC"/>
                <a:cs typeface="Noto Sans SC"/>
                <a:sym typeface="Noto Sans SC"/>
              </a:rPr>
              <a:t>覆盖范围广，快速进入大量机构</a:t>
            </a:r>
            <a:endParaRPr lang="en-US" sz="1100"/>
          </a:p>
        </p:txBody>
      </p:sp>
      <p:cxnSp>
        <p:nvCxnSpPr>
          <p:cNvPr id="11" name="Connector 11"/>
          <p:cNvCxnSpPr/>
          <p:nvPr/>
        </p:nvCxnSpPr>
        <p:spPr>
          <a:xfrm rot="5384010">
            <a:off x="3206750" y="3200415"/>
            <a:ext cx="2730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nvSpPr>
        <p:spPr>
          <a:xfrm>
            <a:off x="4826000" y="18415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A9C"/>
                </a:solidFill>
                <a:latin typeface="Noto Sans SC"/>
                <a:ea typeface="Noto Sans SC"/>
                <a:cs typeface="Noto Sans SC"/>
                <a:sym typeface="Noto Sans SC"/>
              </a:rPr>
              <a:t>分销商网络 (补充)</a:t>
            </a:r>
            <a:endParaRPr lang="en-US" sz="1100"/>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26000" y="2413000"/>
            <a:ext cx="254000" cy="254000"/>
          </a:xfrm>
          <a:prstGeom prst="rect">
            <a:avLst/>
          </a:prstGeom>
        </p:spPr>
      </p:pic>
      <p:sp>
        <p:nvSpPr>
          <p:cNvPr id="14" name="AutoShape 14"/>
          <p:cNvSpPr/>
          <p:nvPr/>
        </p:nvSpPr>
        <p:spPr>
          <a:xfrm>
            <a:off x="5207000" y="2413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全国性：</a:t>
            </a:r>
            <a:r>
              <a:rPr lang="en-US" sz="1400" b="0" i="0" u="none" strike="noStrike">
                <a:solidFill>
                  <a:srgbClr val="374151"/>
                </a:solidFill>
                <a:latin typeface="Noto Sans SC"/>
                <a:ea typeface="Noto Sans SC"/>
                <a:cs typeface="Noto Sans SC"/>
                <a:sym typeface="Noto Sans SC"/>
              </a:rPr>
              <a:t>McKesson, Cardinal Health</a:t>
            </a:r>
            <a:endParaRPr lang="en-US" sz="1100"/>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826000" y="3175000"/>
            <a:ext cx="254000" cy="254000"/>
          </a:xfrm>
          <a:prstGeom prst="rect">
            <a:avLst/>
          </a:prstGeom>
        </p:spPr>
      </p:pic>
      <p:sp>
        <p:nvSpPr>
          <p:cNvPr id="16" name="AutoShape 16"/>
          <p:cNvSpPr/>
          <p:nvPr/>
        </p:nvSpPr>
        <p:spPr>
          <a:xfrm>
            <a:off x="5207000" y="3175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区域性：</a:t>
            </a:r>
            <a:r>
              <a:rPr lang="en-US" sz="1400" b="0" i="0" u="none" strike="noStrike">
                <a:solidFill>
                  <a:srgbClr val="374151"/>
                </a:solidFill>
                <a:latin typeface="Noto Sans SC"/>
                <a:ea typeface="Noto Sans SC"/>
                <a:cs typeface="Noto Sans SC"/>
                <a:sym typeface="Noto Sans SC"/>
              </a:rPr>
              <a:t>HealthTrust, Owens &amp; Minor</a:t>
            </a:r>
            <a:endParaRPr lang="en-US" sz="1100"/>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26000" y="3937000"/>
            <a:ext cx="254000" cy="254000"/>
          </a:xfrm>
          <a:prstGeom prst="rect">
            <a:avLst/>
          </a:prstGeom>
        </p:spPr>
      </p:pic>
      <p:sp>
        <p:nvSpPr>
          <p:cNvPr id="18" name="AutoShape 18"/>
          <p:cNvSpPr/>
          <p:nvPr/>
        </p:nvSpPr>
        <p:spPr>
          <a:xfrm>
            <a:off x="5207000" y="3937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优势：</a:t>
            </a:r>
            <a:r>
              <a:rPr lang="en-US" sz="1400" b="0" i="0" u="none" strike="noStrike">
                <a:solidFill>
                  <a:srgbClr val="374151"/>
                </a:solidFill>
                <a:latin typeface="Noto Sans SC"/>
                <a:ea typeface="Noto Sans SC"/>
                <a:cs typeface="Noto Sans SC"/>
                <a:sym typeface="Noto Sans SC"/>
              </a:rPr>
              <a:t>配送完善，本地化服务能力强</a:t>
            </a:r>
            <a:endParaRPr lang="en-US" sz="1100"/>
          </a:p>
        </p:txBody>
      </p:sp>
      <p:cxnSp>
        <p:nvCxnSpPr>
          <p:cNvPr id="19" name="Connector 19"/>
          <p:cNvCxnSpPr/>
          <p:nvPr/>
        </p:nvCxnSpPr>
        <p:spPr>
          <a:xfrm rot="5384010">
            <a:off x="7016750" y="3200415"/>
            <a:ext cx="2730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0" name="AutoShape 20"/>
          <p:cNvSpPr/>
          <p:nvPr/>
        </p:nvSpPr>
        <p:spPr>
          <a:xfrm>
            <a:off x="8636000" y="18415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A9C"/>
                </a:solidFill>
                <a:latin typeface="Noto Sans SC"/>
                <a:ea typeface="Noto Sans SC"/>
                <a:cs typeface="Noto Sans SC"/>
                <a:sym typeface="Noto Sans SC"/>
              </a:rPr>
              <a:t>直销团队 (高价值)</a:t>
            </a:r>
            <a:endParaRPr lang="en-US" sz="1100"/>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36000" y="2413000"/>
            <a:ext cx="254000" cy="254000"/>
          </a:xfrm>
          <a:prstGeom prst="rect">
            <a:avLst/>
          </a:prstGeom>
        </p:spPr>
      </p:pic>
      <p:sp>
        <p:nvSpPr>
          <p:cNvPr id="22" name="AutoShape 22"/>
          <p:cNvSpPr/>
          <p:nvPr/>
        </p:nvSpPr>
        <p:spPr>
          <a:xfrm>
            <a:off x="9017000" y="2413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目标：</a:t>
            </a:r>
            <a:r>
              <a:rPr lang="en-US" sz="1400" b="0" i="0" u="none" strike="noStrike">
                <a:solidFill>
                  <a:srgbClr val="374151"/>
                </a:solidFill>
                <a:latin typeface="Noto Sans SC"/>
                <a:ea typeface="Noto Sans SC"/>
                <a:cs typeface="Noto Sans SC"/>
                <a:sym typeface="Noto Sans SC"/>
              </a:rPr>
              <a:t>大型养老院连锁机构</a:t>
            </a:r>
            <a:endParaRPr lang="en-US" sz="1100"/>
          </a:p>
        </p:txBody>
      </p:sp>
      <p:pic>
        <p:nvPicPr>
          <p:cNvPr id="23" name="Picture 2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6000" y="3175000"/>
            <a:ext cx="254000" cy="254000"/>
          </a:xfrm>
          <a:prstGeom prst="rect">
            <a:avLst/>
          </a:prstGeom>
        </p:spPr>
      </p:pic>
      <p:sp>
        <p:nvSpPr>
          <p:cNvPr id="24" name="AutoShape 24"/>
          <p:cNvSpPr/>
          <p:nvPr/>
        </p:nvSpPr>
        <p:spPr>
          <a:xfrm>
            <a:off x="9017000" y="3175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配置：</a:t>
            </a:r>
            <a:r>
              <a:rPr lang="en-US" sz="1400" b="0" i="0" u="none" strike="noStrike">
                <a:solidFill>
                  <a:srgbClr val="374151"/>
                </a:solidFill>
                <a:latin typeface="Noto Sans SC"/>
                <a:ea typeface="Noto Sans SC"/>
                <a:cs typeface="Noto Sans SC"/>
                <a:sym typeface="Noto Sans SC"/>
              </a:rPr>
              <a:t>销售经理 + 临床支持(RN)</a:t>
            </a:r>
            <a:endParaRPr lang="en-US" sz="1100"/>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6000" y="3937000"/>
            <a:ext cx="254000" cy="254000"/>
          </a:xfrm>
          <a:prstGeom prst="rect">
            <a:avLst/>
          </a:prstGeom>
        </p:spPr>
      </p:pic>
      <p:sp>
        <p:nvSpPr>
          <p:cNvPr id="26" name="AutoShape 26"/>
          <p:cNvSpPr/>
          <p:nvPr/>
        </p:nvSpPr>
        <p:spPr>
          <a:xfrm>
            <a:off x="9017000" y="3937000"/>
            <a:ext cx="2921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374151"/>
                </a:solidFill>
                <a:latin typeface="Noto Sans SC"/>
                <a:ea typeface="Noto Sans SC"/>
                <a:cs typeface="Noto Sans SC"/>
                <a:sym typeface="Noto Sans SC"/>
              </a:rPr>
              <a:t>优势：</a:t>
            </a:r>
            <a:r>
              <a:rPr lang="en-US" sz="1400" b="0" i="0" u="none" strike="noStrike">
                <a:solidFill>
                  <a:srgbClr val="374151"/>
                </a:solidFill>
                <a:latin typeface="Noto Sans SC"/>
                <a:ea typeface="Noto Sans SC"/>
                <a:cs typeface="Noto Sans SC"/>
                <a:sym typeface="Noto Sans SC"/>
              </a:rPr>
              <a:t>建立长期关系，提供深度支持</a:t>
            </a:r>
            <a:endParaRPr lang="en-US" sz="1100"/>
          </a:p>
        </p:txBody>
      </p:sp>
      <p:sp>
        <p:nvSpPr>
          <p:cNvPr id="27" name="AutoShape 27"/>
          <p:cNvSpPr/>
          <p:nvPr/>
        </p:nvSpPr>
        <p:spPr>
          <a:xfrm>
            <a:off x="1016000" y="4953000"/>
            <a:ext cx="10160000" cy="762000"/>
          </a:xfrm>
          <a:prstGeom prst="roundRect">
            <a:avLst>
              <a:gd name="adj" fmla="val 13333"/>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270000" y="5181600"/>
            <a:ext cx="304800" cy="304800"/>
          </a:xfrm>
          <a:prstGeom prst="rect">
            <a:avLst/>
          </a:prstGeom>
        </p:spPr>
      </p:pic>
      <p:sp>
        <p:nvSpPr>
          <p:cNvPr id="29" name="AutoShape 29"/>
          <p:cNvSpPr/>
          <p:nvPr/>
        </p:nvSpPr>
        <p:spPr>
          <a:xfrm>
            <a:off x="1778000" y="5181600"/>
            <a:ext cx="914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a:ea typeface="Noto Sans SC"/>
                <a:cs typeface="Noto Sans SC"/>
                <a:sym typeface="Noto Sans SC"/>
              </a:rPr>
              <a:t>综合运用三种渠道，形成优势互补，实现市场的快速渗透与长期稳定发展。</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A9C"/>
                </a:solidFill>
                <a:latin typeface="Noto Sans SC"/>
                <a:ea typeface="Noto Sans SC"/>
                <a:cs typeface="Noto Sans SC"/>
                <a:sym typeface="Noto Sans SC"/>
              </a:rPr>
              <a:t>总结</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304800" cy="304800"/>
          </a:xfrm>
          <a:prstGeom prst="rect">
            <a:avLst/>
          </a:prstGeom>
        </p:spPr>
      </p:pic>
      <p:sp>
        <p:nvSpPr>
          <p:cNvPr id="5" name="AutoShape 5"/>
          <p:cNvSpPr/>
          <p:nvPr/>
        </p:nvSpPr>
        <p:spPr>
          <a:xfrm>
            <a:off x="1574800" y="19177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市场需求巨大</a:t>
            </a:r>
            <a:endParaRPr lang="en-US" sz="1100"/>
          </a:p>
        </p:txBody>
      </p:sp>
      <p:sp>
        <p:nvSpPr>
          <p:cNvPr id="6" name="AutoShape 6"/>
          <p:cNvSpPr/>
          <p:nvPr/>
        </p:nvSpPr>
        <p:spPr>
          <a:xfrm>
            <a:off x="1574800" y="2324100"/>
            <a:ext cx="9525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美国养老院市场对医疗器械耗材的需求量巨大，尤其是注射器、PPE和伤口护理产品。</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086100"/>
            <a:ext cx="304800" cy="304800"/>
          </a:xfrm>
          <a:prstGeom prst="rect">
            <a:avLst/>
          </a:prstGeom>
        </p:spPr>
      </p:pic>
      <p:sp>
        <p:nvSpPr>
          <p:cNvPr id="8" name="AutoShape 8"/>
          <p:cNvSpPr/>
          <p:nvPr/>
        </p:nvSpPr>
        <p:spPr>
          <a:xfrm>
            <a:off x="1574800" y="30988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产品规格明确</a:t>
            </a:r>
            <a:endParaRPr lang="en-US" sz="1100"/>
          </a:p>
        </p:txBody>
      </p:sp>
      <p:sp>
        <p:nvSpPr>
          <p:cNvPr id="9" name="AutoShape 9"/>
          <p:cNvSpPr/>
          <p:nvPr/>
        </p:nvSpPr>
        <p:spPr>
          <a:xfrm>
            <a:off x="1574800" y="3505200"/>
            <a:ext cx="9525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各类产品都有明确的主流型号和规格，企业应重点关注这些产品。</a:t>
            </a:r>
            <a:endParaRPr lang="en-US" sz="110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267200"/>
            <a:ext cx="304800" cy="304800"/>
          </a:xfrm>
          <a:prstGeom prst="rect">
            <a:avLst/>
          </a:prstGeom>
        </p:spPr>
      </p:pic>
      <p:sp>
        <p:nvSpPr>
          <p:cNvPr id="11" name="AutoShape 11"/>
          <p:cNvSpPr/>
          <p:nvPr/>
        </p:nvSpPr>
        <p:spPr>
          <a:xfrm>
            <a:off x="1574800" y="42799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渠道策略多样</a:t>
            </a:r>
            <a:endParaRPr lang="en-US" sz="1100"/>
          </a:p>
        </p:txBody>
      </p:sp>
      <p:sp>
        <p:nvSpPr>
          <p:cNvPr id="12" name="AutoShape 12"/>
          <p:cNvSpPr/>
          <p:nvPr/>
        </p:nvSpPr>
        <p:spPr>
          <a:xfrm>
            <a:off x="1574800" y="4686300"/>
            <a:ext cx="9525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进入美国市场的渠道多样，企业应根据自身情况选择合适的渠道组合。</a:t>
            </a:r>
            <a:endParaRPr lang="en-US" sz="1100"/>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448300"/>
            <a:ext cx="304800" cy="304800"/>
          </a:xfrm>
          <a:prstGeom prst="rect">
            <a:avLst/>
          </a:prstGeom>
        </p:spPr>
      </p:pic>
      <p:sp>
        <p:nvSpPr>
          <p:cNvPr id="14" name="AutoShape 14"/>
          <p:cNvSpPr/>
          <p:nvPr/>
        </p:nvSpPr>
        <p:spPr>
          <a:xfrm>
            <a:off x="1574800" y="5461000"/>
            <a:ext cx="952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合规是前提</a:t>
            </a:r>
            <a:endParaRPr lang="en-US" sz="1100"/>
          </a:p>
        </p:txBody>
      </p:sp>
      <p:sp>
        <p:nvSpPr>
          <p:cNvPr id="15" name="AutoShape 15"/>
          <p:cNvSpPr/>
          <p:nvPr/>
        </p:nvSpPr>
        <p:spPr>
          <a:xfrm>
            <a:off x="1574800" y="5867400"/>
            <a:ext cx="9525000" cy="508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a:ea typeface="Noto Sans SC"/>
                <a:cs typeface="Noto Sans SC"/>
                <a:sym typeface="Noto Sans SC"/>
              </a:rPr>
              <a:t>企业必须确保产品符合FDA等相关标准，这是进入美国市场的前提。</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615</Words>
  <Application>Microsoft Office PowerPoint</Application>
  <PresentationFormat>宽屏</PresentationFormat>
  <Paragraphs>155</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10</vt:i4>
      </vt:variant>
    </vt:vector>
  </HeadingPairs>
  <TitlesOfParts>
    <vt:vector size="14"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Lu</cp:lastModifiedBy>
  <cp:revision>1</cp:revision>
  <dcterms:modified xsi:type="dcterms:W3CDTF">2026-01-19T02:29:51Z</dcterms:modified>
</cp:coreProperties>
</file>