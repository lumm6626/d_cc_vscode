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12"/>
  </p:notesMasterIdLst>
  <p:sldIdLst>
    <p:sldId id="256" r:id="rId3"/>
    <p:sldId id="257" r:id="rId4"/>
    <p:sldId id="258" r:id="rId5"/>
    <p:sldId id="259" r:id="rId6"/>
    <p:sldId id="260" r:id="rId7"/>
    <p:sldId id="261" r:id="rId8"/>
    <p:sldId id="262" r:id="rId9"/>
    <p:sldId id="263" r:id="rId10"/>
    <p:sldId id="264" r:id="rId1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408" y="5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presProps" Target="pres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Master" Target="slideMasters/slideMaster2.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theme" Target="theme/theme1.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Lu" userId="65677d25-64a9-4d0a-aaa0-eb9773526453" providerId="ADAL" clId="{0BF73FD7-F12C-41D7-A3E2-149EC2D734D6}"/>
    <pc:docChg chg="modSld">
      <pc:chgData name="Alex Lu" userId="65677d25-64a9-4d0a-aaa0-eb9773526453" providerId="ADAL" clId="{0BF73FD7-F12C-41D7-A3E2-149EC2D734D6}" dt="2026-01-23T02:23:06.345" v="35" actId="20577"/>
      <pc:docMkLst>
        <pc:docMk/>
      </pc:docMkLst>
      <pc:sldChg chg="modSp mod">
        <pc:chgData name="Alex Lu" userId="65677d25-64a9-4d0a-aaa0-eb9773526453" providerId="ADAL" clId="{0BF73FD7-F12C-41D7-A3E2-149EC2D734D6}" dt="2026-01-23T02:23:06.345" v="35" actId="20577"/>
        <pc:sldMkLst>
          <pc:docMk/>
          <pc:sldMk cId="0" sldId="258"/>
        </pc:sldMkLst>
        <pc:spChg chg="mod">
          <ac:chgData name="Alex Lu" userId="65677d25-64a9-4d0a-aaa0-eb9773526453" providerId="ADAL" clId="{0BF73FD7-F12C-41D7-A3E2-149EC2D734D6}" dt="2026-01-23T02:22:34.566" v="14" actId="20577"/>
          <ac:spMkLst>
            <pc:docMk/>
            <pc:sldMk cId="0" sldId="258"/>
            <ac:spMk id="6" creationId="{00000000-0000-0000-0000-000000000000}"/>
          </ac:spMkLst>
        </pc:spChg>
        <pc:spChg chg="mod">
          <ac:chgData name="Alex Lu" userId="65677d25-64a9-4d0a-aaa0-eb9773526453" providerId="ADAL" clId="{0BF73FD7-F12C-41D7-A3E2-149EC2D734D6}" dt="2026-01-23T02:23:06.345" v="35" actId="20577"/>
          <ac:spMkLst>
            <pc:docMk/>
            <pc:sldMk cId="0" sldId="258"/>
            <ac:spMk id="16"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23.01.2026</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欢迎参加本次关于澳大利亚长期护理市场的深度解析。今天，我们将全面剖析澳洲养老服务的两大核心模式——养老院和居家护理（SAH计划），深入探讨其服务流程、政府定价机制以及复杂的费用结算与报销体系。本报告旨在为我们进入澳洲市场的战略决策提供清晰、全面的数据支持和行动指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报告将分为六个部分。首先，我们会对澳洲养老市场的整体格局进行概述。接着，将详细拆解养老院和居家护理两种模式的服务流程。第三部分，我们将聚焦于政府如何为服务定价。第四部分，也是本次报告的核心，我们将深入解析费用的结算与报销流程。之后，我们会通过三个不同收入水平的真实案例，直观展示费用差异。最后，基于以上分析，提炼出关键的商业洞察。</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290763" y="512763"/>
            <a:ext cx="4562475"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澳洲的养老服务体系主要由两大支柱构成：养老院和居家护理。养老院模式提供全天候的专业护理和住宿，是高需求老人的终极选择。而2025年推出的SAH居家护理计划，则旨在让更多老人能在自己家中安享晚年，通过灵活、个性化的服务，维持其独立性和生活质量。两者互为补充，共同构成了覆盖不同需求层级的完整服务网络。</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虽然最终目的都是为老人提供护理，但养老院和居家护理的服务流程差异显著。养老院的流程更侧重于“入院”，包括严格的财务评估和长期的入住协议。而SAH居家护理的流程则更灵活，核心在于“服务定制”和“按需提供”，老人可以自由选择服务商，并根据自身情况调整服务内容。这个流程上的差异，也直接影响了后续的定价和结算方式。</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澳洲养老服务的定价是一个“政府主导、市场调节”的混合机制。所有临床服务，如打针、换药，都由独立机构IHACPA制定统一的政府指导价，服务商没有议价权。而对于非临床服务，如个人护理和家务，政府设定了一个价格上限，服务商可以在这个范围内，根据自己的运营成本和服务质量进行定价。这为服务商提供了一定的灵活性，但同时也受到严格的监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费用的结算流程可以简化为四个关键步骤。首先，服务商提供服务并做好记录。其次，系统会根据既定的价格和老人的个人情况，自动计算出政府该付多少钱，个人该付多少钱。然后，老人支付自己的那部分。最后，服务商向政府提交申请，报销政府补贴的部分。这个流程高度依赖于My Aged Care这个数字化平台，确保了整个过程的透明、高效和可追溯。</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接下来，我们通过三个典型案例来看一看不同收入水平的老人在两种模式下的实际费用差异。无论是低收入、中等收入还是高收入的老人，SAH居家护理的月度自付费用都远低于养老院。对于低收入的老人A来说，SAH是唯一的选择；对于中等收入的老人B，SAH极大地减轻了财务压力；而对于高收入的老人C，SAH不仅更经济，还能让他享受更高品质的个性化服务。</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基于以上分析，我们可以看到澳洲长期护理市场充满机遇，但也伴随着挑战。机遇在于，政府正推动养老服务从机构向居家转型，这是一个高速增长的巨大市场。居家护理模式本身也具有成本和灵活性上的优势。然而，挑战同样不容忽视，包括严格的资质认证、激烈的市场竞争、持续的人力短缺以及对数字化技术的要求。成功的关键在于，我们能否在合规的前提下，提供高质量、差异化的服务，并实现高效的运营管理。</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我的报告到此结束，感谢大家的聆听。现在是问答环节，欢迎大家提问。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a: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标题幻灯片" type="title">
  <p:cSld name="TITLE">
    <p:spTree>
      <p:nvGrpSpPr>
        <p:cNvPr id="1" name="Shape 11"/>
        <p:cNvGrpSpPr/>
        <p:nvPr/>
      </p:nvGrpSpPr>
      <p:grpSpPr>
        <a:xfrm>
          <a:off x="0" y="0"/>
          <a:ext cx="0" cy="0"/>
          <a:chOff x="0" y="0"/>
          <a:chExt cx="0" cy="0"/>
        </a:xfrm>
      </p:grpSpPr>
      <p:sp>
        <p:nvSpPr>
          <p:cNvPr id="12" name="Shape 30"/>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3" name="Shape 31"/>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4" name="Shape 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5" name="Shape 3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16" name="Shape 3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标题和内容" type="obj">
  <p:cSld name="OBJECT">
    <p:spTree>
      <p:nvGrpSpPr>
        <p:cNvPr id="1" name="Shape 17"/>
        <p:cNvGrpSpPr/>
        <p:nvPr/>
      </p:nvGrpSpPr>
      <p:grpSpPr>
        <a:xfrm>
          <a:off x="0" y="0"/>
          <a:ext cx="0" cy="0"/>
          <a:chOff x="0" y="0"/>
          <a:chExt cx="0" cy="0"/>
        </a:xfrm>
      </p:grpSpPr>
      <p:sp>
        <p:nvSpPr>
          <p:cNvPr id="18" name="Shape 5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19" name="Shape 55"/>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20" name="Shape 5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1" name="Shape 5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2" name="Shape 5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节标题" type="secHead">
  <p:cSld name="SECTION_HEADER">
    <p:spTree>
      <p:nvGrpSpPr>
        <p:cNvPr id="1" name="Shape 23"/>
        <p:cNvGrpSpPr/>
        <p:nvPr/>
      </p:nvGrpSpPr>
      <p:grpSpPr>
        <a:xfrm>
          <a:off x="0" y="0"/>
          <a:ext cx="0" cy="0"/>
          <a:chOff x="0" y="0"/>
          <a:chExt cx="0" cy="0"/>
        </a:xfrm>
      </p:grpSpPr>
      <p:sp>
        <p:nvSpPr>
          <p:cNvPr id="24" name="Shape 59"/>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25" name="Shape 60"/>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26" name="Shape 6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7" name="Shape 6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28" name="Shape 6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两栏内容" type="twoObj">
  <p:cSld name="TWO_OBJECTS">
    <p:spTree>
      <p:nvGrpSpPr>
        <p:cNvPr id="1" name="Shape 29"/>
        <p:cNvGrpSpPr/>
        <p:nvPr/>
      </p:nvGrpSpPr>
      <p:grpSpPr>
        <a:xfrm>
          <a:off x="0" y="0"/>
          <a:ext cx="0" cy="0"/>
          <a:chOff x="0" y="0"/>
          <a:chExt cx="0" cy="0"/>
        </a:xfrm>
      </p:grpSpPr>
      <p:sp>
        <p:nvSpPr>
          <p:cNvPr id="30" name="Shape 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1" name="Shape 10"/>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Shape 11"/>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3" name="Shape 1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4" name="Shape 13"/>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35" name="Shape 1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比较" type="twoTxTwoObj">
  <p:cSld name="TWO_OBJECTS_WITH_TEXT">
    <p:spTree>
      <p:nvGrpSpPr>
        <p:cNvPr id="1" name="Shape 36"/>
        <p:cNvGrpSpPr/>
        <p:nvPr/>
      </p:nvGrpSpPr>
      <p:grpSpPr>
        <a:xfrm>
          <a:off x="0" y="0"/>
          <a:ext cx="0" cy="0"/>
          <a:chOff x="0" y="0"/>
          <a:chExt cx="0" cy="0"/>
        </a:xfrm>
      </p:grpSpPr>
      <p:sp>
        <p:nvSpPr>
          <p:cNvPr id="37" name="Shape 3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38" name="Shape 36"/>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39" name="Shape 37"/>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0" name="Shape 38"/>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41" name="Shape 39"/>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2" name="Shape 4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3" name="Shape 4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4" name="Shape 4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仅标题" type="titleOnly">
  <p:cSld name="TITLE_ONLY">
    <p:spTree>
      <p:nvGrpSpPr>
        <p:cNvPr id="1" name="Shape 45"/>
        <p:cNvGrpSpPr/>
        <p:nvPr/>
      </p:nvGrpSpPr>
      <p:grpSpPr>
        <a:xfrm>
          <a:off x="0" y="0"/>
          <a:ext cx="0" cy="0"/>
          <a:chOff x="0" y="0"/>
          <a:chExt cx="0" cy="0"/>
        </a:xfrm>
      </p:grpSpPr>
      <p:sp>
        <p:nvSpPr>
          <p:cNvPr id="46" name="Shape 20"/>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47" name="Shape 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8" name="Shape 2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49" name="Shape 2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空白" type="blank">
  <p:cSld name="BLANK">
    <p:spTree>
      <p:nvGrpSpPr>
        <p:cNvPr id="1" name="Shape 50"/>
        <p:cNvGrpSpPr/>
        <p:nvPr/>
      </p:nvGrpSpPr>
      <p:grpSpPr>
        <a:xfrm>
          <a:off x="0" y="0"/>
          <a:ext cx="0" cy="0"/>
          <a:chOff x="0" y="0"/>
          <a:chExt cx="0" cy="0"/>
        </a:xfrm>
      </p:grpSpPr>
      <p:sp>
        <p:nvSpPr>
          <p:cNvPr id="51" name="Shape 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2" name="Shape 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3" name="Shape 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内容与标题" type="objTx">
  <p:cSld name="OBJECT_WITH_CAPTION_TEXT">
    <p:spTree>
      <p:nvGrpSpPr>
        <p:cNvPr id="1" name="Shape 54"/>
        <p:cNvGrpSpPr/>
        <p:nvPr/>
      </p:nvGrpSpPr>
      <p:grpSpPr>
        <a:xfrm>
          <a:off x="0" y="0"/>
          <a:ext cx="0" cy="0"/>
          <a:chOff x="0" y="0"/>
          <a:chExt cx="0" cy="0"/>
        </a:xfrm>
      </p:grpSpPr>
      <p:sp>
        <p:nvSpPr>
          <p:cNvPr id="55" name="Shape 43"/>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56" name="Shape 44"/>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57" name="Shape 45"/>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58" name="Shape 4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59" name="Shape 4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0" name="Shape 4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图片与标题" type="picTx">
  <p:cSld name="PICTURE_WITH_CAPTION_TEXT">
    <p:spTree>
      <p:nvGrpSpPr>
        <p:cNvPr id="1" name="Shape 61"/>
        <p:cNvGrpSpPr/>
        <p:nvPr/>
      </p:nvGrpSpPr>
      <p:grpSpPr>
        <a:xfrm>
          <a:off x="0" y="0"/>
          <a:ext cx="0" cy="0"/>
          <a:chOff x="0" y="0"/>
          <a:chExt cx="0" cy="0"/>
        </a:xfrm>
      </p:grpSpPr>
      <p:sp>
        <p:nvSpPr>
          <p:cNvPr id="62" name="Shape 24"/>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63" name="Shape 25"/>
          <p:cNvSpPr>
            <a:spLocks noGrp="1"/>
          </p:cNvSpPr>
          <p:nvPr>
            <p:ph type="pic" idx="2"/>
          </p:nvPr>
        </p:nvSpPr>
        <p:spPr>
          <a:xfrm>
            <a:off x="3887391" y="740569"/>
            <a:ext cx="4629150" cy="3655219"/>
          </a:xfrm>
          <a:prstGeom prst="rect">
            <a:avLst/>
          </a:prstGeom>
          <a:noFill/>
          <a:ln>
            <a:noFill/>
          </a:ln>
        </p:spPr>
      </p:sp>
      <p:sp>
        <p:nvSpPr>
          <p:cNvPr id="64" name="Shape 26"/>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5" name="Shape 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6" name="Shape 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67" name="Shape 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标题和竖排文字" type="vertTx">
  <p:cSld name="VERTICAL_TEXT">
    <p:spTree>
      <p:nvGrpSpPr>
        <p:cNvPr id="1" name="Shape 68"/>
        <p:cNvGrpSpPr/>
        <p:nvPr/>
      </p:nvGrpSpPr>
      <p:grpSpPr>
        <a:xfrm>
          <a:off x="0" y="0"/>
          <a:ext cx="0" cy="0"/>
          <a:chOff x="0" y="0"/>
          <a:chExt cx="0" cy="0"/>
        </a:xfrm>
      </p:grpSpPr>
      <p:sp>
        <p:nvSpPr>
          <p:cNvPr id="69" name="Shape 4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0" name="Shape 50"/>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1" name="Shape 5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2" name="Shape 5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3" name="Shape 53"/>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竖排标题与文本" type="vertTitleAndTx">
  <p:cSld name="VERTICAL_TITLE_AND_VERTICAL_TEXT">
    <p:spTree>
      <p:nvGrpSpPr>
        <p:cNvPr id="1" name="Shape 74"/>
        <p:cNvGrpSpPr/>
        <p:nvPr/>
      </p:nvGrpSpPr>
      <p:grpSpPr>
        <a:xfrm>
          <a:off x="0" y="0"/>
          <a:ext cx="0" cy="0"/>
          <a:chOff x="0" y="0"/>
          <a:chExt cx="0" cy="0"/>
        </a:xfrm>
      </p:grpSpPr>
      <p:sp>
        <p:nvSpPr>
          <p:cNvPr id="75" name="Shape 15"/>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a:endParaRPr/>
          </a:p>
        </p:txBody>
      </p:sp>
      <p:sp>
        <p:nvSpPr>
          <p:cNvPr id="76" name="Shape 16"/>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7" name="Shape 1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8" name="Shape 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a:endParaRPr/>
          </a:p>
        </p:txBody>
      </p:sp>
      <p:sp>
        <p:nvSpPr>
          <p:cNvPr id="79" name="Shape 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Shape 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a:endParaRPr/>
          </a:p>
        </p:txBody>
      </p:sp>
      <p:sp>
        <p:nvSpPr>
          <p:cNvPr id="7" name="Shape 2"/>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Shape 3"/>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9" name="Shape 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a:ea typeface="Arial"/>
                <a:cs typeface="Arial"/>
                <a:sym typeface="Arial"/>
              </a:defRPr>
            </a:lvl1pPr>
            <a:lvl2pPr marR="0" lvl="1" algn="l" rtl="0">
              <a:spcBef>
                <a:spcPts val="0"/>
              </a:spcBef>
              <a:spcAft>
                <a:spcPts val="0"/>
              </a:spcAft>
              <a:buSzPts val="1100"/>
              <a:buNone/>
              <a:defRPr sz="1400" b="0" i="0" u="none" strike="noStrike" cap="none">
                <a:solidFill>
                  <a:schemeClr val="dk1"/>
                </a:solidFill>
                <a:latin typeface="Arial"/>
                <a:ea typeface="Arial"/>
                <a:cs typeface="Arial"/>
                <a:sym typeface="Arial"/>
              </a:defRPr>
            </a:lvl2pPr>
            <a:lvl3pPr marR="0" lvl="2" algn="l" rtl="0">
              <a:spcBef>
                <a:spcPts val="0"/>
              </a:spcBef>
              <a:spcAft>
                <a:spcPts val="0"/>
              </a:spcAft>
              <a:buSzPts val="1100"/>
              <a:buNone/>
              <a:defRPr sz="1400" b="0" i="0" u="none" strike="noStrike" cap="none">
                <a:solidFill>
                  <a:schemeClr val="dk1"/>
                </a:solidFill>
                <a:latin typeface="Arial"/>
                <a:ea typeface="Arial"/>
                <a:cs typeface="Arial"/>
                <a:sym typeface="Arial"/>
              </a:defRPr>
            </a:lvl3pPr>
            <a:lvl4pPr marR="0" lvl="3" algn="l" rtl="0">
              <a:spcBef>
                <a:spcPts val="0"/>
              </a:spcBef>
              <a:spcAft>
                <a:spcPts val="0"/>
              </a:spcAft>
              <a:buSzPts val="1100"/>
              <a:buNone/>
              <a:defRPr sz="1400" b="0" i="0" u="none" strike="noStrike" cap="none">
                <a:solidFill>
                  <a:schemeClr val="dk1"/>
                </a:solidFill>
                <a:latin typeface="Arial"/>
                <a:ea typeface="Arial"/>
                <a:cs typeface="Arial"/>
                <a:sym typeface="Arial"/>
              </a:defRPr>
            </a:lvl4pPr>
            <a:lvl5pPr marR="0" lvl="4" algn="l" rtl="0">
              <a:spcBef>
                <a:spcPts val="0"/>
              </a:spcBef>
              <a:spcAft>
                <a:spcPts val="0"/>
              </a:spcAft>
              <a:buSzPts val="1100"/>
              <a:buNone/>
              <a:defRPr sz="1400" b="0" i="0" u="none" strike="noStrike" cap="none">
                <a:solidFill>
                  <a:schemeClr val="dk1"/>
                </a:solidFill>
                <a:latin typeface="Arial"/>
                <a:ea typeface="Arial"/>
                <a:cs typeface="Arial"/>
                <a:sym typeface="Arial"/>
              </a:defRPr>
            </a:lvl5pPr>
            <a:lvl6pPr marR="0" lvl="5" algn="l" rtl="0">
              <a:spcBef>
                <a:spcPts val="0"/>
              </a:spcBef>
              <a:spcAft>
                <a:spcPts val="0"/>
              </a:spcAft>
              <a:buSzPts val="1100"/>
              <a:buNone/>
              <a:defRPr sz="1400" b="0" i="0" u="none" strike="noStrike" cap="none">
                <a:solidFill>
                  <a:schemeClr val="dk1"/>
                </a:solidFill>
                <a:latin typeface="Arial"/>
                <a:ea typeface="Arial"/>
                <a:cs typeface="Arial"/>
                <a:sym typeface="Arial"/>
              </a:defRPr>
            </a:lvl6pPr>
            <a:lvl7pPr marR="0" lvl="6" algn="l" rtl="0">
              <a:spcBef>
                <a:spcPts val="0"/>
              </a:spcBef>
              <a:spcAft>
                <a:spcPts val="0"/>
              </a:spcAft>
              <a:buSzPts val="1100"/>
              <a:buNone/>
              <a:defRPr sz="1400" b="0" i="0" u="none" strike="noStrike" cap="none">
                <a:solidFill>
                  <a:schemeClr val="dk1"/>
                </a:solidFill>
                <a:latin typeface="Arial"/>
                <a:ea typeface="Arial"/>
                <a:cs typeface="Arial"/>
                <a:sym typeface="Arial"/>
              </a:defRPr>
            </a:lvl7pPr>
            <a:lvl8pPr marR="0" lvl="7" algn="l" rtl="0">
              <a:spcBef>
                <a:spcPts val="0"/>
              </a:spcBef>
              <a:spcAft>
                <a:spcPts val="0"/>
              </a:spcAft>
              <a:buSzPts val="1100"/>
              <a:buNone/>
              <a:defRPr sz="1400" b="0" i="0" u="none" strike="noStrike" cap="none">
                <a:solidFill>
                  <a:schemeClr val="dk1"/>
                </a:solidFill>
                <a:latin typeface="Arial"/>
                <a:ea typeface="Arial"/>
                <a:cs typeface="Arial"/>
                <a:sym typeface="Arial"/>
              </a:defRPr>
            </a:lvl8pPr>
            <a:lvl9pPr marR="0" lvl="8" algn="l" rtl="0">
              <a:spcBef>
                <a:spcPts val="0"/>
              </a:spcBef>
              <a:spcAft>
                <a:spcPts val="0"/>
              </a:spcAft>
              <a:buSzPts val="1100"/>
              <a:buNone/>
              <a:defRPr sz="1400" b="0" i="0" u="none" strike="noStrike" cap="none">
                <a:solidFill>
                  <a:schemeClr val="dk1"/>
                </a:solidFill>
                <a:latin typeface="Arial"/>
                <a:ea typeface="Arial"/>
                <a:cs typeface="Arial"/>
                <a:sym typeface="Arial"/>
              </a:defRPr>
            </a:lvl9pPr>
          </a:lstStyle>
          <a:p>
            <a:endParaRPr/>
          </a:p>
        </p:txBody>
      </p:sp>
      <p:sp>
        <p:nvSpPr>
          <p:cNvPr id="10" name="Shape 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a:ea typeface="Arial"/>
                <a:cs typeface="Arial"/>
                <a:sym typeface="Arial"/>
              </a:defRPr>
            </a:lvl1pPr>
            <a:lvl2pPr marL="0" marR="0" lvl="1" indent="0" algn="r" rtl="0">
              <a:spcBef>
                <a:spcPts val="0"/>
              </a:spcBef>
              <a:buNone/>
              <a:defRPr sz="900" b="0" i="0" u="none" strike="noStrike" cap="none">
                <a:solidFill>
                  <a:srgbClr val="888888"/>
                </a:solidFill>
                <a:latin typeface="Arial"/>
                <a:ea typeface="Arial"/>
                <a:cs typeface="Arial"/>
                <a:sym typeface="Arial"/>
              </a:defRPr>
            </a:lvl2pPr>
            <a:lvl3pPr marL="0" marR="0" lvl="2" indent="0" algn="r" rtl="0">
              <a:spcBef>
                <a:spcPts val="0"/>
              </a:spcBef>
              <a:buNone/>
              <a:defRPr sz="900" b="0" i="0" u="none" strike="noStrike" cap="none">
                <a:solidFill>
                  <a:srgbClr val="888888"/>
                </a:solidFill>
                <a:latin typeface="Arial"/>
                <a:ea typeface="Arial"/>
                <a:cs typeface="Arial"/>
                <a:sym typeface="Arial"/>
              </a:defRPr>
            </a:lvl3pPr>
            <a:lvl4pPr marL="0" marR="0" lvl="3" indent="0" algn="r" rtl="0">
              <a:spcBef>
                <a:spcPts val="0"/>
              </a:spcBef>
              <a:buNone/>
              <a:defRPr sz="900" b="0" i="0" u="none" strike="noStrike" cap="none">
                <a:solidFill>
                  <a:srgbClr val="888888"/>
                </a:solidFill>
                <a:latin typeface="Arial"/>
                <a:ea typeface="Arial"/>
                <a:cs typeface="Arial"/>
                <a:sym typeface="Arial"/>
              </a:defRPr>
            </a:lvl4pPr>
            <a:lvl5pPr marL="0" marR="0" lvl="4" indent="0" algn="r" rtl="0">
              <a:spcBef>
                <a:spcPts val="0"/>
              </a:spcBef>
              <a:buNone/>
              <a:defRPr sz="900" b="0" i="0" u="none" strike="noStrike" cap="none">
                <a:solidFill>
                  <a:srgbClr val="888888"/>
                </a:solidFill>
                <a:latin typeface="Arial"/>
                <a:ea typeface="Arial"/>
                <a:cs typeface="Arial"/>
                <a:sym typeface="Arial"/>
              </a:defRPr>
            </a:lvl5pPr>
            <a:lvl6pPr marL="0" marR="0" lvl="5" indent="0" algn="r" rtl="0">
              <a:spcBef>
                <a:spcPts val="0"/>
              </a:spcBef>
              <a:buNone/>
              <a:defRPr sz="900" b="0" i="0" u="none" strike="noStrike" cap="none">
                <a:solidFill>
                  <a:srgbClr val="888888"/>
                </a:solidFill>
                <a:latin typeface="Arial"/>
                <a:ea typeface="Arial"/>
                <a:cs typeface="Arial"/>
                <a:sym typeface="Arial"/>
              </a:defRPr>
            </a:lvl6pPr>
            <a:lvl7pPr marL="0" marR="0" lvl="6" indent="0" algn="r" rtl="0">
              <a:spcBef>
                <a:spcPts val="0"/>
              </a:spcBef>
              <a:buNone/>
              <a:defRPr sz="900" b="0" i="0" u="none" strike="noStrike" cap="none">
                <a:solidFill>
                  <a:srgbClr val="888888"/>
                </a:solidFill>
                <a:latin typeface="Arial"/>
                <a:ea typeface="Arial"/>
                <a:cs typeface="Arial"/>
                <a:sym typeface="Arial"/>
              </a:defRPr>
            </a:lvl7pPr>
            <a:lvl8pPr marL="0" marR="0" lvl="7" indent="0" algn="r" rtl="0">
              <a:spcBef>
                <a:spcPts val="0"/>
              </a:spcBef>
              <a:buNone/>
              <a:defRPr sz="900" b="0" i="0" u="none" strike="noStrike" cap="none">
                <a:solidFill>
                  <a:srgbClr val="888888"/>
                </a:solidFill>
                <a:latin typeface="Arial"/>
                <a:ea typeface="Arial"/>
                <a:cs typeface="Arial"/>
                <a:sym typeface="Arial"/>
              </a:defRPr>
            </a:lvl8pPr>
            <a:lvl9pPr marL="0" marR="0" lvl="8" indent="0" algn="r" rtl="0">
              <a:spcBef>
                <a:spcPts val="0"/>
              </a:spcBef>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zh-C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默认主题">
    <p:bg>
      <p:bgPr>
        <a:solidFill>
          <a:srgbClr val="FFFFFF">
            <a:alpha val="100000"/>
          </a:srgbClr>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57483699"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image" Target="../media/image6.svg"/><Relationship Id="rId11" Type="http://schemas.openxmlformats.org/officeDocument/2006/relationships/image" Target="../media/image13.png"/><Relationship Id="rId5" Type="http://schemas.openxmlformats.org/officeDocument/2006/relationships/image" Target="../media/image5.png"/><Relationship Id="rId10" Type="http://schemas.openxmlformats.org/officeDocument/2006/relationships/image" Target="../media/image12.svg"/><Relationship Id="rId4" Type="http://schemas.openxmlformats.org/officeDocument/2006/relationships/image" Target="../media/image8.svg"/><Relationship Id="rId9" Type="http://schemas.openxmlformats.org/officeDocument/2006/relationships/image" Target="../media/image11.png"/><Relationship Id="rId14" Type="http://schemas.openxmlformats.org/officeDocument/2006/relationships/image" Target="../media/image16.svg"/></Relationships>
</file>

<file path=ppt/slides/_rels/slide3.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12" Type="http://schemas.openxmlformats.org/officeDocument/2006/relationships/image" Target="../media/image26.svg"/><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image" Target="../media/image20.svg"/><Relationship Id="rId11" Type="http://schemas.openxmlformats.org/officeDocument/2006/relationships/image" Target="../media/image25.png"/><Relationship Id="rId5" Type="http://schemas.openxmlformats.org/officeDocument/2006/relationships/image" Target="../media/image19.png"/><Relationship Id="rId10" Type="http://schemas.openxmlformats.org/officeDocument/2006/relationships/image" Target="../media/image24.svg"/><Relationship Id="rId4" Type="http://schemas.openxmlformats.org/officeDocument/2006/relationships/image" Target="../media/image18.svg"/><Relationship Id="rId9" Type="http://schemas.openxmlformats.org/officeDocument/2006/relationships/image" Target="../media/image23.png"/></Relationships>
</file>

<file path=ppt/slides/_rels/slide4.xml.rels><?xml version="1.0" encoding="UTF-8" standalone="yes"?>
<Relationships xmlns="http://schemas.openxmlformats.org/package/2006/relationships"><Relationship Id="rId8" Type="http://schemas.openxmlformats.org/officeDocument/2006/relationships/image" Target="../media/image32.png"/><Relationship Id="rId13" Type="http://schemas.openxmlformats.org/officeDocument/2006/relationships/image" Target="../media/image37.svg"/><Relationship Id="rId18" Type="http://schemas.openxmlformats.org/officeDocument/2006/relationships/image" Target="../media/image42.png"/><Relationship Id="rId3" Type="http://schemas.openxmlformats.org/officeDocument/2006/relationships/image" Target="../media/image27.jpeg"/><Relationship Id="rId21" Type="http://schemas.openxmlformats.org/officeDocument/2006/relationships/image" Target="../media/image45.svg"/><Relationship Id="rId7" Type="http://schemas.openxmlformats.org/officeDocument/2006/relationships/image" Target="../media/image31.svg"/><Relationship Id="rId12" Type="http://schemas.openxmlformats.org/officeDocument/2006/relationships/image" Target="../media/image36.png"/><Relationship Id="rId17" Type="http://schemas.openxmlformats.org/officeDocument/2006/relationships/image" Target="../media/image41.svg"/><Relationship Id="rId2" Type="http://schemas.openxmlformats.org/officeDocument/2006/relationships/notesSlide" Target="../notesSlides/notesSlide4.xml"/><Relationship Id="rId16" Type="http://schemas.openxmlformats.org/officeDocument/2006/relationships/image" Target="../media/image40.png"/><Relationship Id="rId20" Type="http://schemas.openxmlformats.org/officeDocument/2006/relationships/image" Target="../media/image44.png"/><Relationship Id="rId1" Type="http://schemas.openxmlformats.org/officeDocument/2006/relationships/slideLayout" Target="../slideLayouts/slideLayout12.xml"/><Relationship Id="rId6" Type="http://schemas.openxmlformats.org/officeDocument/2006/relationships/image" Target="../media/image30.png"/><Relationship Id="rId11" Type="http://schemas.openxmlformats.org/officeDocument/2006/relationships/image" Target="../media/image35.svg"/><Relationship Id="rId5" Type="http://schemas.openxmlformats.org/officeDocument/2006/relationships/image" Target="../media/image29.svg"/><Relationship Id="rId15" Type="http://schemas.openxmlformats.org/officeDocument/2006/relationships/image" Target="../media/image39.svg"/><Relationship Id="rId23" Type="http://schemas.openxmlformats.org/officeDocument/2006/relationships/image" Target="../media/image47.svg"/><Relationship Id="rId10" Type="http://schemas.openxmlformats.org/officeDocument/2006/relationships/image" Target="../media/image34.png"/><Relationship Id="rId19" Type="http://schemas.openxmlformats.org/officeDocument/2006/relationships/image" Target="../media/image43.svg"/><Relationship Id="rId4" Type="http://schemas.openxmlformats.org/officeDocument/2006/relationships/image" Target="../media/image28.png"/><Relationship Id="rId9" Type="http://schemas.openxmlformats.org/officeDocument/2006/relationships/image" Target="../media/image33.svg"/><Relationship Id="rId14" Type="http://schemas.openxmlformats.org/officeDocument/2006/relationships/image" Target="../media/image38.png"/><Relationship Id="rId22" Type="http://schemas.openxmlformats.org/officeDocument/2006/relationships/image" Target="../media/image46.png"/></Relationships>
</file>

<file path=ppt/slides/_rels/slide5.xml.rels><?xml version="1.0" encoding="UTF-8" standalone="yes"?>
<Relationships xmlns="http://schemas.openxmlformats.org/package/2006/relationships"><Relationship Id="rId8" Type="http://schemas.openxmlformats.org/officeDocument/2006/relationships/image" Target="../media/image49.png"/><Relationship Id="rId13" Type="http://schemas.openxmlformats.org/officeDocument/2006/relationships/image" Target="../media/image22.svg"/><Relationship Id="rId3" Type="http://schemas.openxmlformats.org/officeDocument/2006/relationships/image" Target="../media/image48.jpeg"/><Relationship Id="rId7" Type="http://schemas.openxmlformats.org/officeDocument/2006/relationships/image" Target="../media/image16.svg"/><Relationship Id="rId12" Type="http://schemas.openxmlformats.org/officeDocument/2006/relationships/image" Target="../media/image21.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52.svg"/><Relationship Id="rId5" Type="http://schemas.openxmlformats.org/officeDocument/2006/relationships/image" Target="../media/image14.svg"/><Relationship Id="rId15" Type="http://schemas.openxmlformats.org/officeDocument/2006/relationships/image" Target="../media/image54.svg"/><Relationship Id="rId10" Type="http://schemas.openxmlformats.org/officeDocument/2006/relationships/image" Target="../media/image51.png"/><Relationship Id="rId4" Type="http://schemas.openxmlformats.org/officeDocument/2006/relationships/image" Target="../media/image13.png"/><Relationship Id="rId9" Type="http://schemas.openxmlformats.org/officeDocument/2006/relationships/image" Target="../media/image50.svg"/><Relationship Id="rId14" Type="http://schemas.openxmlformats.org/officeDocument/2006/relationships/image" Target="../media/image53.png"/></Relationships>
</file>

<file path=ppt/slides/_rels/slide6.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jpeg"/><Relationship Id="rId7" Type="http://schemas.openxmlformats.org/officeDocument/2006/relationships/image" Target="../media/image59.svg"/><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image" Target="../media/image58.png"/><Relationship Id="rId11" Type="http://schemas.openxmlformats.org/officeDocument/2006/relationships/image" Target="../media/image63.svg"/><Relationship Id="rId5" Type="http://schemas.openxmlformats.org/officeDocument/2006/relationships/image" Target="../media/image57.sv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svg"/></Relationships>
</file>

<file path=ppt/slides/_rels/slide7.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65.svg"/></Relationships>
</file>

<file path=ppt/slides/_rels/slide8.xml.rels><?xml version="1.0" encoding="UTF-8" standalone="yes"?>
<Relationships xmlns="http://schemas.openxmlformats.org/package/2006/relationships"><Relationship Id="rId8" Type="http://schemas.openxmlformats.org/officeDocument/2006/relationships/image" Target="../media/image67.png"/><Relationship Id="rId13" Type="http://schemas.openxmlformats.org/officeDocument/2006/relationships/image" Target="../media/image72.svg"/><Relationship Id="rId18" Type="http://schemas.openxmlformats.org/officeDocument/2006/relationships/image" Target="../media/image75.png"/><Relationship Id="rId3" Type="http://schemas.openxmlformats.org/officeDocument/2006/relationships/image" Target="../media/image66.jpeg"/><Relationship Id="rId7" Type="http://schemas.openxmlformats.org/officeDocument/2006/relationships/image" Target="../media/image35.svg"/><Relationship Id="rId12" Type="http://schemas.openxmlformats.org/officeDocument/2006/relationships/image" Target="../media/image71.png"/><Relationship Id="rId17" Type="http://schemas.openxmlformats.org/officeDocument/2006/relationships/image" Target="../media/image74.svg"/><Relationship Id="rId2" Type="http://schemas.openxmlformats.org/officeDocument/2006/relationships/notesSlide" Target="../notesSlides/notesSlide8.xml"/><Relationship Id="rId16" Type="http://schemas.openxmlformats.org/officeDocument/2006/relationships/image" Target="../media/image73.png"/><Relationship Id="rId1" Type="http://schemas.openxmlformats.org/officeDocument/2006/relationships/slideLayout" Target="../slideLayouts/slideLayout12.xml"/><Relationship Id="rId6" Type="http://schemas.openxmlformats.org/officeDocument/2006/relationships/image" Target="../media/image34.png"/><Relationship Id="rId11" Type="http://schemas.openxmlformats.org/officeDocument/2006/relationships/image" Target="../media/image70.svg"/><Relationship Id="rId5" Type="http://schemas.openxmlformats.org/officeDocument/2006/relationships/image" Target="../media/image8.svg"/><Relationship Id="rId15" Type="http://schemas.openxmlformats.org/officeDocument/2006/relationships/image" Target="../media/image24.svg"/><Relationship Id="rId10" Type="http://schemas.openxmlformats.org/officeDocument/2006/relationships/image" Target="../media/image69.png"/><Relationship Id="rId19" Type="http://schemas.openxmlformats.org/officeDocument/2006/relationships/image" Target="../media/image76.svg"/><Relationship Id="rId4" Type="http://schemas.openxmlformats.org/officeDocument/2006/relationships/image" Target="../media/image7.png"/><Relationship Id="rId9" Type="http://schemas.openxmlformats.org/officeDocument/2006/relationships/image" Target="../media/image68.svg"/><Relationship Id="rId1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E">
              <a:alpha val="65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1397000"/>
            <a:ext cx="10160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a:ea typeface="Noto Sans SC"/>
                <a:cs typeface="Noto Sans SC"/>
                <a:sym typeface="Noto Sans SC"/>
              </a:rPr>
              <a:t>澳洲Long Term Care服务与结算流程</a:t>
            </a:r>
            <a:endParaRPr lang="en-US" sz="1100"/>
          </a:p>
        </p:txBody>
      </p:sp>
      <p:sp>
        <p:nvSpPr>
          <p:cNvPr id="4" name="AutoShape 4"/>
          <p:cNvSpPr/>
          <p:nvPr/>
        </p:nvSpPr>
        <p:spPr>
          <a:xfrm>
            <a:off x="5334000" y="2286000"/>
            <a:ext cx="1524000" cy="50800"/>
          </a:xfrm>
          <a:prstGeom prst="roundRect">
            <a:avLst>
              <a:gd name="adj" fmla="val 0"/>
            </a:avLst>
          </a:prstGeom>
          <a:solidFill>
            <a:srgbClr val="00FFFF">
              <a:alpha val="100000"/>
            </a:srgbClr>
          </a:solidFill>
          <a:ln w="25400" cap="flat" cmpd="sng">
            <a:no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32000" y="3048000"/>
            <a:ext cx="457200" cy="457200"/>
          </a:xfrm>
          <a:prstGeom prst="rect">
            <a:avLst/>
          </a:prstGeom>
        </p:spPr>
      </p:pic>
      <p:sp>
        <p:nvSpPr>
          <p:cNvPr id="6" name="AutoShape 6"/>
          <p:cNvSpPr/>
          <p:nvPr/>
        </p:nvSpPr>
        <p:spPr>
          <a:xfrm>
            <a:off x="1371600" y="36830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服务模式解析</a:t>
            </a:r>
            <a:endParaRPr lang="en-US" sz="1100"/>
          </a:p>
        </p:txBody>
      </p:sp>
      <p:sp>
        <p:nvSpPr>
          <p:cNvPr id="7" name="AutoShape 7"/>
          <p:cNvSpPr/>
          <p:nvPr/>
        </p:nvSpPr>
        <p:spPr>
          <a:xfrm>
            <a:off x="1371600" y="4127500"/>
            <a:ext cx="3048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养老院 vs 居家护理(SAH)</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867400" y="3048000"/>
            <a:ext cx="457200" cy="457200"/>
          </a:xfrm>
          <a:prstGeom prst="rect">
            <a:avLst/>
          </a:prstGeom>
        </p:spPr>
      </p:pic>
      <p:sp>
        <p:nvSpPr>
          <p:cNvPr id="9" name="AutoShape 9"/>
          <p:cNvSpPr/>
          <p:nvPr/>
        </p:nvSpPr>
        <p:spPr>
          <a:xfrm>
            <a:off x="4572000" y="36830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定价机制剖析</a:t>
            </a:r>
            <a:endParaRPr lang="en-US" sz="1100"/>
          </a:p>
        </p:txBody>
      </p:sp>
      <p:sp>
        <p:nvSpPr>
          <p:cNvPr id="10" name="AutoShape 10"/>
          <p:cNvSpPr/>
          <p:nvPr/>
        </p:nvSpPr>
        <p:spPr>
          <a:xfrm>
            <a:off x="4572000" y="4127500"/>
            <a:ext cx="3048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政府补贴与用户付费结构</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02800" y="3048000"/>
            <a:ext cx="457200" cy="457200"/>
          </a:xfrm>
          <a:prstGeom prst="rect">
            <a:avLst/>
          </a:prstGeom>
        </p:spPr>
      </p:pic>
      <p:sp>
        <p:nvSpPr>
          <p:cNvPr id="12" name="AutoShape 12"/>
          <p:cNvSpPr/>
          <p:nvPr/>
        </p:nvSpPr>
        <p:spPr>
          <a:xfrm>
            <a:off x="8382000" y="36830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FFFFFF"/>
                </a:solidFill>
                <a:latin typeface="Noto Sans SC"/>
                <a:ea typeface="Noto Sans SC"/>
                <a:cs typeface="Noto Sans SC"/>
                <a:sym typeface="Noto Sans SC"/>
              </a:rPr>
              <a:t>结算流程全景</a:t>
            </a:r>
            <a:endParaRPr lang="en-US" sz="1100"/>
          </a:p>
        </p:txBody>
      </p:sp>
      <p:sp>
        <p:nvSpPr>
          <p:cNvPr id="13" name="AutoShape 13"/>
          <p:cNvSpPr/>
          <p:nvPr/>
        </p:nvSpPr>
        <p:spPr>
          <a:xfrm>
            <a:off x="8382000" y="4127500"/>
            <a:ext cx="3048000" cy="558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E5E7EB"/>
                </a:solidFill>
                <a:latin typeface="Noto Sans SC"/>
                <a:ea typeface="Noto Sans SC"/>
                <a:cs typeface="Noto Sans SC"/>
                <a:sym typeface="Noto Sans SC"/>
              </a:rPr>
              <a:t>费用申报与报销体系</a:t>
            </a:r>
            <a:endParaRPr lang="en-US" sz="1100"/>
          </a:p>
        </p:txBody>
      </p:sp>
      <p:cxnSp>
        <p:nvCxnSpPr>
          <p:cNvPr id="14" name="Connector 14"/>
          <p:cNvCxnSpPr/>
          <p:nvPr/>
        </p:nvCxnSpPr>
        <p:spPr>
          <a:xfrm rot="-4297">
            <a:off x="1016004" y="5073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15" name="AutoShape 15"/>
          <p:cNvSpPr/>
          <p:nvPr/>
        </p:nvSpPr>
        <p:spPr>
          <a:xfrm>
            <a:off x="1651000" y="5397500"/>
            <a:ext cx="889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FFD700"/>
                </a:solidFill>
                <a:latin typeface="Noto Sans SC"/>
                <a:ea typeface="Noto Sans SC"/>
                <a:cs typeface="Noto Sans SC"/>
                <a:sym typeface="Noto Sans SC"/>
              </a:rPr>
              <a:t>为市场准入与商业决策提供战略参考</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A14">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A0F1E">
              <a:alpha val="7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1016000" y="762000"/>
            <a:ext cx="381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FFFFF"/>
                </a:solidFill>
                <a:latin typeface="Noto Sans SC"/>
                <a:ea typeface="Noto Sans SC"/>
                <a:cs typeface="Noto Sans SC"/>
                <a:sym typeface="Noto Sans SC"/>
              </a:rPr>
              <a:t>目录</a:t>
            </a:r>
            <a:endParaRPr lang="en-US" sz="1100"/>
          </a:p>
        </p:txBody>
      </p:sp>
      <p:cxnSp>
        <p:nvCxnSpPr>
          <p:cNvPr id="4" name="Connector 4"/>
          <p:cNvCxnSpPr/>
          <p:nvPr/>
        </p:nvCxnSpPr>
        <p:spPr>
          <a:xfrm rot="-21485">
            <a:off x="1016020" y="1517650"/>
            <a:ext cx="2032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032000"/>
            <a:ext cx="304800" cy="304800"/>
          </a:xfrm>
          <a:prstGeom prst="rect">
            <a:avLst/>
          </a:prstGeom>
        </p:spPr>
      </p:pic>
      <p:sp>
        <p:nvSpPr>
          <p:cNvPr id="6" name="AutoShape 6"/>
          <p:cNvSpPr/>
          <p:nvPr/>
        </p:nvSpPr>
        <p:spPr>
          <a:xfrm>
            <a:off x="1574800" y="2032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市场概览</a:t>
            </a:r>
            <a:endParaRPr lang="en-US" sz="1100"/>
          </a:p>
        </p:txBody>
      </p:sp>
      <p:sp>
        <p:nvSpPr>
          <p:cNvPr id="7" name="AutoShape 7"/>
          <p:cNvSpPr/>
          <p:nvPr/>
        </p:nvSpPr>
        <p:spPr>
          <a:xfrm>
            <a:off x="1574800" y="24130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澳洲养老体系核心模式</a:t>
            </a:r>
            <a:endParaRPr lang="en-US" sz="1100"/>
          </a:p>
        </p:txBody>
      </p:sp>
      <p:pic>
        <p:nvPicPr>
          <p:cNvPr id="8" name="Picture 8"/>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2921000"/>
            <a:ext cx="304800" cy="304800"/>
          </a:xfrm>
          <a:prstGeom prst="rect">
            <a:avLst/>
          </a:prstGeom>
        </p:spPr>
      </p:pic>
      <p:sp>
        <p:nvSpPr>
          <p:cNvPr id="9" name="AutoShape 9"/>
          <p:cNvSpPr/>
          <p:nvPr/>
        </p:nvSpPr>
        <p:spPr>
          <a:xfrm>
            <a:off x="1574800" y="2921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服务流程</a:t>
            </a:r>
            <a:endParaRPr lang="en-US" sz="1100"/>
          </a:p>
        </p:txBody>
      </p:sp>
      <p:sp>
        <p:nvSpPr>
          <p:cNvPr id="10" name="AutoShape 10"/>
          <p:cNvSpPr/>
          <p:nvPr/>
        </p:nvSpPr>
        <p:spPr>
          <a:xfrm>
            <a:off x="1574800" y="33020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养老院 vs SAH居家护理全流程对比</a:t>
            </a:r>
            <a:endParaRPr lang="en-US" sz="1100"/>
          </a:p>
        </p:txBody>
      </p:sp>
      <p:pic>
        <p:nvPicPr>
          <p:cNvPr id="11" name="Picture 11"/>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10000"/>
            <a:ext cx="304800" cy="304800"/>
          </a:xfrm>
          <a:prstGeom prst="rect">
            <a:avLst/>
          </a:prstGeom>
        </p:spPr>
      </p:pic>
      <p:sp>
        <p:nvSpPr>
          <p:cNvPr id="12" name="AutoShape 12"/>
          <p:cNvSpPr/>
          <p:nvPr/>
        </p:nvSpPr>
        <p:spPr>
          <a:xfrm>
            <a:off x="1574800" y="3810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定价机制</a:t>
            </a:r>
            <a:endParaRPr lang="en-US" sz="1100"/>
          </a:p>
        </p:txBody>
      </p:sp>
      <p:sp>
        <p:nvSpPr>
          <p:cNvPr id="13" name="AutoShape 13"/>
          <p:cNvSpPr/>
          <p:nvPr/>
        </p:nvSpPr>
        <p:spPr>
          <a:xfrm>
            <a:off x="1574800" y="41910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政府指导价与服务商自主定价规则</a:t>
            </a:r>
            <a:endParaRPr lang="en-US" sz="1100"/>
          </a:p>
        </p:txBody>
      </p:sp>
      <p:cxnSp>
        <p:nvCxnSpPr>
          <p:cNvPr id="14" name="Connector 14"/>
          <p:cNvCxnSpPr/>
          <p:nvPr/>
        </p:nvCxnSpPr>
        <p:spPr>
          <a:xfrm rot="5381906">
            <a:off x="5397500" y="3232167"/>
            <a:ext cx="2413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7112000" y="2032000"/>
            <a:ext cx="304800" cy="304800"/>
          </a:xfrm>
          <a:prstGeom prst="rect">
            <a:avLst/>
          </a:prstGeom>
        </p:spPr>
      </p:pic>
      <p:sp>
        <p:nvSpPr>
          <p:cNvPr id="16" name="AutoShape 16"/>
          <p:cNvSpPr/>
          <p:nvPr/>
        </p:nvSpPr>
        <p:spPr>
          <a:xfrm>
            <a:off x="7670800" y="2032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结算流程</a:t>
            </a:r>
            <a:endParaRPr lang="en-US" sz="1100"/>
          </a:p>
        </p:txBody>
      </p:sp>
      <p:sp>
        <p:nvSpPr>
          <p:cNvPr id="17" name="AutoShape 17"/>
          <p:cNvSpPr/>
          <p:nvPr/>
        </p:nvSpPr>
        <p:spPr>
          <a:xfrm>
            <a:off x="7670800" y="24130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政府报销与个人支付全链路解析</a:t>
            </a:r>
            <a:endParaRPr lang="en-US" sz="1100"/>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7112000" y="2921000"/>
            <a:ext cx="304800" cy="304800"/>
          </a:xfrm>
          <a:prstGeom prst="rect">
            <a:avLst/>
          </a:prstGeom>
        </p:spPr>
      </p:pic>
      <p:sp>
        <p:nvSpPr>
          <p:cNvPr id="19" name="AutoShape 19"/>
          <p:cNvSpPr/>
          <p:nvPr/>
        </p:nvSpPr>
        <p:spPr>
          <a:xfrm>
            <a:off x="7670800" y="2921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案例分析</a:t>
            </a:r>
            <a:endParaRPr lang="en-US" sz="1100"/>
          </a:p>
        </p:txBody>
      </p:sp>
      <p:sp>
        <p:nvSpPr>
          <p:cNvPr id="20" name="AutoShape 20"/>
          <p:cNvSpPr/>
          <p:nvPr/>
        </p:nvSpPr>
        <p:spPr>
          <a:xfrm>
            <a:off x="7670800" y="33020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三大收入层级老人费用支付对比</a:t>
            </a:r>
            <a:endParaRPr lang="en-US" sz="1100"/>
          </a:p>
        </p:txBody>
      </p:sp>
      <p:pic>
        <p:nvPicPr>
          <p:cNvPr id="21" name="Picture 21"/>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7112000" y="3810000"/>
            <a:ext cx="304800" cy="304800"/>
          </a:xfrm>
          <a:prstGeom prst="rect">
            <a:avLst/>
          </a:prstGeom>
        </p:spPr>
      </p:pic>
      <p:sp>
        <p:nvSpPr>
          <p:cNvPr id="22" name="AutoShape 22"/>
          <p:cNvSpPr/>
          <p:nvPr/>
        </p:nvSpPr>
        <p:spPr>
          <a:xfrm>
            <a:off x="7670800" y="3810000"/>
            <a:ext cx="508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商业洞察</a:t>
            </a:r>
            <a:endParaRPr lang="en-US" sz="1100"/>
          </a:p>
        </p:txBody>
      </p:sp>
      <p:sp>
        <p:nvSpPr>
          <p:cNvPr id="23" name="AutoShape 23"/>
          <p:cNvSpPr/>
          <p:nvPr/>
        </p:nvSpPr>
        <p:spPr>
          <a:xfrm>
            <a:off x="7670800" y="4191000"/>
            <a:ext cx="5080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市场机遇与挑战</a:t>
            </a:r>
            <a:endParaRPr lang="en-US" sz="1100"/>
          </a:p>
        </p:txBody>
      </p:sp>
      <p:cxnSp>
        <p:nvCxnSpPr>
          <p:cNvPr id="24" name="Connector 24"/>
          <p:cNvCxnSpPr/>
          <p:nvPr/>
        </p:nvCxnSpPr>
        <p:spPr>
          <a:xfrm rot="-4297">
            <a:off x="1016004" y="5327650"/>
            <a:ext cx="10160000" cy="12700"/>
          </a:xfrm>
          <a:prstGeom prst="straightConnector1">
            <a:avLst/>
          </a:prstGeom>
          <a:solidFill>
            <a:srgbClr val="DEE0E3">
              <a:alpha val="100000"/>
            </a:srgbClr>
          </a:solidFill>
          <a:ln w="12700" cap="flat" cmpd="sng">
            <a:solidFill>
              <a:srgbClr val="FFD700">
                <a:alpha val="50000"/>
              </a:srgbClr>
            </a:solidFill>
            <a:prstDash val="solid"/>
            <a:round/>
            <a:headEnd type="none" w="med" len="med"/>
            <a:tailEnd type="none" w="med" len="med"/>
          </a:ln>
        </p:spPr>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762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FFFFF"/>
                </a:solidFill>
                <a:latin typeface="Noto Sans SC"/>
                <a:ea typeface="Noto Sans SC"/>
                <a:cs typeface="Noto Sans SC"/>
                <a:sym typeface="Noto Sans SC"/>
              </a:rPr>
              <a:t>澳洲养老服务体系概览</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4" name="AutoShape 4"/>
          <p:cNvSpPr/>
          <p:nvPr/>
        </p:nvSpPr>
        <p:spPr>
          <a:xfrm>
            <a:off x="1016000" y="1905000"/>
            <a:ext cx="4826000" cy="3556000"/>
          </a:xfrm>
          <a:prstGeom prst="roundRect">
            <a:avLst>
              <a:gd name="adj" fmla="val 2857"/>
            </a:avLst>
          </a:prstGeom>
          <a:solidFill>
            <a:srgbClr val="FFFFFF">
              <a:alpha val="5000"/>
            </a:srgbClr>
          </a:solidFill>
          <a:ln w="12700" cap="flat" cmpd="sng">
            <a:solidFill>
              <a:srgbClr val="00FFFF">
                <a:alpha val="5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70000" y="2159000"/>
            <a:ext cx="304800" cy="304800"/>
          </a:xfrm>
          <a:prstGeom prst="rect">
            <a:avLst/>
          </a:prstGeom>
        </p:spPr>
      </p:pic>
      <p:sp>
        <p:nvSpPr>
          <p:cNvPr id="6" name="AutoShape 6"/>
          <p:cNvSpPr/>
          <p:nvPr/>
        </p:nvSpPr>
        <p:spPr>
          <a:xfrm>
            <a:off x="1701800" y="21717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Noto Sans SC"/>
                <a:ea typeface="Noto Sans SC"/>
                <a:cs typeface="Noto Sans SC"/>
                <a:sym typeface="Noto Sans SC"/>
              </a:rPr>
              <a:t>养老院</a:t>
            </a:r>
            <a:r>
              <a:rPr lang="en-US" sz="1800" b="1" i="0" u="none" strike="noStrike" dirty="0">
                <a:solidFill>
                  <a:srgbClr val="FFFFFF"/>
                </a:solidFill>
                <a:latin typeface="Noto Sans SC"/>
                <a:ea typeface="Noto Sans SC"/>
                <a:cs typeface="Noto Sans SC"/>
                <a:sym typeface="Noto Sans SC"/>
              </a:rPr>
              <a:t> (Residential Care/</a:t>
            </a:r>
            <a:r>
              <a:rPr lang="en-US" altLang="zh-CN" sz="1800" b="1" i="0" u="none" strike="noStrike" dirty="0">
                <a:solidFill>
                  <a:srgbClr val="FFFFFF"/>
                </a:solidFill>
                <a:latin typeface="Noto Sans SC"/>
                <a:ea typeface="Noto Sans SC"/>
                <a:cs typeface="Noto Sans SC"/>
                <a:sym typeface="Noto Sans SC"/>
              </a:rPr>
              <a:t>Nursing Home</a:t>
            </a:r>
            <a:r>
              <a:rPr lang="en-US" sz="1800" b="1" i="0" u="none" strike="noStrike" dirty="0">
                <a:solidFill>
                  <a:srgbClr val="FFFFFF"/>
                </a:solidFill>
                <a:latin typeface="Noto Sans SC"/>
                <a:ea typeface="Noto Sans SC"/>
                <a:cs typeface="Noto Sans SC"/>
                <a:sym typeface="Noto Sans SC"/>
              </a:rPr>
              <a:t>)</a:t>
            </a:r>
            <a:endParaRPr lang="en-US" sz="1100" dirty="0"/>
          </a:p>
        </p:txBody>
      </p:sp>
      <p:pic>
        <p:nvPicPr>
          <p:cNvPr id="7" name="Picture 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70000" y="2794000"/>
            <a:ext cx="203200" cy="203200"/>
          </a:xfrm>
          <a:prstGeom prst="rect">
            <a:avLst/>
          </a:prstGeom>
        </p:spPr>
      </p:pic>
      <p:sp>
        <p:nvSpPr>
          <p:cNvPr id="8" name="AutoShape 8"/>
          <p:cNvSpPr/>
          <p:nvPr/>
        </p:nvSpPr>
        <p:spPr>
          <a:xfrm>
            <a:off x="1600200" y="2806700"/>
            <a:ext cx="3810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E5E7EB"/>
                </a:solidFill>
                <a:latin typeface="Noto Sans SC"/>
                <a:ea typeface="Noto Sans SC"/>
                <a:cs typeface="Noto Sans SC"/>
                <a:sym typeface="Noto Sans SC"/>
              </a:rPr>
              <a:t>定位:</a:t>
            </a:r>
            <a:r>
              <a:rPr lang="en-US" sz="1400" b="0" i="0" u="none" strike="noStrike">
                <a:solidFill>
                  <a:srgbClr val="D1D5DB"/>
                </a:solidFill>
                <a:latin typeface="Noto Sans SC"/>
                <a:ea typeface="Noto Sans SC"/>
                <a:cs typeface="Noto Sans SC"/>
                <a:sym typeface="Noto Sans SC"/>
              </a:rPr>
              <a:t>为重度失能老人提供24小时专业照护和住宿。</a:t>
            </a:r>
            <a:endParaRPr lang="en-US" sz="1100"/>
          </a:p>
        </p:txBody>
      </p:sp>
      <p:pic>
        <p:nvPicPr>
          <p:cNvPr id="9" name="Picture 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270000" y="3556000"/>
            <a:ext cx="203200" cy="203200"/>
          </a:xfrm>
          <a:prstGeom prst="rect">
            <a:avLst/>
          </a:prstGeom>
        </p:spPr>
      </p:pic>
      <p:sp>
        <p:nvSpPr>
          <p:cNvPr id="10" name="AutoShape 10"/>
          <p:cNvSpPr/>
          <p:nvPr/>
        </p:nvSpPr>
        <p:spPr>
          <a:xfrm>
            <a:off x="1600200" y="3568700"/>
            <a:ext cx="3810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E5E7EB"/>
                </a:solidFill>
                <a:latin typeface="Noto Sans SC"/>
                <a:ea typeface="Noto Sans SC"/>
                <a:cs typeface="Noto Sans SC"/>
                <a:sym typeface="Noto Sans SC"/>
              </a:rPr>
              <a:t>特点:</a:t>
            </a:r>
            <a:r>
              <a:rPr lang="en-US" sz="1400" b="0" i="0" u="none" strike="noStrike">
                <a:solidFill>
                  <a:srgbClr val="D1D5DB"/>
                </a:solidFill>
                <a:latin typeface="Noto Sans SC"/>
                <a:ea typeface="Noto Sans SC"/>
                <a:cs typeface="Noto Sans SC"/>
                <a:sym typeface="Noto Sans SC"/>
              </a:rPr>
              <a:t>服务全面、医疗支持强，但成本较高。</a:t>
            </a:r>
            <a:endParaRPr lang="en-US" sz="1100"/>
          </a:p>
        </p:txBody>
      </p:sp>
      <p:pic>
        <p:nvPicPr>
          <p:cNvPr id="11" name="Picture 1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270000" y="4318000"/>
            <a:ext cx="203200" cy="203200"/>
          </a:xfrm>
          <a:prstGeom prst="rect">
            <a:avLst/>
          </a:prstGeom>
        </p:spPr>
      </p:pic>
      <p:sp>
        <p:nvSpPr>
          <p:cNvPr id="12" name="AutoShape 12"/>
          <p:cNvSpPr/>
          <p:nvPr/>
        </p:nvSpPr>
        <p:spPr>
          <a:xfrm>
            <a:off x="1600200" y="4330700"/>
            <a:ext cx="3810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E5E7EB"/>
                </a:solidFill>
                <a:latin typeface="Noto Sans SC"/>
                <a:ea typeface="Noto Sans SC"/>
                <a:cs typeface="Noto Sans SC"/>
                <a:sym typeface="Noto Sans SC"/>
              </a:rPr>
              <a:t>人群:</a:t>
            </a:r>
            <a:r>
              <a:rPr lang="en-US" sz="1400" b="0" i="0" u="none" strike="noStrike">
                <a:solidFill>
                  <a:srgbClr val="D1D5DB"/>
                </a:solidFill>
                <a:latin typeface="Noto Sans SC"/>
                <a:ea typeface="Noto Sans SC"/>
                <a:cs typeface="Noto Sans SC"/>
                <a:sym typeface="Noto Sans SC"/>
              </a:rPr>
              <a:t>AN-ACC 4级及以上的高需求老人。</a:t>
            </a:r>
            <a:endParaRPr lang="en-US" sz="1100"/>
          </a:p>
        </p:txBody>
      </p:sp>
      <p:cxnSp>
        <p:nvCxnSpPr>
          <p:cNvPr id="13" name="Connector 13"/>
          <p:cNvCxnSpPr/>
          <p:nvPr/>
        </p:nvCxnSpPr>
        <p:spPr>
          <a:xfrm rot="5387722">
            <a:off x="4318000" y="3676661"/>
            <a:ext cx="35560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4" name="AutoShape 14"/>
          <p:cNvSpPr/>
          <p:nvPr/>
        </p:nvSpPr>
        <p:spPr>
          <a:xfrm>
            <a:off x="6350000" y="1905000"/>
            <a:ext cx="4826000" cy="3556000"/>
          </a:xfrm>
          <a:prstGeom prst="roundRect">
            <a:avLst>
              <a:gd name="adj" fmla="val 2857"/>
            </a:avLst>
          </a:prstGeom>
          <a:solidFill>
            <a:srgbClr val="FFFFFF">
              <a:alpha val="5000"/>
            </a:srgbClr>
          </a:solidFill>
          <a:ln w="12700" cap="flat" cmpd="sng">
            <a:solidFill>
              <a:srgbClr val="00FFFF">
                <a:alpha val="50000"/>
              </a:srgbClr>
            </a:solidFill>
            <a:prstDash val="solid"/>
            <a:round/>
          </a:ln>
        </p:spPr>
        <p:txBody>
          <a:bodyPr vert="horz" wrap="square" lIns="63500" tIns="63500" rIns="63500" bIns="63500" rtlCol="0" anchor="ctr"/>
          <a:lstStyle/>
          <a:p>
            <a:pPr algn="ctr">
              <a:defRPr/>
            </a:pPr>
            <a:endParaRPr/>
          </a:p>
        </p:txBody>
      </p:sp>
      <p:pic>
        <p:nvPicPr>
          <p:cNvPr id="15" name="Picture 15"/>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2159000"/>
            <a:ext cx="304800" cy="304800"/>
          </a:xfrm>
          <a:prstGeom prst="rect">
            <a:avLst/>
          </a:prstGeom>
        </p:spPr>
      </p:pic>
      <p:sp>
        <p:nvSpPr>
          <p:cNvPr id="16" name="AutoShape 16"/>
          <p:cNvSpPr/>
          <p:nvPr/>
        </p:nvSpPr>
        <p:spPr>
          <a:xfrm>
            <a:off x="7035800" y="2171700"/>
            <a:ext cx="4064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dirty="0" err="1">
                <a:solidFill>
                  <a:srgbClr val="FFFFFF"/>
                </a:solidFill>
                <a:latin typeface="Noto Sans SC"/>
                <a:ea typeface="Noto Sans SC"/>
                <a:cs typeface="Noto Sans SC"/>
                <a:sym typeface="Noto Sans SC"/>
              </a:rPr>
              <a:t>居家护理</a:t>
            </a:r>
            <a:r>
              <a:rPr lang="en-US" sz="1800" b="1" i="0" u="none" strike="noStrike" dirty="0">
                <a:solidFill>
                  <a:srgbClr val="FFFFFF"/>
                </a:solidFill>
                <a:latin typeface="Noto Sans SC"/>
                <a:ea typeface="Noto Sans SC"/>
                <a:cs typeface="Noto Sans SC"/>
                <a:sym typeface="Noto Sans SC"/>
              </a:rPr>
              <a:t> (</a:t>
            </a:r>
            <a:r>
              <a:rPr lang="en-US" sz="1800" b="1" i="0" u="none" strike="noStrike" dirty="0" err="1">
                <a:solidFill>
                  <a:srgbClr val="FFFFFF"/>
                </a:solidFill>
                <a:latin typeface="Noto Sans SC"/>
                <a:ea typeface="Noto Sans SC"/>
                <a:cs typeface="Noto Sans SC"/>
                <a:sym typeface="Noto Sans SC"/>
              </a:rPr>
              <a:t>SAH计划</a:t>
            </a:r>
            <a:r>
              <a:rPr lang="zh-CN" altLang="en-US" sz="1800" b="1" i="0" u="none" strike="noStrike">
                <a:solidFill>
                  <a:srgbClr val="FFFFFF"/>
                </a:solidFill>
                <a:latin typeface="Noto Sans SC"/>
                <a:ea typeface="Noto Sans SC"/>
                <a:cs typeface="Noto Sans SC"/>
                <a:sym typeface="Noto Sans SC"/>
              </a:rPr>
              <a:t>，取代之前</a:t>
            </a:r>
            <a:r>
              <a:rPr lang="zh-CN" altLang="en-US" sz="1800" b="1" i="0" u="none" strike="noStrike" dirty="0">
                <a:solidFill>
                  <a:srgbClr val="FFFFFF"/>
                </a:solidFill>
                <a:latin typeface="Noto Sans SC"/>
                <a:ea typeface="Noto Sans SC"/>
                <a:cs typeface="Noto Sans SC"/>
                <a:sym typeface="Noto Sans SC"/>
              </a:rPr>
              <a:t>的</a:t>
            </a:r>
            <a:r>
              <a:rPr lang="en-US" altLang="zh-CN" sz="1800" b="1" i="0" u="none" strike="noStrike" dirty="0">
                <a:solidFill>
                  <a:srgbClr val="FFFFFF"/>
                </a:solidFill>
                <a:latin typeface="Noto Sans SC"/>
                <a:ea typeface="Noto Sans SC"/>
                <a:cs typeface="Noto Sans SC"/>
                <a:sym typeface="Noto Sans SC"/>
              </a:rPr>
              <a:t>HCP</a:t>
            </a:r>
            <a:r>
              <a:rPr lang="en-US" sz="1800" b="1" i="0" u="none" strike="noStrike" dirty="0">
                <a:solidFill>
                  <a:srgbClr val="FFFFFF"/>
                </a:solidFill>
                <a:latin typeface="Noto Sans SC"/>
                <a:ea typeface="Noto Sans SC"/>
                <a:cs typeface="Noto Sans SC"/>
                <a:sym typeface="Noto Sans SC"/>
              </a:rPr>
              <a:t>)</a:t>
            </a:r>
            <a:endParaRPr lang="en-US" sz="1100" dirty="0"/>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2794000"/>
            <a:ext cx="203200" cy="203200"/>
          </a:xfrm>
          <a:prstGeom prst="rect">
            <a:avLst/>
          </a:prstGeom>
        </p:spPr>
      </p:pic>
      <p:sp>
        <p:nvSpPr>
          <p:cNvPr id="18" name="AutoShape 18"/>
          <p:cNvSpPr/>
          <p:nvPr/>
        </p:nvSpPr>
        <p:spPr>
          <a:xfrm>
            <a:off x="6934200" y="2806700"/>
            <a:ext cx="3810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E5E7EB"/>
                </a:solidFill>
                <a:latin typeface="Noto Sans SC"/>
                <a:ea typeface="Noto Sans SC"/>
                <a:cs typeface="Noto Sans SC"/>
                <a:sym typeface="Noto Sans SC"/>
              </a:rPr>
              <a:t>定位:</a:t>
            </a:r>
            <a:r>
              <a:rPr lang="en-US" sz="1400" b="0" i="0" u="none" strike="noStrike">
                <a:solidFill>
                  <a:srgbClr val="D1D5DB"/>
                </a:solidFill>
                <a:latin typeface="Noto Sans SC"/>
                <a:ea typeface="Noto Sans SC"/>
                <a:cs typeface="Noto Sans SC"/>
                <a:sym typeface="Noto Sans SC"/>
              </a:rPr>
              <a:t>让老人在家接受个性化服务，支持独立生活。</a:t>
            </a:r>
            <a:endParaRPr lang="en-US" sz="1100"/>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04000" y="3556000"/>
            <a:ext cx="203200" cy="203200"/>
          </a:xfrm>
          <a:prstGeom prst="rect">
            <a:avLst/>
          </a:prstGeom>
        </p:spPr>
      </p:pic>
      <p:sp>
        <p:nvSpPr>
          <p:cNvPr id="20" name="AutoShape 20"/>
          <p:cNvSpPr/>
          <p:nvPr/>
        </p:nvSpPr>
        <p:spPr>
          <a:xfrm>
            <a:off x="6934200" y="3568700"/>
            <a:ext cx="3810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E5E7EB"/>
                </a:solidFill>
                <a:latin typeface="Noto Sans SC"/>
                <a:ea typeface="Noto Sans SC"/>
                <a:cs typeface="Noto Sans SC"/>
                <a:sym typeface="Noto Sans SC"/>
              </a:rPr>
              <a:t>特点:</a:t>
            </a:r>
            <a:r>
              <a:rPr lang="en-US" sz="1400" b="0" i="0" u="none" strike="noStrike">
                <a:solidFill>
                  <a:srgbClr val="D1D5DB"/>
                </a:solidFill>
                <a:latin typeface="Noto Sans SC"/>
                <a:ea typeface="Noto Sans SC"/>
                <a:cs typeface="Noto Sans SC"/>
                <a:sym typeface="Noto Sans SC"/>
              </a:rPr>
              <a:t>服务灵活、成本较低，注重社区融入。</a:t>
            </a:r>
            <a:endParaRPr lang="en-US" sz="1100"/>
          </a:p>
        </p:txBody>
      </p:sp>
      <p:pic>
        <p:nvPicPr>
          <p:cNvPr id="21" name="Picture 21"/>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604000" y="4318000"/>
            <a:ext cx="203200" cy="203200"/>
          </a:xfrm>
          <a:prstGeom prst="rect">
            <a:avLst/>
          </a:prstGeom>
        </p:spPr>
      </p:pic>
      <p:sp>
        <p:nvSpPr>
          <p:cNvPr id="22" name="AutoShape 22"/>
          <p:cNvSpPr/>
          <p:nvPr/>
        </p:nvSpPr>
        <p:spPr>
          <a:xfrm>
            <a:off x="6934200" y="4330700"/>
            <a:ext cx="3810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1" i="0" u="none" strike="noStrike">
                <a:solidFill>
                  <a:srgbClr val="E5E7EB"/>
                </a:solidFill>
                <a:latin typeface="Noto Sans SC"/>
                <a:ea typeface="Noto Sans SC"/>
                <a:cs typeface="Noto Sans SC"/>
                <a:sym typeface="Noto Sans SC"/>
              </a:rPr>
              <a:t>人群:</a:t>
            </a:r>
            <a:r>
              <a:rPr lang="en-US" sz="1400" b="0" i="0" u="none" strike="noStrike">
                <a:solidFill>
                  <a:srgbClr val="D1D5DB"/>
                </a:solidFill>
                <a:latin typeface="Noto Sans SC"/>
                <a:ea typeface="Noto Sans SC"/>
                <a:cs typeface="Noto Sans SC"/>
                <a:sym typeface="Noto Sans SC"/>
              </a:rPr>
              <a:t>SAH 1-3级的轻中度需求老人。</a:t>
            </a:r>
            <a:endParaRPr lang="en-US" sz="1100"/>
          </a:p>
        </p:txBody>
      </p:sp>
      <p:cxnSp>
        <p:nvCxnSpPr>
          <p:cNvPr id="23" name="Connector 23"/>
          <p:cNvCxnSpPr/>
          <p:nvPr/>
        </p:nvCxnSpPr>
        <p:spPr>
          <a:xfrm rot="-4297">
            <a:off x="1016004" y="5708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24" name="AutoShape 24"/>
          <p:cNvSpPr/>
          <p:nvPr/>
        </p:nvSpPr>
        <p:spPr>
          <a:xfrm>
            <a:off x="1270000" y="5969000"/>
            <a:ext cx="965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D1D5DB"/>
                </a:solidFill>
                <a:latin typeface="Noto Sans SC"/>
                <a:ea typeface="Noto Sans SC"/>
                <a:cs typeface="Noto Sans SC"/>
                <a:sym typeface="Noto Sans SC"/>
              </a:rPr>
              <a:t>两大模式互为补充，共同构成覆盖不同需求层级的完整服务网络。</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E">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20000"/>
          </a:blip>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0A1428">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762000"/>
            <a:ext cx="1016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服务流程对比：养老院 vs SAH居家护理</a:t>
            </a:r>
            <a:endParaRPr lang="en-US" sz="1100"/>
          </a:p>
        </p:txBody>
      </p:sp>
      <p:cxnSp>
        <p:nvCxnSpPr>
          <p:cNvPr id="5" name="Connector 5"/>
          <p:cNvCxnSpPr/>
          <p:nvPr/>
        </p:nvCxnSpPr>
        <p:spPr>
          <a:xfrm rot="-4297">
            <a:off x="1016004" y="1517650"/>
            <a:ext cx="10160000" cy="12700"/>
          </a:xfrm>
          <a:prstGeom prst="straightConnector1">
            <a:avLst/>
          </a:prstGeom>
          <a:solidFill>
            <a:srgbClr val="DEE0E3">
              <a:alpha val="100000"/>
            </a:srgbClr>
          </a:solidFill>
          <a:ln w="12700" cap="flat" cmpd="sng">
            <a:solidFill>
              <a:srgbClr val="00FFFF">
                <a:alpha val="40000"/>
              </a:srgbClr>
            </a:solidFill>
            <a:prstDash val="solid"/>
            <a:round/>
            <a:headEnd type="none" w="med" len="med"/>
            <a:tailEnd type="none" w="med" len="med"/>
          </a:ln>
        </p:spPr>
      </p:cxnSp>
      <p:sp>
        <p:nvSpPr>
          <p:cNvPr id="6" name="AutoShape 6"/>
          <p:cNvSpPr/>
          <p:nvPr/>
        </p:nvSpPr>
        <p:spPr>
          <a:xfrm>
            <a:off x="1016000" y="18288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FFFF"/>
                </a:solidFill>
                <a:latin typeface="Noto Sans SC"/>
                <a:ea typeface="Noto Sans SC"/>
                <a:cs typeface="Noto Sans SC"/>
                <a:sym typeface="Noto Sans SC"/>
              </a:rPr>
              <a:t>养老院服务流程</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387600"/>
            <a:ext cx="254000" cy="254000"/>
          </a:xfrm>
          <a:prstGeom prst="rect">
            <a:avLst/>
          </a:prstGeom>
        </p:spPr>
      </p:pic>
      <p:sp>
        <p:nvSpPr>
          <p:cNvPr id="8" name="AutoShape 8"/>
          <p:cNvSpPr/>
          <p:nvPr/>
        </p:nvSpPr>
        <p:spPr>
          <a:xfrm>
            <a:off x="1473200" y="23876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申请与评估</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联系My Aged Care，接受ACAT全面评估。</a:t>
            </a:r>
          </a:p>
        </p:txBody>
      </p:sp>
      <p:pic>
        <p:nvPicPr>
          <p:cNvPr id="9" name="Picture 9"/>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124200"/>
            <a:ext cx="254000" cy="254000"/>
          </a:xfrm>
          <a:prstGeom prst="rect">
            <a:avLst/>
          </a:prstGeom>
        </p:spPr>
      </p:pic>
      <p:sp>
        <p:nvSpPr>
          <p:cNvPr id="10" name="AutoShape 10"/>
          <p:cNvSpPr/>
          <p:nvPr/>
        </p:nvSpPr>
        <p:spPr>
          <a:xfrm>
            <a:off x="1473200" y="31242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寻找与申请</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根据评估结果选择养老院并提交申请。</a:t>
            </a:r>
          </a:p>
        </p:txBody>
      </p:sp>
      <p:pic>
        <p:nvPicPr>
          <p:cNvPr id="11" name="Picture 11"/>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3860800"/>
            <a:ext cx="254000" cy="254000"/>
          </a:xfrm>
          <a:prstGeom prst="rect">
            <a:avLst/>
          </a:prstGeom>
        </p:spPr>
      </p:pic>
      <p:sp>
        <p:nvSpPr>
          <p:cNvPr id="12" name="AutoShape 12"/>
          <p:cNvSpPr/>
          <p:nvPr/>
        </p:nvSpPr>
        <p:spPr>
          <a:xfrm>
            <a:off x="1473200" y="38608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财务评估</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向Centrelink申报，确定费用承担比例。</a:t>
            </a:r>
          </a:p>
        </p:txBody>
      </p:sp>
      <p:pic>
        <p:nvPicPr>
          <p:cNvPr id="13" name="Picture 13"/>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4597400"/>
            <a:ext cx="254000" cy="254000"/>
          </a:xfrm>
          <a:prstGeom prst="rect">
            <a:avLst/>
          </a:prstGeom>
        </p:spPr>
      </p:pic>
      <p:sp>
        <p:nvSpPr>
          <p:cNvPr id="14" name="AutoShape 14"/>
          <p:cNvSpPr/>
          <p:nvPr/>
        </p:nvSpPr>
        <p:spPr>
          <a:xfrm>
            <a:off x="1473200" y="45974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入住与计划制定</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签订协议，制定个性化护理计划。</a:t>
            </a:r>
          </a:p>
        </p:txBody>
      </p:sp>
      <p:pic>
        <p:nvPicPr>
          <p:cNvPr id="15" name="Picture 1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1016000" y="5334000"/>
            <a:ext cx="254000" cy="254000"/>
          </a:xfrm>
          <a:prstGeom prst="rect">
            <a:avLst/>
          </a:prstGeom>
        </p:spPr>
      </p:pic>
      <p:sp>
        <p:nvSpPr>
          <p:cNvPr id="16" name="AutoShape 16"/>
          <p:cNvSpPr/>
          <p:nvPr/>
        </p:nvSpPr>
        <p:spPr>
          <a:xfrm>
            <a:off x="1473200" y="53340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服务提供与审核</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享受24小时服务，每年定期审核。</a:t>
            </a:r>
          </a:p>
        </p:txBody>
      </p:sp>
      <p:cxnSp>
        <p:nvCxnSpPr>
          <p:cNvPr id="17" name="Connector 17"/>
          <p:cNvCxnSpPr/>
          <p:nvPr/>
        </p:nvCxnSpPr>
        <p:spPr>
          <a:xfrm rot="5389189">
            <a:off x="4076700" y="3841760"/>
            <a:ext cx="40386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8" name="AutoShape 18"/>
          <p:cNvSpPr/>
          <p:nvPr/>
        </p:nvSpPr>
        <p:spPr>
          <a:xfrm>
            <a:off x="6604000" y="1828800"/>
            <a:ext cx="5080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D700"/>
                </a:solidFill>
                <a:latin typeface="Noto Sans SC"/>
                <a:ea typeface="Noto Sans SC"/>
                <a:cs typeface="Noto Sans SC"/>
                <a:sym typeface="Noto Sans SC"/>
              </a:rPr>
              <a:t>SAH居家护理服务流程</a:t>
            </a:r>
            <a:endParaRPr lang="en-US" sz="1100"/>
          </a:p>
        </p:txBody>
      </p:sp>
      <p:pic>
        <p:nvPicPr>
          <p:cNvPr id="19" name="Picture 19"/>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2387600"/>
            <a:ext cx="254000" cy="254000"/>
          </a:xfrm>
          <a:prstGeom prst="rect">
            <a:avLst/>
          </a:prstGeom>
        </p:spPr>
      </p:pic>
      <p:sp>
        <p:nvSpPr>
          <p:cNvPr id="20" name="AutoShape 20"/>
          <p:cNvSpPr/>
          <p:nvPr/>
        </p:nvSpPr>
        <p:spPr>
          <a:xfrm>
            <a:off x="7061200" y="23876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申请与评估</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联系My Aged Care，接受RAS/ACAT评估。</a:t>
            </a:r>
          </a:p>
        </p:txBody>
      </p:sp>
      <p:pic>
        <p:nvPicPr>
          <p:cNvPr id="21" name="Picture 21"/>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04000" y="3124200"/>
            <a:ext cx="254000" cy="254000"/>
          </a:xfrm>
          <a:prstGeom prst="rect">
            <a:avLst/>
          </a:prstGeom>
        </p:spPr>
      </p:pic>
      <p:sp>
        <p:nvSpPr>
          <p:cNvPr id="22" name="AutoShape 22"/>
          <p:cNvSpPr/>
          <p:nvPr/>
        </p:nvSpPr>
        <p:spPr>
          <a:xfrm>
            <a:off x="7061200" y="31242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选择服务商</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在推荐名单中选择合适的服务商。</a:t>
            </a:r>
          </a:p>
        </p:txBody>
      </p:sp>
      <p:pic>
        <p:nvPicPr>
          <p:cNvPr id="23" name="Picture 23"/>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04000" y="3860800"/>
            <a:ext cx="254000" cy="254000"/>
          </a:xfrm>
          <a:prstGeom prst="rect">
            <a:avLst/>
          </a:prstGeom>
        </p:spPr>
      </p:pic>
      <p:sp>
        <p:nvSpPr>
          <p:cNvPr id="24" name="AutoShape 24"/>
          <p:cNvSpPr/>
          <p:nvPr/>
        </p:nvSpPr>
        <p:spPr>
          <a:xfrm>
            <a:off x="7061200" y="38608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制定护理计划</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与服务商共同制定个性化服务计划。</a:t>
            </a:r>
          </a:p>
        </p:txBody>
      </p:sp>
      <p:pic>
        <p:nvPicPr>
          <p:cNvPr id="25" name="Picture 25"/>
          <p:cNvPicPr>
            <a:picLocks noChangeAspect="1"/>
          </p:cNvPicPr>
          <p:nvPr/>
        </p:nvPicPr>
        <p:blipFill>
          <a:blip r:embed="rId20">
            <a:extLst>
              <a:ext uri="{28A0092B-C50C-407E-A947-70E740481C1C}">
                <a14:useLocalDpi xmlns:a14="http://schemas.microsoft.com/office/drawing/2010/main" val="0"/>
              </a:ext>
              <a:ext uri="{96DAC541-7B7A-43D3-8B79-37D633B846F1}">
                <asvg:svgBlip xmlns:asvg="http://schemas.microsoft.com/office/drawing/2016/SVG/main" r:embed="rId21"/>
              </a:ext>
            </a:extLst>
          </a:blip>
          <a:stretch>
            <a:fillRect/>
          </a:stretch>
        </p:blipFill>
        <p:spPr>
          <a:xfrm>
            <a:off x="6604000" y="4597400"/>
            <a:ext cx="254000" cy="254000"/>
          </a:xfrm>
          <a:prstGeom prst="rect">
            <a:avLst/>
          </a:prstGeom>
        </p:spPr>
      </p:pic>
      <p:sp>
        <p:nvSpPr>
          <p:cNvPr id="26" name="AutoShape 26"/>
          <p:cNvSpPr/>
          <p:nvPr/>
        </p:nvSpPr>
        <p:spPr>
          <a:xfrm>
            <a:off x="7061200" y="45974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服务启动</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护理人员按计划上门提供服务。</a:t>
            </a:r>
          </a:p>
        </p:txBody>
      </p:sp>
      <p:pic>
        <p:nvPicPr>
          <p:cNvPr id="27" name="Picture 27"/>
          <p:cNvPicPr>
            <a:picLocks noChangeAspect="1"/>
          </p:cNvPicPr>
          <p:nvPr/>
        </p:nvPicPr>
        <p:blipFill>
          <a:blip r:embed="rId22">
            <a:extLst>
              <a:ext uri="{28A0092B-C50C-407E-A947-70E740481C1C}">
                <a14:useLocalDpi xmlns:a14="http://schemas.microsoft.com/office/drawing/2010/main" val="0"/>
              </a:ext>
              <a:ext uri="{96DAC541-7B7A-43D3-8B79-37D633B846F1}">
                <asvg:svgBlip xmlns:asvg="http://schemas.microsoft.com/office/drawing/2016/SVG/main" r:embed="rId23"/>
              </a:ext>
            </a:extLst>
          </a:blip>
          <a:stretch>
            <a:fillRect/>
          </a:stretch>
        </p:blipFill>
        <p:spPr>
          <a:xfrm>
            <a:off x="6604000" y="5334000"/>
            <a:ext cx="254000" cy="254000"/>
          </a:xfrm>
          <a:prstGeom prst="rect">
            <a:avLst/>
          </a:prstGeom>
        </p:spPr>
      </p:pic>
      <p:sp>
        <p:nvSpPr>
          <p:cNvPr id="28" name="AutoShape 28"/>
          <p:cNvSpPr/>
          <p:nvPr/>
        </p:nvSpPr>
        <p:spPr>
          <a:xfrm>
            <a:off x="7061200" y="5334000"/>
            <a:ext cx="4572000" cy="533400"/>
          </a:xfrm>
          <a:prstGeom prst="rect">
            <a:avLst/>
          </a:prstGeom>
          <a:noFill/>
          <a:ln w="12700" cap="flat" cmpd="sng">
            <a:noFill/>
            <a:prstDash val="solid"/>
            <a:round/>
          </a:ln>
        </p:spPr>
        <p:txBody>
          <a:bodyPr vert="horz" wrap="square" lIns="0" tIns="0" rIns="0" bIns="0" rtlCol="0" anchor="t" anchorCtr="0"/>
          <a:lstStyle/>
          <a:p>
            <a:pPr indent="0" algn="l">
              <a:lnSpc>
                <a:spcPct val="100000"/>
              </a:lnSpc>
              <a:defRPr/>
            </a:pPr>
            <a:r>
              <a:rPr lang="en-US" sz="1400" b="1" i="0" u="none" strike="noStrike">
                <a:solidFill>
                  <a:srgbClr val="FFFFFF"/>
                </a:solidFill>
                <a:latin typeface="Noto Sans SC"/>
                <a:ea typeface="Noto Sans SC"/>
                <a:cs typeface="Noto Sans SC"/>
                <a:sym typeface="Noto Sans SC"/>
              </a:rPr>
              <a:t>记录反馈与支付</a:t>
            </a:r>
            <a:endParaRPr lang="en-US" sz="1100"/>
          </a:p>
          <a:p>
            <a:pPr indent="0" algn="l">
              <a:lnSpc>
                <a:spcPct val="108333"/>
              </a:lnSpc>
            </a:pPr>
            <a:r>
              <a:rPr lang="en-US" sz="1200" b="0" i="0" u="none" strike="noStrike">
                <a:solidFill>
                  <a:srgbClr val="D1D5DB"/>
                </a:solidFill>
                <a:latin typeface="Noto Sans SC"/>
                <a:ea typeface="Noto Sans SC"/>
                <a:cs typeface="Noto Sans SC"/>
                <a:sym typeface="Noto Sans SC"/>
              </a:rPr>
              <a:t>定期评估调整，按协议支付费用。</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762000"/>
            <a:ext cx="1016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定价机制：政府指导价与服务商定价</a:t>
            </a:r>
            <a:endParaRPr lang="en-US" sz="1100"/>
          </a:p>
        </p:txBody>
      </p:sp>
      <p:cxnSp>
        <p:nvCxnSpPr>
          <p:cNvPr id="5" name="Connector 5"/>
          <p:cNvCxnSpPr/>
          <p:nvPr/>
        </p:nvCxnSpPr>
        <p:spPr>
          <a:xfrm rot="-4297">
            <a:off x="1016004" y="14541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6" name="AutoShape 6"/>
          <p:cNvSpPr/>
          <p:nvPr/>
        </p:nvSpPr>
        <p:spPr>
          <a:xfrm>
            <a:off x="1016000" y="1841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FFFF"/>
                </a:solidFill>
                <a:latin typeface="Noto Sans SC"/>
                <a:ea typeface="Noto Sans SC"/>
                <a:cs typeface="Noto Sans SC"/>
                <a:sym typeface="Noto Sans SC"/>
              </a:rPr>
              <a:t>政府指导价体系 (IHACPA)</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13000"/>
            <a:ext cx="304800" cy="304800"/>
          </a:xfrm>
          <a:prstGeom prst="rect">
            <a:avLst/>
          </a:prstGeom>
        </p:spPr>
      </p:pic>
      <p:sp>
        <p:nvSpPr>
          <p:cNvPr id="8" name="AutoShape 8"/>
          <p:cNvSpPr/>
          <p:nvPr/>
        </p:nvSpPr>
        <p:spPr>
          <a:xfrm>
            <a:off x="1473200" y="2425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定价主体</a:t>
            </a:r>
            <a:endParaRPr lang="en-US" sz="1100"/>
          </a:p>
        </p:txBody>
      </p:sp>
      <p:sp>
        <p:nvSpPr>
          <p:cNvPr id="9" name="AutoShape 9"/>
          <p:cNvSpPr/>
          <p:nvPr/>
        </p:nvSpPr>
        <p:spPr>
          <a:xfrm>
            <a:off x="1473200" y="27686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独立医院和老年护理定价局（IHACPA）。</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29000"/>
            <a:ext cx="304800" cy="304800"/>
          </a:xfrm>
          <a:prstGeom prst="rect">
            <a:avLst/>
          </a:prstGeom>
        </p:spPr>
      </p:pic>
      <p:sp>
        <p:nvSpPr>
          <p:cNvPr id="11" name="AutoShape 11"/>
          <p:cNvSpPr/>
          <p:nvPr/>
        </p:nvSpPr>
        <p:spPr>
          <a:xfrm>
            <a:off x="1473200" y="3441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定价原则</a:t>
            </a:r>
            <a:endParaRPr lang="en-US" sz="1100"/>
          </a:p>
        </p:txBody>
      </p:sp>
      <p:sp>
        <p:nvSpPr>
          <p:cNvPr id="12" name="AutoShape 12"/>
          <p:cNvSpPr/>
          <p:nvPr/>
        </p:nvSpPr>
        <p:spPr>
          <a:xfrm>
            <a:off x="1473200" y="37846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基于成本、数据和质量，平衡利润与开支。</a:t>
            </a:r>
            <a:endParaRPr lang="en-US" sz="1100"/>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304800" cy="304800"/>
          </a:xfrm>
          <a:prstGeom prst="rect">
            <a:avLst/>
          </a:prstGeom>
        </p:spPr>
      </p:pic>
      <p:sp>
        <p:nvSpPr>
          <p:cNvPr id="14" name="AutoShape 14"/>
          <p:cNvSpPr/>
          <p:nvPr/>
        </p:nvSpPr>
        <p:spPr>
          <a:xfrm>
            <a:off x="1473200" y="4457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适用范围</a:t>
            </a:r>
            <a:endParaRPr lang="en-US" sz="1100"/>
          </a:p>
        </p:txBody>
      </p:sp>
      <p:sp>
        <p:nvSpPr>
          <p:cNvPr id="15" name="AutoShape 15"/>
          <p:cNvSpPr/>
          <p:nvPr/>
        </p:nvSpPr>
        <p:spPr>
          <a:xfrm>
            <a:off x="1473200" y="48006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临床服务(100%定价)与非临床服务(设上限)。</a:t>
            </a:r>
            <a:endParaRPr lang="en-US" sz="1100"/>
          </a:p>
        </p:txBody>
      </p:sp>
      <p:cxnSp>
        <p:nvCxnSpPr>
          <p:cNvPr id="16" name="Connector 16"/>
          <p:cNvCxnSpPr/>
          <p:nvPr/>
        </p:nvCxnSpPr>
        <p:spPr>
          <a:xfrm rot="5387937">
            <a:off x="4286250" y="3644911"/>
            <a:ext cx="3619500" cy="12700"/>
          </a:xfrm>
          <a:prstGeom prst="straightConnector1">
            <a:avLst/>
          </a:prstGeom>
          <a:solidFill>
            <a:srgbClr val="DEE0E3">
              <a:alpha val="100000"/>
            </a:srgbClr>
          </a:solidFill>
          <a:ln w="12700" cap="flat" cmpd="sng">
            <a:solidFill>
              <a:srgbClr val="00FFFF">
                <a:alpha val="30000"/>
              </a:srgbClr>
            </a:solidFill>
            <a:prstDash val="dash"/>
            <a:round/>
            <a:headEnd type="none" w="med" len="med"/>
            <a:tailEnd type="none" w="med" len="med"/>
          </a:ln>
        </p:spPr>
      </p:cxnSp>
      <p:sp>
        <p:nvSpPr>
          <p:cNvPr id="17" name="AutoShape 17"/>
          <p:cNvSpPr/>
          <p:nvPr/>
        </p:nvSpPr>
        <p:spPr>
          <a:xfrm>
            <a:off x="6477000" y="1841500"/>
            <a:ext cx="482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FFFF"/>
                </a:solidFill>
                <a:latin typeface="Noto Sans SC"/>
                <a:ea typeface="Noto Sans SC"/>
                <a:cs typeface="Noto Sans SC"/>
                <a:sym typeface="Noto Sans SC"/>
              </a:rPr>
              <a:t>服务商定价策略</a:t>
            </a:r>
            <a:endParaRPr lang="en-US" sz="1100"/>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477000" y="2413000"/>
            <a:ext cx="304800" cy="304800"/>
          </a:xfrm>
          <a:prstGeom prst="rect">
            <a:avLst/>
          </a:prstGeom>
        </p:spPr>
      </p:pic>
      <p:sp>
        <p:nvSpPr>
          <p:cNvPr id="19" name="AutoShape 19"/>
          <p:cNvSpPr/>
          <p:nvPr/>
        </p:nvSpPr>
        <p:spPr>
          <a:xfrm>
            <a:off x="6934200" y="2425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临床服务</a:t>
            </a:r>
            <a:endParaRPr lang="en-US" sz="1100"/>
          </a:p>
        </p:txBody>
      </p:sp>
      <p:sp>
        <p:nvSpPr>
          <p:cNvPr id="20" name="AutoShape 20"/>
          <p:cNvSpPr/>
          <p:nvPr/>
        </p:nvSpPr>
        <p:spPr>
          <a:xfrm>
            <a:off x="6934200" y="27686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严格遵守政府指导价，禁止额外收费。</a:t>
            </a:r>
            <a:endParaRPr lang="en-US" sz="1100"/>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477000" y="3429000"/>
            <a:ext cx="304800" cy="304800"/>
          </a:xfrm>
          <a:prstGeom prst="rect">
            <a:avLst/>
          </a:prstGeom>
        </p:spPr>
      </p:pic>
      <p:sp>
        <p:nvSpPr>
          <p:cNvPr id="22" name="AutoShape 22"/>
          <p:cNvSpPr/>
          <p:nvPr/>
        </p:nvSpPr>
        <p:spPr>
          <a:xfrm>
            <a:off x="6934200" y="3441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非临床服务</a:t>
            </a:r>
            <a:endParaRPr lang="en-US" sz="1100"/>
          </a:p>
        </p:txBody>
      </p:sp>
      <p:sp>
        <p:nvSpPr>
          <p:cNvPr id="23" name="AutoShape 23"/>
          <p:cNvSpPr/>
          <p:nvPr/>
        </p:nvSpPr>
        <p:spPr>
          <a:xfrm>
            <a:off x="6934200" y="37846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在价格上限内，自主制定市场策略。</a:t>
            </a:r>
            <a:endParaRPr lang="en-US" sz="1100"/>
          </a:p>
        </p:txBody>
      </p:sp>
      <p:pic>
        <p:nvPicPr>
          <p:cNvPr id="24" name="Picture 2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477000" y="4445000"/>
            <a:ext cx="304800" cy="304800"/>
          </a:xfrm>
          <a:prstGeom prst="rect">
            <a:avLst/>
          </a:prstGeom>
        </p:spPr>
      </p:pic>
      <p:sp>
        <p:nvSpPr>
          <p:cNvPr id="25" name="AutoShape 25"/>
          <p:cNvSpPr/>
          <p:nvPr/>
        </p:nvSpPr>
        <p:spPr>
          <a:xfrm>
            <a:off x="6934200" y="4457700"/>
            <a:ext cx="4318000" cy="279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E5E7EB"/>
                </a:solidFill>
                <a:latin typeface="Noto Sans SC"/>
                <a:ea typeface="Noto Sans SC"/>
                <a:cs typeface="Noto Sans SC"/>
                <a:sym typeface="Noto Sans SC"/>
              </a:rPr>
              <a:t>打包与增值服务</a:t>
            </a:r>
            <a:endParaRPr lang="en-US" sz="1100"/>
          </a:p>
        </p:txBody>
      </p:sp>
      <p:sp>
        <p:nvSpPr>
          <p:cNvPr id="26" name="AutoShape 26"/>
          <p:cNvSpPr/>
          <p:nvPr/>
        </p:nvSpPr>
        <p:spPr>
          <a:xfrm>
            <a:off x="6934200" y="4800600"/>
            <a:ext cx="4318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可提供透明套餐及市场化增值服务。</a:t>
            </a:r>
            <a:endParaRPr lang="en-US" sz="1100"/>
          </a:p>
        </p:txBody>
      </p:sp>
      <p:cxnSp>
        <p:nvCxnSpPr>
          <p:cNvPr id="27" name="Connector 27"/>
          <p:cNvCxnSpPr/>
          <p:nvPr/>
        </p:nvCxnSpPr>
        <p:spPr>
          <a:xfrm rot="-4297">
            <a:off x="1016004" y="5708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28" name="AutoShape 28"/>
          <p:cNvSpPr/>
          <p:nvPr/>
        </p:nvSpPr>
        <p:spPr>
          <a:xfrm>
            <a:off x="1016000" y="5905500"/>
            <a:ext cx="10160000" cy="2794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D1D5DB"/>
                </a:solidFill>
                <a:latin typeface="Noto Sans SC"/>
                <a:ea typeface="Noto Sans SC"/>
                <a:cs typeface="Noto Sans SC"/>
                <a:sym typeface="Noto Sans SC"/>
              </a:rPr>
              <a:t>核心：政府主导、市场调节的混合定价模式，确保服务质量与成本效益平衡。</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0"/>
          </a:blip>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1016000" y="762000"/>
            <a:ext cx="1016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FFFFF"/>
                </a:solidFill>
                <a:latin typeface="Noto Sans SC"/>
                <a:ea typeface="Noto Sans SC"/>
                <a:cs typeface="Noto Sans SC"/>
                <a:sym typeface="Noto Sans SC"/>
              </a:rPr>
              <a:t>结算流程核心：政府报销与个人支付</a:t>
            </a:r>
            <a:endParaRPr lang="en-US" sz="1100"/>
          </a:p>
        </p:txBody>
      </p:sp>
      <p:cxnSp>
        <p:nvCxnSpPr>
          <p:cNvPr id="4" name="Connector 4"/>
          <p:cNvCxnSpPr/>
          <p:nvPr/>
        </p:nvCxnSpPr>
        <p:spPr>
          <a:xfrm rot="-4297">
            <a:off x="1016004" y="1517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5" name="AutoShape 5"/>
          <p:cNvSpPr/>
          <p:nvPr/>
        </p:nvSpPr>
        <p:spPr>
          <a:xfrm>
            <a:off x="1016000" y="1905000"/>
            <a:ext cx="4826000" cy="1905000"/>
          </a:xfrm>
          <a:prstGeom prst="roundRect">
            <a:avLst>
              <a:gd name="adj" fmla="val 5333"/>
            </a:avLst>
          </a:prstGeom>
          <a:solidFill>
            <a:srgbClr val="172554">
              <a:alpha val="5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6" name="Picture 6"/>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270000" y="2095500"/>
            <a:ext cx="355600" cy="355600"/>
          </a:xfrm>
          <a:prstGeom prst="rect">
            <a:avLst/>
          </a:prstGeom>
        </p:spPr>
      </p:pic>
      <p:sp>
        <p:nvSpPr>
          <p:cNvPr id="7" name="AutoShape 7"/>
          <p:cNvSpPr/>
          <p:nvPr/>
        </p:nvSpPr>
        <p:spPr>
          <a:xfrm>
            <a:off x="1778000" y="21209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1. 服务提供与记录</a:t>
            </a:r>
            <a:endParaRPr lang="en-US" sz="1100"/>
          </a:p>
        </p:txBody>
      </p:sp>
      <p:sp>
        <p:nvSpPr>
          <p:cNvPr id="8" name="AutoShape 8"/>
          <p:cNvSpPr/>
          <p:nvPr/>
        </p:nvSpPr>
        <p:spPr>
          <a:xfrm>
            <a:off x="1270000" y="26035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服务商记录服务内容，老人或家属确认完成。</a:t>
            </a:r>
            <a:endParaRPr lang="en-US" sz="1100"/>
          </a:p>
        </p:txBody>
      </p:sp>
      <p:sp>
        <p:nvSpPr>
          <p:cNvPr id="9" name="AutoShape 9"/>
          <p:cNvSpPr/>
          <p:nvPr/>
        </p:nvSpPr>
        <p:spPr>
          <a:xfrm>
            <a:off x="6350000" y="1905000"/>
            <a:ext cx="4826000" cy="1905000"/>
          </a:xfrm>
          <a:prstGeom prst="roundRect">
            <a:avLst>
              <a:gd name="adj" fmla="val 5333"/>
            </a:avLst>
          </a:prstGeom>
          <a:solidFill>
            <a:srgbClr val="172554">
              <a:alpha val="5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04000" y="2095500"/>
            <a:ext cx="355600" cy="355600"/>
          </a:xfrm>
          <a:prstGeom prst="rect">
            <a:avLst/>
          </a:prstGeom>
        </p:spPr>
      </p:pic>
      <p:sp>
        <p:nvSpPr>
          <p:cNvPr id="11" name="AutoShape 11"/>
          <p:cNvSpPr/>
          <p:nvPr/>
        </p:nvSpPr>
        <p:spPr>
          <a:xfrm>
            <a:off x="7112000" y="21209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2. 费用计算</a:t>
            </a:r>
            <a:endParaRPr lang="en-US" sz="1100"/>
          </a:p>
        </p:txBody>
      </p:sp>
      <p:sp>
        <p:nvSpPr>
          <p:cNvPr id="12" name="AutoShape 12"/>
          <p:cNvSpPr/>
          <p:nvPr/>
        </p:nvSpPr>
        <p:spPr>
          <a:xfrm>
            <a:off x="6604000" y="26035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系统计算总费用、政府补贴及个人共付金额。</a:t>
            </a:r>
            <a:endParaRPr lang="en-US" sz="1100"/>
          </a:p>
        </p:txBody>
      </p:sp>
      <p:sp>
        <p:nvSpPr>
          <p:cNvPr id="13" name="AutoShape 13"/>
          <p:cNvSpPr/>
          <p:nvPr/>
        </p:nvSpPr>
        <p:spPr>
          <a:xfrm>
            <a:off x="1016000" y="4064000"/>
            <a:ext cx="4826000" cy="1905000"/>
          </a:xfrm>
          <a:prstGeom prst="roundRect">
            <a:avLst>
              <a:gd name="adj" fmla="val 5333"/>
            </a:avLst>
          </a:prstGeom>
          <a:solidFill>
            <a:srgbClr val="172554">
              <a:alpha val="5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270000" y="4254500"/>
            <a:ext cx="355600" cy="355600"/>
          </a:xfrm>
          <a:prstGeom prst="rect">
            <a:avLst/>
          </a:prstGeom>
        </p:spPr>
      </p:pic>
      <p:sp>
        <p:nvSpPr>
          <p:cNvPr id="15" name="AutoShape 15"/>
          <p:cNvSpPr/>
          <p:nvPr/>
        </p:nvSpPr>
        <p:spPr>
          <a:xfrm>
            <a:off x="1778000" y="42799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3. 个人支付</a:t>
            </a:r>
            <a:endParaRPr lang="en-US" sz="1100"/>
          </a:p>
        </p:txBody>
      </p:sp>
      <p:sp>
        <p:nvSpPr>
          <p:cNvPr id="16" name="AutoShape 16"/>
          <p:cNvSpPr/>
          <p:nvPr/>
        </p:nvSpPr>
        <p:spPr>
          <a:xfrm>
            <a:off x="1270000" y="47625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老人通过多种方式支付个人共付部分。</a:t>
            </a:r>
            <a:endParaRPr lang="en-US" sz="1100"/>
          </a:p>
        </p:txBody>
      </p:sp>
      <p:sp>
        <p:nvSpPr>
          <p:cNvPr id="17" name="AutoShape 17"/>
          <p:cNvSpPr/>
          <p:nvPr/>
        </p:nvSpPr>
        <p:spPr>
          <a:xfrm>
            <a:off x="6350000" y="4064000"/>
            <a:ext cx="4826000" cy="1905000"/>
          </a:xfrm>
          <a:prstGeom prst="roundRect">
            <a:avLst>
              <a:gd name="adj" fmla="val 5333"/>
            </a:avLst>
          </a:prstGeom>
          <a:solidFill>
            <a:srgbClr val="172554">
              <a:alpha val="5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18" name="Picture 18"/>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604000" y="4254500"/>
            <a:ext cx="355600" cy="355600"/>
          </a:xfrm>
          <a:prstGeom prst="rect">
            <a:avLst/>
          </a:prstGeom>
        </p:spPr>
      </p:pic>
      <p:sp>
        <p:nvSpPr>
          <p:cNvPr id="19" name="AutoShape 19"/>
          <p:cNvSpPr/>
          <p:nvPr/>
        </p:nvSpPr>
        <p:spPr>
          <a:xfrm>
            <a:off x="7112000" y="4279900"/>
            <a:ext cx="381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4. 政府报销</a:t>
            </a:r>
            <a:endParaRPr lang="en-US" sz="1100"/>
          </a:p>
        </p:txBody>
      </p:sp>
      <p:sp>
        <p:nvSpPr>
          <p:cNvPr id="20" name="AutoShape 20"/>
          <p:cNvSpPr/>
          <p:nvPr/>
        </p:nvSpPr>
        <p:spPr>
          <a:xfrm>
            <a:off x="6604000" y="4762500"/>
            <a:ext cx="4064000" cy="5588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服务商提交申请，政府审核后支付补贴 (周期14-30天)。</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1016000" y="762000"/>
            <a:ext cx="10160000" cy="609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FFFFFF"/>
                </a:solidFill>
                <a:latin typeface="Noto Sans SC"/>
                <a:ea typeface="Noto Sans SC"/>
                <a:cs typeface="Noto Sans SC"/>
                <a:sym typeface="Noto Sans SC"/>
              </a:rPr>
              <a:t>案例分析：不同收入老人费用支付对比</a:t>
            </a:r>
            <a:endParaRPr lang="en-US" sz="1100"/>
          </a:p>
        </p:txBody>
      </p:sp>
      <p:cxnSp>
        <p:nvCxnSpPr>
          <p:cNvPr id="3" name="Connector 3"/>
          <p:cNvCxnSpPr/>
          <p:nvPr/>
        </p:nvCxnSpPr>
        <p:spPr>
          <a:xfrm rot="-4297">
            <a:off x="1016004" y="1517650"/>
            <a:ext cx="10160000" cy="12700"/>
          </a:xfrm>
          <a:prstGeom prst="straightConnector1">
            <a:avLst/>
          </a:prstGeom>
          <a:solidFill>
            <a:srgbClr val="DEE0E3">
              <a:alpha val="100000"/>
            </a:srgbClr>
          </a:solidFill>
          <a:ln w="12700" cap="flat" cmpd="sng">
            <a:solidFill>
              <a:srgbClr val="00FFFF">
                <a:alpha val="30000"/>
              </a:srgbClr>
            </a:solidFill>
            <a:prstDash val="solid"/>
            <a:round/>
            <a:headEnd type="none" w="med" len="med"/>
            <a:tailEnd type="none" w="med" len="med"/>
          </a:ln>
        </p:spPr>
      </p:cxnSp>
      <p:sp>
        <p:nvSpPr>
          <p:cNvPr id="4" name="AutoShape 4"/>
          <p:cNvSpPr/>
          <p:nvPr/>
        </p:nvSpPr>
        <p:spPr>
          <a:xfrm>
            <a:off x="1016000" y="1828800"/>
            <a:ext cx="3302000" cy="3556000"/>
          </a:xfrm>
          <a:prstGeom prst="roundRect">
            <a:avLst>
              <a:gd name="adj" fmla="val 3076"/>
            </a:avLst>
          </a:prstGeom>
          <a:solidFill>
            <a:srgbClr val="1F2937">
              <a:alpha val="7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5" name="Picture 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19200" y="2032000"/>
            <a:ext cx="304800" cy="304800"/>
          </a:xfrm>
          <a:prstGeom prst="rect">
            <a:avLst/>
          </a:prstGeom>
        </p:spPr>
      </p:pic>
      <p:sp>
        <p:nvSpPr>
          <p:cNvPr id="6" name="AutoShape 6"/>
          <p:cNvSpPr/>
          <p:nvPr/>
        </p:nvSpPr>
        <p:spPr>
          <a:xfrm>
            <a:off x="1625600" y="2044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老人A：低收入</a:t>
            </a:r>
            <a:endParaRPr lang="en-US" sz="1100"/>
          </a:p>
        </p:txBody>
      </p:sp>
      <p:cxnSp>
        <p:nvCxnSpPr>
          <p:cNvPr id="7" name="Connector 7"/>
          <p:cNvCxnSpPr/>
          <p:nvPr/>
        </p:nvCxnSpPr>
        <p:spPr>
          <a:xfrm rot="-15077">
            <a:off x="1219214" y="2482850"/>
            <a:ext cx="28956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8" name="AutoShape 8"/>
          <p:cNvSpPr/>
          <p:nvPr/>
        </p:nvSpPr>
        <p:spPr>
          <a:xfrm>
            <a:off x="1219200" y="26924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月收入: ~$2,467 澳元</a:t>
            </a:r>
            <a:endParaRPr lang="en-US" sz="1100"/>
          </a:p>
        </p:txBody>
      </p:sp>
      <p:sp>
        <p:nvSpPr>
          <p:cNvPr id="9" name="AutoShape 9"/>
          <p:cNvSpPr/>
          <p:nvPr/>
        </p:nvSpPr>
        <p:spPr>
          <a:xfrm>
            <a:off x="1219200" y="30988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养老院:</a:t>
            </a:r>
            <a:r>
              <a:rPr lang="en-US" sz="1400" b="1" i="0" u="none" strike="noStrike">
                <a:solidFill>
                  <a:srgbClr val="EF4444"/>
                </a:solidFill>
                <a:latin typeface="Noto Sans SC"/>
                <a:ea typeface="Noto Sans SC"/>
                <a:cs typeface="Noto Sans SC"/>
                <a:sym typeface="Noto Sans SC"/>
              </a:rPr>
              <a:t>$4,067-5,567</a:t>
            </a:r>
            <a:endParaRPr lang="en-US" sz="1100"/>
          </a:p>
        </p:txBody>
      </p:sp>
      <p:sp>
        <p:nvSpPr>
          <p:cNvPr id="10" name="AutoShape 10"/>
          <p:cNvSpPr/>
          <p:nvPr/>
        </p:nvSpPr>
        <p:spPr>
          <a:xfrm>
            <a:off x="1219200" y="35052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SAH居家护理:</a:t>
            </a:r>
            <a:r>
              <a:rPr lang="en-US" sz="1400" b="1" i="0" u="none" strike="noStrike">
                <a:solidFill>
                  <a:srgbClr val="22C55E"/>
                </a:solidFill>
                <a:latin typeface="Noto Sans SC"/>
                <a:ea typeface="Noto Sans SC"/>
                <a:cs typeface="Noto Sans SC"/>
                <a:sym typeface="Noto Sans SC"/>
              </a:rPr>
              <a:t>$225-450</a:t>
            </a:r>
            <a:endParaRPr lang="en-US" sz="1100"/>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19200" y="4038600"/>
            <a:ext cx="203200" cy="203200"/>
          </a:xfrm>
          <a:prstGeom prst="rect">
            <a:avLst/>
          </a:prstGeom>
        </p:spPr>
      </p:pic>
      <p:sp>
        <p:nvSpPr>
          <p:cNvPr id="12" name="AutoShape 12"/>
          <p:cNvSpPr/>
          <p:nvPr/>
        </p:nvSpPr>
        <p:spPr>
          <a:xfrm>
            <a:off x="1524000" y="4013200"/>
            <a:ext cx="25400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0" i="0" u="none" strike="noStrike">
                <a:solidFill>
                  <a:srgbClr val="FFD700"/>
                </a:solidFill>
                <a:latin typeface="Noto Sans SC"/>
                <a:ea typeface="Noto Sans SC"/>
                <a:cs typeface="Noto Sans SC"/>
                <a:sym typeface="Noto Sans SC"/>
              </a:rPr>
              <a:t>结论: 唯一可行的选择</a:t>
            </a:r>
            <a:endParaRPr lang="en-US" sz="1100"/>
          </a:p>
        </p:txBody>
      </p:sp>
      <p:sp>
        <p:nvSpPr>
          <p:cNvPr id="13" name="AutoShape 13"/>
          <p:cNvSpPr/>
          <p:nvPr/>
        </p:nvSpPr>
        <p:spPr>
          <a:xfrm>
            <a:off x="4445000" y="1828800"/>
            <a:ext cx="3302000" cy="3556000"/>
          </a:xfrm>
          <a:prstGeom prst="roundRect">
            <a:avLst>
              <a:gd name="adj" fmla="val 3076"/>
            </a:avLst>
          </a:prstGeom>
          <a:solidFill>
            <a:srgbClr val="1F2937">
              <a:alpha val="7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2032000"/>
            <a:ext cx="304800" cy="304800"/>
          </a:xfrm>
          <a:prstGeom prst="rect">
            <a:avLst/>
          </a:prstGeom>
        </p:spPr>
      </p:pic>
      <p:sp>
        <p:nvSpPr>
          <p:cNvPr id="15" name="AutoShape 15"/>
          <p:cNvSpPr/>
          <p:nvPr/>
        </p:nvSpPr>
        <p:spPr>
          <a:xfrm>
            <a:off x="5054600" y="2044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老人B：中等收入</a:t>
            </a:r>
            <a:endParaRPr lang="en-US" sz="1100"/>
          </a:p>
        </p:txBody>
      </p:sp>
      <p:cxnSp>
        <p:nvCxnSpPr>
          <p:cNvPr id="16" name="Connector 16"/>
          <p:cNvCxnSpPr/>
          <p:nvPr/>
        </p:nvCxnSpPr>
        <p:spPr>
          <a:xfrm rot="-15077">
            <a:off x="4648214" y="2482850"/>
            <a:ext cx="28956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17" name="AutoShape 17"/>
          <p:cNvSpPr/>
          <p:nvPr/>
        </p:nvSpPr>
        <p:spPr>
          <a:xfrm>
            <a:off x="4648200" y="26924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月收入: ~$2,000 澳元</a:t>
            </a:r>
            <a:endParaRPr lang="en-US" sz="1100"/>
          </a:p>
        </p:txBody>
      </p:sp>
      <p:sp>
        <p:nvSpPr>
          <p:cNvPr id="18" name="AutoShape 18"/>
          <p:cNvSpPr/>
          <p:nvPr/>
        </p:nvSpPr>
        <p:spPr>
          <a:xfrm>
            <a:off x="4648200" y="30988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养老院:</a:t>
            </a:r>
            <a:r>
              <a:rPr lang="en-US" sz="1400" b="1" i="0" u="none" strike="noStrike">
                <a:solidFill>
                  <a:srgbClr val="EF4444"/>
                </a:solidFill>
                <a:latin typeface="Noto Sans SC"/>
                <a:ea typeface="Noto Sans SC"/>
                <a:cs typeface="Noto Sans SC"/>
                <a:sym typeface="Noto Sans SC"/>
              </a:rPr>
              <a:t>$5,367-7,567</a:t>
            </a:r>
            <a:endParaRPr lang="en-US" sz="1100"/>
          </a:p>
        </p:txBody>
      </p:sp>
      <p:sp>
        <p:nvSpPr>
          <p:cNvPr id="19" name="AutoShape 19"/>
          <p:cNvSpPr/>
          <p:nvPr/>
        </p:nvSpPr>
        <p:spPr>
          <a:xfrm>
            <a:off x="4648200" y="35052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SAH居家护理:</a:t>
            </a:r>
            <a:r>
              <a:rPr lang="en-US" sz="1400" b="1" i="0" u="none" strike="noStrike">
                <a:solidFill>
                  <a:srgbClr val="22C55E"/>
                </a:solidFill>
                <a:latin typeface="Noto Sans SC"/>
                <a:ea typeface="Noto Sans SC"/>
                <a:cs typeface="Noto Sans SC"/>
                <a:sym typeface="Noto Sans SC"/>
              </a:rPr>
              <a:t>$1,008-1,745</a:t>
            </a:r>
            <a:endParaRPr lang="en-US" sz="1100"/>
          </a:p>
        </p:txBody>
      </p:sp>
      <p:pic>
        <p:nvPicPr>
          <p:cNvPr id="20" name="Picture 20"/>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48200" y="4038600"/>
            <a:ext cx="203200" cy="203200"/>
          </a:xfrm>
          <a:prstGeom prst="rect">
            <a:avLst/>
          </a:prstGeom>
        </p:spPr>
      </p:pic>
      <p:sp>
        <p:nvSpPr>
          <p:cNvPr id="21" name="AutoShape 21"/>
          <p:cNvSpPr/>
          <p:nvPr/>
        </p:nvSpPr>
        <p:spPr>
          <a:xfrm>
            <a:off x="4953000" y="4013200"/>
            <a:ext cx="25400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0" i="0" u="none" strike="noStrike">
                <a:solidFill>
                  <a:srgbClr val="FFD700"/>
                </a:solidFill>
                <a:latin typeface="Noto Sans SC"/>
                <a:ea typeface="Noto Sans SC"/>
                <a:cs typeface="Noto Sans SC"/>
                <a:sym typeface="Noto Sans SC"/>
              </a:rPr>
              <a:t>结论: 财务压力小，更优选择</a:t>
            </a:r>
            <a:endParaRPr lang="en-US" sz="1100"/>
          </a:p>
        </p:txBody>
      </p:sp>
      <p:sp>
        <p:nvSpPr>
          <p:cNvPr id="22" name="AutoShape 22"/>
          <p:cNvSpPr/>
          <p:nvPr/>
        </p:nvSpPr>
        <p:spPr>
          <a:xfrm>
            <a:off x="7874000" y="1828800"/>
            <a:ext cx="3302000" cy="3556000"/>
          </a:xfrm>
          <a:prstGeom prst="roundRect">
            <a:avLst>
              <a:gd name="adj" fmla="val 3076"/>
            </a:avLst>
          </a:prstGeom>
          <a:solidFill>
            <a:srgbClr val="1F2937">
              <a:alpha val="70000"/>
            </a:srgbClr>
          </a:solidFill>
          <a:ln w="12700" cap="flat" cmpd="sng">
            <a:solidFill>
              <a:srgbClr val="00FFFF">
                <a:alpha val="100000"/>
              </a:srgbClr>
            </a:solidFill>
            <a:prstDash val="solid"/>
            <a:round/>
          </a:ln>
        </p:spPr>
        <p:txBody>
          <a:bodyPr vert="horz" wrap="square" lIns="63500" tIns="63500" rIns="63500" bIns="63500" rtlCol="0" anchor="ctr"/>
          <a:lstStyle/>
          <a:p>
            <a:pPr algn="ctr">
              <a:defRPr/>
            </a:pPr>
            <a:endParaRPr/>
          </a:p>
        </p:txBody>
      </p:sp>
      <p:pic>
        <p:nvPicPr>
          <p:cNvPr id="23" name="Picture 2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8077200" y="2032000"/>
            <a:ext cx="304800" cy="304800"/>
          </a:xfrm>
          <a:prstGeom prst="rect">
            <a:avLst/>
          </a:prstGeom>
        </p:spPr>
      </p:pic>
      <p:sp>
        <p:nvSpPr>
          <p:cNvPr id="24" name="AutoShape 24"/>
          <p:cNvSpPr/>
          <p:nvPr/>
        </p:nvSpPr>
        <p:spPr>
          <a:xfrm>
            <a:off x="8483600" y="20447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老人C：高收入</a:t>
            </a:r>
            <a:endParaRPr lang="en-US" sz="1100"/>
          </a:p>
        </p:txBody>
      </p:sp>
      <p:cxnSp>
        <p:nvCxnSpPr>
          <p:cNvPr id="25" name="Connector 25"/>
          <p:cNvCxnSpPr/>
          <p:nvPr/>
        </p:nvCxnSpPr>
        <p:spPr>
          <a:xfrm rot="-15077">
            <a:off x="8077214" y="2482850"/>
            <a:ext cx="2895600" cy="12700"/>
          </a:xfrm>
          <a:prstGeom prst="straightConnector1">
            <a:avLst/>
          </a:prstGeom>
          <a:solidFill>
            <a:srgbClr val="DEE0E3">
              <a:alpha val="100000"/>
            </a:srgbClr>
          </a:solidFill>
          <a:ln w="12700" cap="flat" cmpd="sng">
            <a:solidFill>
              <a:srgbClr val="FFFFFF">
                <a:alpha val="10000"/>
              </a:srgbClr>
            </a:solidFill>
            <a:prstDash val="solid"/>
            <a:round/>
            <a:headEnd type="none" w="med" len="med"/>
            <a:tailEnd type="none" w="med" len="med"/>
          </a:ln>
        </p:spPr>
      </p:cxnSp>
      <p:sp>
        <p:nvSpPr>
          <p:cNvPr id="26" name="AutoShape 26"/>
          <p:cNvSpPr/>
          <p:nvPr/>
        </p:nvSpPr>
        <p:spPr>
          <a:xfrm>
            <a:off x="8077200" y="26924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月收入: ~$7,000 澳元</a:t>
            </a:r>
            <a:endParaRPr lang="en-US" sz="1100"/>
          </a:p>
        </p:txBody>
      </p:sp>
      <p:sp>
        <p:nvSpPr>
          <p:cNvPr id="27" name="AutoShape 27"/>
          <p:cNvSpPr/>
          <p:nvPr/>
        </p:nvSpPr>
        <p:spPr>
          <a:xfrm>
            <a:off x="8077200" y="30988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养老院:</a:t>
            </a:r>
            <a:r>
              <a:rPr lang="en-US" sz="1400" b="1" i="0" u="none" strike="noStrike">
                <a:solidFill>
                  <a:srgbClr val="F97316"/>
                </a:solidFill>
                <a:latin typeface="Noto Sans SC"/>
                <a:ea typeface="Noto Sans SC"/>
                <a:cs typeface="Noto Sans SC"/>
                <a:sym typeface="Noto Sans SC"/>
              </a:rPr>
              <a:t>$6,567-8,067</a:t>
            </a:r>
            <a:endParaRPr lang="en-US" sz="1100"/>
          </a:p>
        </p:txBody>
      </p:sp>
      <p:sp>
        <p:nvSpPr>
          <p:cNvPr id="28" name="AutoShape 28"/>
          <p:cNvSpPr/>
          <p:nvPr/>
        </p:nvSpPr>
        <p:spPr>
          <a:xfrm>
            <a:off x="8077200" y="3505200"/>
            <a:ext cx="2895600" cy="2540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400" b="0" i="0" u="none" strike="noStrike">
                <a:solidFill>
                  <a:srgbClr val="D1D5DB"/>
                </a:solidFill>
                <a:latin typeface="Noto Sans SC"/>
                <a:ea typeface="Noto Sans SC"/>
                <a:cs typeface="Noto Sans SC"/>
                <a:sym typeface="Noto Sans SC"/>
              </a:rPr>
              <a:t>SAH居家护理:</a:t>
            </a:r>
            <a:r>
              <a:rPr lang="en-US" sz="1400" b="1" i="0" u="none" strike="noStrike">
                <a:solidFill>
                  <a:srgbClr val="22C55E"/>
                </a:solidFill>
                <a:latin typeface="Noto Sans SC"/>
                <a:ea typeface="Noto Sans SC"/>
                <a:cs typeface="Noto Sans SC"/>
                <a:sym typeface="Noto Sans SC"/>
              </a:rPr>
              <a:t>$2,650-3,950</a:t>
            </a:r>
            <a:endParaRPr lang="en-US" sz="1100"/>
          </a:p>
        </p:txBody>
      </p:sp>
      <p:pic>
        <p:nvPicPr>
          <p:cNvPr id="29" name="Picture 2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077200" y="4038600"/>
            <a:ext cx="203200" cy="203200"/>
          </a:xfrm>
          <a:prstGeom prst="rect">
            <a:avLst/>
          </a:prstGeom>
        </p:spPr>
      </p:pic>
      <p:sp>
        <p:nvSpPr>
          <p:cNvPr id="30" name="AutoShape 30"/>
          <p:cNvSpPr/>
          <p:nvPr/>
        </p:nvSpPr>
        <p:spPr>
          <a:xfrm>
            <a:off x="8382000" y="4013200"/>
            <a:ext cx="2540000" cy="508000"/>
          </a:xfrm>
          <a:prstGeom prst="rect">
            <a:avLst/>
          </a:prstGeom>
          <a:noFill/>
          <a:ln w="12700" cap="flat" cmpd="sng">
            <a:noFill/>
            <a:prstDash val="solid"/>
            <a:round/>
          </a:ln>
        </p:spPr>
        <p:txBody>
          <a:bodyPr vert="horz" wrap="square" lIns="0" tIns="0" rIns="0" bIns="0" rtlCol="0" anchor="t" anchorCtr="0"/>
          <a:lstStyle/>
          <a:p>
            <a:pPr indent="0" algn="l">
              <a:lnSpc>
                <a:spcPct val="108333"/>
              </a:lnSpc>
              <a:defRPr/>
            </a:pPr>
            <a:r>
              <a:rPr lang="en-US" sz="1400" b="0" i="0" u="none" strike="noStrike">
                <a:solidFill>
                  <a:srgbClr val="FFD700"/>
                </a:solidFill>
                <a:latin typeface="Noto Sans SC"/>
                <a:ea typeface="Noto Sans SC"/>
                <a:cs typeface="Noto Sans SC"/>
                <a:sym typeface="Noto Sans SC"/>
              </a:rPr>
              <a:t>结论: 享受高端服务，生活更舒适</a:t>
            </a:r>
            <a:endParaRPr lang="en-US" sz="1100"/>
          </a:p>
        </p:txBody>
      </p:sp>
      <p:sp>
        <p:nvSpPr>
          <p:cNvPr id="31" name="AutoShape 31"/>
          <p:cNvSpPr/>
          <p:nvPr/>
        </p:nvSpPr>
        <p:spPr>
          <a:xfrm>
            <a:off x="1016000" y="5689600"/>
            <a:ext cx="10160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D1D5DB"/>
                </a:solidFill>
                <a:latin typeface="Noto Sans SC"/>
                <a:ea typeface="Noto Sans SC"/>
                <a:cs typeface="Noto Sans SC"/>
                <a:sym typeface="Noto Sans SC"/>
              </a:rPr>
              <a:t>结论：无论收入水平如何，SAH居家护理在经济成本和生活品质上均展现出显著优势。</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827">
            <a:alpha val="100000"/>
          </a:srgbClr>
        </a:solidFill>
        <a:effectLst/>
      </p:bgPr>
    </p:bg>
    <p:spTree>
      <p:nvGrpSpPr>
        <p:cNvPr id="1" name=""/>
        <p:cNvGrpSpPr/>
        <p:nvPr/>
      </p:nvGrpSpPr>
      <p:grpSpPr>
        <a:xfrm>
          <a:off x="0" y="0"/>
          <a:ext cx="0" cy="0"/>
          <a:chOff x="0" y="0"/>
          <a:chExt cx="0" cy="0"/>
        </a:xfrm>
      </p:grpSpPr>
      <p:pic>
        <p:nvPicPr>
          <p:cNvPr id="2" name="Picture 2"/>
          <p:cNvPicPr>
            <a:picLocks noChangeAspect="1"/>
          </p:cNvPicPr>
          <p:nvPr/>
        </p:nvPicPr>
        <p:blipFill>
          <a:blip r:embed="rId3">
            <a:alphaModFix amt="30000"/>
          </a:blip>
          <a:srcRect/>
          <a:stretch>
            <a:fillRect/>
          </a:stretch>
        </p:blipFill>
        <p:spPr>
          <a:xfrm>
            <a:off x="0" y="0"/>
            <a:ext cx="12192000" cy="6858000"/>
          </a:xfrm>
          <a:prstGeom prst="rect">
            <a:avLst/>
          </a:prstGeom>
          <a:noFill/>
          <a:ln w="25400" cap="flat" cmpd="sng">
            <a:noFill/>
            <a:prstDash val="solid"/>
            <a:round/>
          </a:ln>
        </p:spPr>
      </p:pic>
      <p:sp>
        <p:nvSpPr>
          <p:cNvPr id="3" name="AutoShape 3"/>
          <p:cNvSpPr/>
          <p:nvPr/>
        </p:nvSpPr>
        <p:spPr>
          <a:xfrm>
            <a:off x="0" y="0"/>
            <a:ext cx="12192000" cy="6858000"/>
          </a:xfrm>
          <a:prstGeom prst="roundRect">
            <a:avLst>
              <a:gd name="adj" fmla="val 0"/>
            </a:avLst>
          </a:prstGeom>
          <a:solidFill>
            <a:srgbClr val="111827">
              <a:alpha val="60000"/>
            </a:srgbClr>
          </a:solidFill>
          <a:ln w="25400" cap="flat" cmpd="sng">
            <a:noFill/>
            <a:prstDash val="solid"/>
            <a:round/>
          </a:ln>
        </p:spPr>
        <p:txBody>
          <a:bodyPr vert="horz" wrap="square" lIns="63500" tIns="63500" rIns="63500" bIns="63500" rtlCol="0" anchor="ctr"/>
          <a:lstStyle/>
          <a:p>
            <a:pPr algn="ctr">
              <a:defRPr/>
            </a:pPr>
            <a:endParaRPr/>
          </a:p>
        </p:txBody>
      </p:sp>
      <p:sp>
        <p:nvSpPr>
          <p:cNvPr id="4" name="AutoShape 4"/>
          <p:cNvSpPr/>
          <p:nvPr/>
        </p:nvSpPr>
        <p:spPr>
          <a:xfrm>
            <a:off x="1016000" y="762000"/>
            <a:ext cx="8890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000" b="1" i="0" u="none" strike="noStrike">
                <a:solidFill>
                  <a:srgbClr val="FFFFFF"/>
                </a:solidFill>
                <a:latin typeface="Noto Sans SC"/>
                <a:ea typeface="Noto Sans SC"/>
                <a:cs typeface="Noto Sans SC"/>
                <a:sym typeface="Noto Sans SC"/>
              </a:rPr>
              <a:t>商业洞察：市场机遇与挑战</a:t>
            </a:r>
            <a:endParaRPr lang="en-US" sz="1100"/>
          </a:p>
        </p:txBody>
      </p:sp>
      <p:cxnSp>
        <p:nvCxnSpPr>
          <p:cNvPr id="5" name="Connector 5"/>
          <p:cNvCxnSpPr/>
          <p:nvPr/>
        </p:nvCxnSpPr>
        <p:spPr>
          <a:xfrm rot="-4297">
            <a:off x="1016004" y="1517650"/>
            <a:ext cx="10160000" cy="12700"/>
          </a:xfrm>
          <a:prstGeom prst="straightConnector1">
            <a:avLst/>
          </a:prstGeom>
          <a:solidFill>
            <a:srgbClr val="DEE0E3">
              <a:alpha val="100000"/>
            </a:srgbClr>
          </a:solidFill>
          <a:ln w="12700" cap="flat" cmpd="sng">
            <a:solidFill>
              <a:srgbClr val="00FFFF">
                <a:alpha val="40000"/>
              </a:srgbClr>
            </a:solidFill>
            <a:prstDash val="solid"/>
            <a:round/>
            <a:headEnd type="none" w="med" len="med"/>
            <a:tailEnd type="none" w="med" len="med"/>
          </a:ln>
        </p:spPr>
      </p:cxnSp>
      <p:sp>
        <p:nvSpPr>
          <p:cNvPr id="6" name="AutoShape 6"/>
          <p:cNvSpPr/>
          <p:nvPr/>
        </p:nvSpPr>
        <p:spPr>
          <a:xfrm>
            <a:off x="1016000" y="1905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0FFFF"/>
                </a:solidFill>
                <a:latin typeface="Noto Sans SC"/>
                <a:ea typeface="Noto Sans SC"/>
                <a:cs typeface="Noto Sans SC"/>
                <a:sym typeface="Noto Sans SC"/>
              </a:rPr>
              <a:t>市场机遇</a:t>
            </a:r>
            <a:endParaRPr lang="en-US" sz="1100"/>
          </a:p>
        </p:txBody>
      </p:sp>
      <p:pic>
        <p:nvPicPr>
          <p:cNvPr id="7" name="Picture 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16000" y="2413000"/>
            <a:ext cx="304800" cy="304800"/>
          </a:xfrm>
          <a:prstGeom prst="rect">
            <a:avLst/>
          </a:prstGeom>
        </p:spPr>
      </p:pic>
      <p:sp>
        <p:nvSpPr>
          <p:cNvPr id="8" name="AutoShape 8"/>
          <p:cNvSpPr/>
          <p:nvPr/>
        </p:nvSpPr>
        <p:spPr>
          <a:xfrm>
            <a:off x="1524000" y="2425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居家化趋势</a:t>
            </a:r>
            <a:endParaRPr lang="en-US" sz="1100"/>
          </a:p>
        </p:txBody>
      </p:sp>
      <p:sp>
        <p:nvSpPr>
          <p:cNvPr id="9" name="AutoShape 9"/>
          <p:cNvSpPr/>
          <p:nvPr/>
        </p:nvSpPr>
        <p:spPr>
          <a:xfrm>
            <a:off x="1524000" y="2768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市场增长率(8.2%)远高于养老院(3.5%)，是未来蓝海。</a:t>
            </a:r>
            <a:endParaRPr lang="en-US" sz="1100"/>
          </a:p>
        </p:txBody>
      </p:sp>
      <p:pic>
        <p:nvPicPr>
          <p:cNvPr id="10" name="Picture 10"/>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16000" y="3429000"/>
            <a:ext cx="304800" cy="304800"/>
          </a:xfrm>
          <a:prstGeom prst="rect">
            <a:avLst/>
          </a:prstGeom>
        </p:spPr>
      </p:pic>
      <p:sp>
        <p:nvSpPr>
          <p:cNvPr id="11" name="AutoShape 11"/>
          <p:cNvSpPr/>
          <p:nvPr/>
        </p:nvSpPr>
        <p:spPr>
          <a:xfrm>
            <a:off x="1524000" y="3441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政策支持</a:t>
            </a:r>
            <a:endParaRPr lang="en-US" sz="1100"/>
          </a:p>
        </p:txBody>
      </p:sp>
      <p:sp>
        <p:nvSpPr>
          <p:cNvPr id="12" name="AutoShape 12"/>
          <p:cNvSpPr/>
          <p:nvPr/>
        </p:nvSpPr>
        <p:spPr>
          <a:xfrm>
            <a:off x="1524000" y="3784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SAH计划提供充足补贴，临床服务100%报销，现金流稳定。</a:t>
            </a:r>
            <a:endParaRPr lang="en-US" sz="1100"/>
          </a:p>
        </p:txBody>
      </p:sp>
      <p:pic>
        <p:nvPicPr>
          <p:cNvPr id="13" name="Picture 13"/>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016000" y="4445000"/>
            <a:ext cx="304800" cy="304800"/>
          </a:xfrm>
          <a:prstGeom prst="rect">
            <a:avLst/>
          </a:prstGeom>
        </p:spPr>
      </p:pic>
      <p:sp>
        <p:nvSpPr>
          <p:cNvPr id="14" name="AutoShape 14"/>
          <p:cNvSpPr/>
          <p:nvPr/>
        </p:nvSpPr>
        <p:spPr>
          <a:xfrm>
            <a:off x="1524000" y="4457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成本优势</a:t>
            </a:r>
            <a:endParaRPr lang="en-US" sz="1100"/>
          </a:p>
        </p:txBody>
      </p:sp>
      <p:sp>
        <p:nvSpPr>
          <p:cNvPr id="15" name="AutoShape 15"/>
          <p:cNvSpPr/>
          <p:nvPr/>
        </p:nvSpPr>
        <p:spPr>
          <a:xfrm>
            <a:off x="1524000" y="4800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人力与运营成本更低，利润空间更大。</a:t>
            </a:r>
            <a:endParaRPr lang="en-US" sz="1100"/>
          </a:p>
        </p:txBody>
      </p:sp>
      <p:pic>
        <p:nvPicPr>
          <p:cNvPr id="16" name="Picture 16"/>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1016000" y="5461000"/>
            <a:ext cx="304800" cy="304800"/>
          </a:xfrm>
          <a:prstGeom prst="rect">
            <a:avLst/>
          </a:prstGeom>
        </p:spPr>
      </p:pic>
      <p:sp>
        <p:nvSpPr>
          <p:cNvPr id="17" name="AutoShape 17"/>
          <p:cNvSpPr/>
          <p:nvPr/>
        </p:nvSpPr>
        <p:spPr>
          <a:xfrm>
            <a:off x="1524000" y="5473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服务创新</a:t>
            </a:r>
            <a:endParaRPr lang="en-US" sz="1100"/>
          </a:p>
        </p:txBody>
      </p:sp>
      <p:sp>
        <p:nvSpPr>
          <p:cNvPr id="18" name="AutoShape 18"/>
          <p:cNvSpPr/>
          <p:nvPr/>
        </p:nvSpPr>
        <p:spPr>
          <a:xfrm>
            <a:off x="1524000" y="5816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可开发高端增值服务，提升品牌溢价。</a:t>
            </a:r>
            <a:endParaRPr lang="en-US" sz="1100"/>
          </a:p>
        </p:txBody>
      </p:sp>
      <p:cxnSp>
        <p:nvCxnSpPr>
          <p:cNvPr id="19" name="Connector 19"/>
          <p:cNvCxnSpPr/>
          <p:nvPr/>
        </p:nvCxnSpPr>
        <p:spPr>
          <a:xfrm rot="5389582">
            <a:off x="4000500" y="3994160"/>
            <a:ext cx="4191000" cy="12700"/>
          </a:xfrm>
          <a:prstGeom prst="straightConnector1">
            <a:avLst/>
          </a:prstGeom>
          <a:solidFill>
            <a:srgbClr val="DEE0E3">
              <a:alpha val="100000"/>
            </a:srgbClr>
          </a:solidFill>
          <a:ln w="12700" cap="flat" cmpd="sng">
            <a:solidFill>
              <a:srgbClr val="FFFFFF">
                <a:alpha val="20000"/>
              </a:srgbClr>
            </a:solidFill>
            <a:prstDash val="dash"/>
            <a:round/>
            <a:headEnd type="none" w="med" len="med"/>
            <a:tailEnd type="none" w="med" len="med"/>
          </a:ln>
        </p:spPr>
      </p:cxnSp>
      <p:sp>
        <p:nvSpPr>
          <p:cNvPr id="20" name="AutoShape 20"/>
          <p:cNvSpPr/>
          <p:nvPr/>
        </p:nvSpPr>
        <p:spPr>
          <a:xfrm>
            <a:off x="6604000" y="1905000"/>
            <a:ext cx="508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D700"/>
                </a:solidFill>
                <a:latin typeface="Noto Sans SC"/>
                <a:ea typeface="Noto Sans SC"/>
                <a:cs typeface="Noto Sans SC"/>
                <a:sym typeface="Noto Sans SC"/>
              </a:rPr>
              <a:t>市场挑战</a:t>
            </a:r>
            <a:endParaRPr lang="en-US" sz="1100"/>
          </a:p>
        </p:txBody>
      </p:sp>
      <p:pic>
        <p:nvPicPr>
          <p:cNvPr id="21" name="Picture 2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04000" y="2413000"/>
            <a:ext cx="304800" cy="304800"/>
          </a:xfrm>
          <a:prstGeom prst="rect">
            <a:avLst/>
          </a:prstGeom>
        </p:spPr>
      </p:pic>
      <p:sp>
        <p:nvSpPr>
          <p:cNvPr id="22" name="AutoShape 22"/>
          <p:cNvSpPr/>
          <p:nvPr/>
        </p:nvSpPr>
        <p:spPr>
          <a:xfrm>
            <a:off x="7112000" y="2425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资质门槛</a:t>
            </a:r>
            <a:endParaRPr lang="en-US" sz="1100"/>
          </a:p>
        </p:txBody>
      </p:sp>
      <p:sp>
        <p:nvSpPr>
          <p:cNvPr id="23" name="AutoShape 23"/>
          <p:cNvSpPr/>
          <p:nvPr/>
        </p:nvSpPr>
        <p:spPr>
          <a:xfrm>
            <a:off x="7112000" y="2768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需获My Aged Care认证和TGA注册，合规要求高。</a:t>
            </a:r>
            <a:endParaRPr lang="en-US" sz="1100"/>
          </a:p>
        </p:txBody>
      </p:sp>
      <p:pic>
        <p:nvPicPr>
          <p:cNvPr id="24" name="Picture 24"/>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6604000" y="3429000"/>
            <a:ext cx="304800" cy="304800"/>
          </a:xfrm>
          <a:prstGeom prst="rect">
            <a:avLst/>
          </a:prstGeom>
        </p:spPr>
      </p:pic>
      <p:sp>
        <p:nvSpPr>
          <p:cNvPr id="25" name="AutoShape 25"/>
          <p:cNvSpPr/>
          <p:nvPr/>
        </p:nvSpPr>
        <p:spPr>
          <a:xfrm>
            <a:off x="7112000" y="3441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竞争激烈</a:t>
            </a:r>
            <a:endParaRPr lang="en-US" sz="1100"/>
          </a:p>
        </p:txBody>
      </p:sp>
      <p:sp>
        <p:nvSpPr>
          <p:cNvPr id="26" name="AutoShape 26"/>
          <p:cNvSpPr/>
          <p:nvPr/>
        </p:nvSpPr>
        <p:spPr>
          <a:xfrm>
            <a:off x="7112000" y="3784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市场参与者众多，需差异化服务和高效运营。</a:t>
            </a:r>
            <a:endParaRPr lang="en-US" sz="1100"/>
          </a:p>
        </p:txBody>
      </p:sp>
      <p:pic>
        <p:nvPicPr>
          <p:cNvPr id="27" name="Picture 27"/>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6604000" y="4445000"/>
            <a:ext cx="304800" cy="304800"/>
          </a:xfrm>
          <a:prstGeom prst="rect">
            <a:avLst/>
          </a:prstGeom>
        </p:spPr>
      </p:pic>
      <p:sp>
        <p:nvSpPr>
          <p:cNvPr id="28" name="AutoShape 28"/>
          <p:cNvSpPr/>
          <p:nvPr/>
        </p:nvSpPr>
        <p:spPr>
          <a:xfrm>
            <a:off x="7112000" y="4457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人力短缺</a:t>
            </a:r>
            <a:endParaRPr lang="en-US" sz="1100"/>
          </a:p>
        </p:txBody>
      </p:sp>
      <p:sp>
        <p:nvSpPr>
          <p:cNvPr id="29" name="AutoShape 29"/>
          <p:cNvSpPr/>
          <p:nvPr/>
        </p:nvSpPr>
        <p:spPr>
          <a:xfrm>
            <a:off x="7112000" y="4800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护理人员短缺，招聘和 retention 成本高。</a:t>
            </a:r>
            <a:endParaRPr lang="en-US" sz="1100"/>
          </a:p>
        </p:txBody>
      </p:sp>
      <p:pic>
        <p:nvPicPr>
          <p:cNvPr id="30" name="Picture 30"/>
          <p:cNvPicPr>
            <a:picLocks noChangeAspect="1"/>
          </p:cNvPicPr>
          <p:nvPr/>
        </p:nvPicPr>
        <p:blipFill>
          <a:blip r:embed="rId18">
            <a:extLst>
              <a:ext uri="{28A0092B-C50C-407E-A947-70E740481C1C}">
                <a14:useLocalDpi xmlns:a14="http://schemas.microsoft.com/office/drawing/2010/main" val="0"/>
              </a:ext>
              <a:ext uri="{96DAC541-7B7A-43D3-8B79-37D633B846F1}">
                <asvg:svgBlip xmlns:asvg="http://schemas.microsoft.com/office/drawing/2016/SVG/main" r:embed="rId19"/>
              </a:ext>
            </a:extLst>
          </a:blip>
          <a:stretch>
            <a:fillRect/>
          </a:stretch>
        </p:blipFill>
        <p:spPr>
          <a:xfrm>
            <a:off x="6604000" y="5461000"/>
            <a:ext cx="304800" cy="304800"/>
          </a:xfrm>
          <a:prstGeom prst="rect">
            <a:avLst/>
          </a:prstGeom>
        </p:spPr>
      </p:pic>
      <p:sp>
        <p:nvSpPr>
          <p:cNvPr id="31" name="AutoShape 31"/>
          <p:cNvSpPr/>
          <p:nvPr/>
        </p:nvSpPr>
        <p:spPr>
          <a:xfrm>
            <a:off x="7112000" y="5473700"/>
            <a:ext cx="4572000" cy="279400"/>
          </a:xfrm>
          <a:prstGeom prst="rect">
            <a:avLst/>
          </a:prstGeom>
          <a:noFill/>
          <a:ln w="12700" cap="flat" cmpd="sng">
            <a:noFill/>
            <a:prstDash val="solid"/>
            <a:round/>
          </a:ln>
        </p:spPr>
        <p:txBody>
          <a:bodyPr vert="horz" wrap="square" lIns="0" tIns="0" rIns="0" bIns="0" rtlCol="0" anchor="t"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技术投入</a:t>
            </a:r>
            <a:endParaRPr lang="en-US" sz="1100"/>
          </a:p>
        </p:txBody>
      </p:sp>
      <p:sp>
        <p:nvSpPr>
          <p:cNvPr id="32" name="AutoShape 32"/>
          <p:cNvSpPr/>
          <p:nvPr/>
        </p:nvSpPr>
        <p:spPr>
          <a:xfrm>
            <a:off x="7112000" y="5816600"/>
            <a:ext cx="4572000" cy="508000"/>
          </a:xfrm>
          <a:prstGeom prst="rect">
            <a:avLst/>
          </a:prstGeom>
          <a:noFill/>
          <a:ln w="12700" cap="flat" cmpd="sng">
            <a:noFill/>
            <a:prstDash val="solid"/>
            <a:round/>
          </a:ln>
        </p:spPr>
        <p:txBody>
          <a:bodyPr vert="horz" wrap="square" lIns="0" tIns="0" rIns="0" bIns="0" rtlCol="0" anchor="t" anchorCtr="0"/>
          <a:lstStyle/>
          <a:p>
            <a:pPr indent="0" algn="l">
              <a:lnSpc>
                <a:spcPct val="116666"/>
              </a:lnSpc>
              <a:defRPr/>
            </a:pPr>
            <a:r>
              <a:rPr lang="en-US" sz="1400" b="0" i="0" u="none" strike="noStrike">
                <a:solidFill>
                  <a:srgbClr val="D1D5DB"/>
                </a:solidFill>
                <a:latin typeface="Noto Sans SC"/>
                <a:ea typeface="Noto Sans SC"/>
                <a:cs typeface="Noto Sans SC"/>
                <a:sym typeface="Noto Sans SC"/>
              </a:rPr>
              <a:t>需投入建设数字化平台，满足记录与报销要求。</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00000">
              <a:alpha val="40000"/>
            </a:srgbClr>
          </a:solidFill>
          <a:ln w="25400" cap="flat" cmpd="sng">
            <a:noFill/>
            <a:prstDash val="solid"/>
            <a:round/>
          </a:ln>
        </p:spPr>
        <p:txBody>
          <a:bodyPr vert="horz" wrap="square" lIns="63500" tIns="63500" rIns="63500" bIns="63500" rtlCol="0" anchor="ctr"/>
          <a:lstStyle/>
          <a:p>
            <a:pPr algn="ctr">
              <a:defRPr/>
            </a:pPr>
            <a:endParaRPr/>
          </a:p>
        </p:txBody>
      </p:sp>
      <p:sp>
        <p:nvSpPr>
          <p:cNvPr id="3" name="AutoShape 3"/>
          <p:cNvSpPr/>
          <p:nvPr/>
        </p:nvSpPr>
        <p:spPr>
          <a:xfrm>
            <a:off x="2286000" y="2413000"/>
            <a:ext cx="7620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FFFFFF"/>
                </a:solidFill>
                <a:latin typeface="Noto Sans SC"/>
                <a:ea typeface="Noto Sans SC"/>
                <a:cs typeface="Noto Sans SC"/>
                <a:sym typeface="Noto Sans SC"/>
              </a:rPr>
              <a:t>Q&amp;A</a:t>
            </a:r>
            <a:endParaRPr lang="en-US" sz="1100"/>
          </a:p>
        </p:txBody>
      </p:sp>
      <p:cxnSp>
        <p:nvCxnSpPr>
          <p:cNvPr id="4" name="Connector 4"/>
          <p:cNvCxnSpPr/>
          <p:nvPr/>
        </p:nvCxnSpPr>
        <p:spPr>
          <a:xfrm rot="-34376">
            <a:off x="5461032" y="3549650"/>
            <a:ext cx="1270000" cy="12700"/>
          </a:xfrm>
          <a:prstGeom prst="straightConnector1">
            <a:avLst/>
          </a:prstGeom>
          <a:solidFill>
            <a:srgbClr val="DEE0E3">
              <a:alpha val="100000"/>
            </a:srgbClr>
          </a:solidFill>
          <a:ln w="25400" cap="flat" cmpd="sng">
            <a:solidFill>
              <a:srgbClr val="00FFFF">
                <a:alpha val="100000"/>
              </a:srgbClr>
            </a:solidFill>
            <a:prstDash val="solid"/>
            <a:round/>
            <a:headEnd type="none" w="lg" len="lg"/>
            <a:tailEnd type="none" w="lg" len="lg"/>
          </a:ln>
        </p:spPr>
      </p:cxnSp>
      <p:sp>
        <p:nvSpPr>
          <p:cNvPr id="5" name="AutoShape 5"/>
          <p:cNvSpPr/>
          <p:nvPr/>
        </p:nvSpPr>
        <p:spPr>
          <a:xfrm>
            <a:off x="2286000" y="3810000"/>
            <a:ext cx="762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E5E7EB"/>
                </a:solidFill>
                <a:latin typeface="Noto Sans SC"/>
                <a:ea typeface="Noto Sans SC"/>
                <a:cs typeface="Noto Sans SC"/>
                <a:sym typeface="Noto Sans SC"/>
              </a:rPr>
              <a:t>欢迎提问 / WELCOME TO ASK QUESTIONS</a:t>
            </a:r>
            <a:endParaRPr lang="en-US" sz="1100"/>
          </a:p>
        </p:txBody>
      </p:sp>
      <p:pic>
        <p:nvPicPr>
          <p:cNvPr id="6" name="Picture 6"/>
          <p:cNvPicPr>
            <a:picLocks noChangeAspect="1"/>
          </p:cNvPicPr>
          <p:nvPr/>
        </p:nvPicPr>
        <p:blipFill>
          <a:blip r:embed="rId3"/>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662</Words>
  <Application>Microsoft Office PowerPoint</Application>
  <PresentationFormat>宽屏</PresentationFormat>
  <Paragraphs>144</Paragraphs>
  <Slides>9</Slides>
  <Notes>9</Notes>
  <HiddenSlides>0</HiddenSlides>
  <MMClips>0</MMClips>
  <ScaleCrop>false</ScaleCrop>
  <HeadingPairs>
    <vt:vector size="6" baseType="variant">
      <vt:variant>
        <vt:lpstr>已用的字体</vt:lpstr>
      </vt:variant>
      <vt:variant>
        <vt:i4>2</vt:i4>
      </vt:variant>
      <vt:variant>
        <vt:lpstr>主题</vt:lpstr>
      </vt:variant>
      <vt:variant>
        <vt:i4>2</vt:i4>
      </vt:variant>
      <vt:variant>
        <vt:lpstr>幻灯片标题</vt:lpstr>
      </vt:variant>
      <vt:variant>
        <vt:i4>9</vt:i4>
      </vt:variant>
    </vt:vector>
  </HeadingPairs>
  <TitlesOfParts>
    <vt:vector size="13" baseType="lpstr">
      <vt:lpstr>Noto Sans SC</vt:lpstr>
      <vt:lpstr>Arial</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Alex Lu</cp:lastModifiedBy>
  <cp:revision>1</cp:revision>
  <dcterms:modified xsi:type="dcterms:W3CDTF">2026-01-23T02:23:12Z</dcterms:modified>
</cp:coreProperties>
</file>