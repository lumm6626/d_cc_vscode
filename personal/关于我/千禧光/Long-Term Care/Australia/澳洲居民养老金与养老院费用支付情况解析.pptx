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notesSlides/notesSlide1.xml" Type="http://schemas.openxmlformats.org/officeDocument/2006/relationships/notesSlide"/><Relationship Id="rId24" Target="notesSlides/notesSlide2.xml" Type="http://schemas.openxmlformats.org/officeDocument/2006/relationships/notesSlide"/><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presProps.xml" Type="http://schemas.openxmlformats.org/officeDocument/2006/relationships/pres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33" Target="notesSlides/notesSlide11.xml" Type="http://schemas.openxmlformats.org/officeDocument/2006/relationships/notesSlide"/><Relationship Id="rId34" Target="notesSlides/notesSlide12.xml" Type="http://schemas.openxmlformats.org/officeDocument/2006/relationships/notesSlide"/><Relationship Id="rId35" Target="notesSlides/notesSlide13.xml" Type="http://schemas.openxmlformats.org/officeDocument/2006/relationships/notesSlide"/><Relationship Id="rId36" Target="notesSlides/notesSlide14.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大家好，今天我将为大家解析澳洲居民的养老金体系以及养老院费用的支付情况。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首先，我们来了解一下澳洲养老金体系的基本构成。它主要分为政府养老金和超级年金两大部分，这两者在性质、资金来源和领取方式上都有很大的不同。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详细看一下政府养老金。这是一种社会福利，由政府税收支持，主要保障低收入退休人群的基本生活。领取金额会根据个人的收入和资产情况进行调整，并且在入住养老院时，大部分会用于支付基础费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与政府养老金不同，超级年金是一种强制储蓄，相当于我们的个人退休账户。雇主和个人都会往里面存钱，到了退休年龄，这笔钱就可以取出来用，非常灵活，可以一次性拿，也可以按月拿，是支付养老院费用的重要补充来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当一个人需要进入养老院或接受居家护理时，具体的流程是怎样的呢？简单来说，主要分为申请、评估、选择、缴费和入住这几个步骤。其中，全面评估和财务评估是两个非常关键的环节，它们将直接决定您能获得多少政府补贴以及需要自付多少费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超级年金的提取方式主要有两种：一次性提取和分期领取。一次性提取适合需要支付大额费用的情况，而分期领取则能提供更稳定的现金流。选择哪种方式，需要根据个人的财务状况和退休规划来决定。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超级年金在支付养老院费用方面非常灵活，可以用来支付一次性的押金，也可以用来支付每天的住宿费和护理费。通过合理运用超级年金，我们可以更好地规划自己的退休生活，确保在养老院能够享受到高质量的服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了解了养老金，我们再来看看养老院的费用构成。总的来说，主要包括基础日常费、收入测试护理费、住宿费和可选服务费这四大部分。其中，基础日常费是每个人都要交的，而其他费用则会根据个人的经济状况和需求有所不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来看一个具体的案例。这位低收入的老人A，他有自住房，但没有超级年金和存款，只能领取全额的政府养老金。在这种情况下，他入住养老院的费用主要由政府承担，自己只需要支付每天约65澳元的基础日常费，这部分费用会直接从他的养老金里扣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再来看一个中等收入的案例。老人B有自住房和20万澳元的超级年金，因此他只能领取部分政府养老金。他入住养老院的费用需要自己和政府共同承担，除了基础日常费，他还需要自付一部分护理费和住宿费。他可以选择一次性支付十几万到二十万的押金，或者每天支付几十澳元的租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是高收入的老人C。他有自住房、投资房和80万澳元的超级年金，因此他不符合领取政府养老金的条件。他入住养老院的所有费用都需要自己承担，包括更高的基础日常费、护理费和住宿费。他可能需要支付高达30万到55万澳元的押金，或者每天支付185到255澳元的费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通过这三个案例的对比，我们可以清晰地看到，不同收入水平的老人在支付养老院费用时的巨大差异。收入越低，政府补贴的比例就越高；而收入越高，个人需要承担的费用就越多。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总结一下，政府养老金是低收入老人的基础保障，而超级年金则为中高收入老人提供了更多的选择和灵活性。养老院的费用支付与个人的经济状况紧密相关，因此，提前做好退休规划至关重要。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我的介绍到此结束，感谢大家的聆听。现在是问答环节，欢迎大家提问。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jpeg" Type="http://schemas.openxmlformats.org/officeDocument/2006/relationships/image"/><Relationship Id="rId9"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1.png" Type="http://schemas.openxmlformats.org/officeDocument/2006/relationships/image"/><Relationship Id="rId13" Target="../media/image2.svg" Type="http://schemas.openxmlformats.org/officeDocument/2006/relationships/image"/><Relationship Id="rId14" Target="../notesSlides/notesSlide5.xml" Type="http://schemas.openxmlformats.org/officeDocument/2006/relationships/notesSlid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notesSlides/notesSlide6.xml" Type="http://schemas.openxmlformats.org/officeDocument/2006/relationships/notesSlide"/><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8.png" Type="http://schemas.openxmlformats.org/officeDocument/2006/relationships/image"/><Relationship Id="rId7" Target="../media/image39.svg" Type="http://schemas.openxmlformats.org/officeDocument/2006/relationships/image"/><Relationship Id="rId8" Target="../media/image40.jpeg" Type="http://schemas.openxmlformats.org/officeDocument/2006/relationships/image"/><Relationship Id="rId9"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8.xml" Type="http://schemas.openxmlformats.org/officeDocument/2006/relationships/notesSlide"/><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47.png" Type="http://schemas.openxmlformats.org/officeDocument/2006/relationships/image"/><Relationship Id="rId9" Target="../media/image4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media/image51.png" Type="http://schemas.openxmlformats.org/officeDocument/2006/relationships/image"/><Relationship Id="rId7" Target="../media/image52.svg" Type="http://schemas.openxmlformats.org/officeDocument/2006/relationships/image"/><Relationship Id="rId8" Target="../media/image53.jpeg" Type="http://schemas.openxmlformats.org/officeDocument/2006/relationships/image"/><Relationship Id="rId9"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 Id="rId8" Target="../media/image56.jpeg" Type="http://schemas.openxmlformats.org/officeDocument/2006/relationships/image"/><Relationship Id="rId9"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media/image57.png" Type="http://schemas.openxmlformats.org/officeDocument/2006/relationships/image"/><Relationship Id="rId7" Target="../media/image58.svg" Type="http://schemas.openxmlformats.org/officeDocument/2006/relationships/image"/><Relationship Id="rId8" Target="../media/image59.jpeg" Type="http://schemas.openxmlformats.org/officeDocument/2006/relationships/image"/><Relationship Id="rId9"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2.xml" Type="http://schemas.openxmlformats.org/officeDocument/2006/relationships/notesSlide"/><Relationship Id="rId2" Target="../media/image60.png" Type="http://schemas.openxmlformats.org/officeDocument/2006/relationships/image"/><Relationship Id="rId3" Target="../media/image61.svg" Type="http://schemas.openxmlformats.org/officeDocument/2006/relationships/image"/><Relationship Id="rId4" Target="../media/image62.png" Type="http://schemas.openxmlformats.org/officeDocument/2006/relationships/image"/><Relationship Id="rId5" Target="../media/image63.svg" Type="http://schemas.openxmlformats.org/officeDocument/2006/relationships/image"/><Relationship Id="rId6" Target="../media/image64.png" Type="http://schemas.openxmlformats.org/officeDocument/2006/relationships/image"/><Relationship Id="rId7" Target="../media/image65.svg" Type="http://schemas.openxmlformats.org/officeDocument/2006/relationships/image"/><Relationship Id="rId8" Target="../media/image66.png" Type="http://schemas.openxmlformats.org/officeDocument/2006/relationships/image"/><Relationship Id="rId9" Target="../media/image6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8.png" Type="http://schemas.openxmlformats.org/officeDocument/2006/relationships/image"/><Relationship Id="rId3" Target="../media/image69.svg" Type="http://schemas.openxmlformats.org/officeDocument/2006/relationships/image"/><Relationship Id="rId4" Target="../media/image70.jpeg" Type="http://schemas.openxmlformats.org/officeDocument/2006/relationships/image"/><Relationship Id="rId5"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1.jpeg" Type="http://schemas.openxmlformats.org/officeDocument/2006/relationships/image"/><Relationship Id="rId3" Target="../notesSlides/notesSlide14.xml" Type="http://schemas.openxmlformats.org/officeDocument/2006/relationships/notesSlide"/><Relationship Id="rId4" Target="../media/image72.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00000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2540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FFFFF"/>
                </a:solidFill>
                <a:latin typeface="Noto Sans SC"/>
                <a:ea typeface="Noto Sans SC"/>
                <a:cs typeface="Noto Sans SC"/>
                <a:sym typeface="Noto Sans SC"/>
              </a:rPr>
              <a:t>澳洲居民养老金与养老院费用支付情况解析</a:t>
            </a:r>
            <a:endParaRPr lang="en-US" sz="1100"/>
          </a:p>
        </p:txBody>
      </p:sp>
      <p:sp>
        <p:nvSpPr>
          <p:cNvPr name="AutoShape 4" id="4"/>
          <p:cNvSpPr/>
          <p:nvPr/>
        </p:nvSpPr>
        <p:spPr>
          <a:xfrm rot="0" flipH="false" flipV="false">
            <a:off x="5461000" y="3492500"/>
            <a:ext cx="1270000" cy="50800"/>
          </a:xfrm>
          <a:prstGeom prst="roundRect">
            <a:avLst>
              <a:gd name="adj" fmla="val 0"/>
            </a:avLst>
          </a:prstGeom>
          <a:solidFill>
            <a:srgbClr val="00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2286000" y="3810000"/>
            <a:ext cx="762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E5E7EB"/>
                </a:solidFill>
                <a:latin typeface="Noto Sans SC"/>
                <a:ea typeface="Noto Sans SC"/>
                <a:cs typeface="Noto Sans SC"/>
                <a:sym typeface="Noto Sans SC"/>
              </a:rPr>
              <a:t>深度解析与未来展望</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762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000">
                <a:solidFill>
                  <a:srgbClr val="FFFFFF"/>
                </a:solidFill>
                <a:latin typeface="Noto Sans SC"/>
                <a:ea typeface="Noto Sans SC"/>
                <a:cs typeface="Noto Sans SC"/>
                <a:sym typeface="Noto Sans SC"/>
              </a:rPr>
              <a:t>澳洲养老金体系概述</a:t>
            </a:r>
            <a:endParaRPr lang="en-US" sz="1100"/>
          </a:p>
        </p:txBody>
      </p:sp>
      <p:cxnSp>
        <p:nvCxnSpPr>
          <p:cNvPr name="Connector 3" id="3"/>
          <p:cNvCxnSpPr/>
          <p:nvPr/>
        </p:nvCxnSpPr>
        <p:spPr>
          <a:xfrm rot="-8594" flipH="false" flipV="false">
            <a:off x="1016008" y="1517650"/>
            <a:ext cx="5080000" cy="12700"/>
          </a:xfrm>
          <a:prstGeom prst="straightConnector1">
            <a:avLst/>
          </a:prstGeom>
          <a:solidFill>
            <a:srgbClr val="DEE0E3">
              <a:alpha val="100000"/>
            </a:srgbClr>
          </a:solidFill>
          <a:ln w="25400" cmpd="sng" cap="flat">
            <a:solidFill>
              <a:srgbClr val="00FFFF">
                <a:alpha val="100000"/>
              </a:srgbClr>
            </a:solidFill>
            <a:prstDash val="solid"/>
            <a:round/>
            <a:headEnd type="none" w="lg" len="lg"/>
            <a:tailEnd type="none" w="lg" len="lg"/>
          </a:ln>
        </p:spPr>
      </p:cxn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032000"/>
            <a:ext cx="355600" cy="355600"/>
          </a:xfrm>
          <a:prstGeom prst="rect">
            <a:avLst/>
          </a:prstGeom>
        </p:spPr>
      </p:pic>
      <p:sp>
        <p:nvSpPr>
          <p:cNvPr name="AutoShape 5" id="5"/>
          <p:cNvSpPr/>
          <p:nvPr/>
        </p:nvSpPr>
        <p:spPr>
          <a:xfrm rot="0" flipH="false" flipV="false">
            <a:off x="1524000" y="2057400"/>
            <a:ext cx="4572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FFFF"/>
                </a:solidFill>
                <a:latin typeface="Noto Sans SC"/>
                <a:ea typeface="Noto Sans SC"/>
                <a:cs typeface="Noto Sans SC"/>
                <a:sym typeface="Noto Sans SC"/>
              </a:rPr>
              <a:t>政府养老金 (Age Pension)</a:t>
            </a:r>
            <a:endParaRPr lang="en-US" sz="1100"/>
          </a:p>
        </p:txBody>
      </p:sp>
      <p:sp>
        <p:nvSpPr>
          <p:cNvPr name="AutoShape 6" id="6"/>
          <p:cNvSpPr/>
          <p:nvPr/>
        </p:nvSpPr>
        <p:spPr>
          <a:xfrm rot="0" flipH="false" flipV="false">
            <a:off x="1524000" y="2540000"/>
            <a:ext cx="4572000" cy="8382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E5E7EB"/>
                </a:solidFill>
                <a:latin typeface="Noto Sans SC"/>
                <a:ea typeface="Noto Sans SC"/>
                <a:cs typeface="Noto Sans SC"/>
                <a:sym typeface="Noto Sans SC"/>
              </a:rPr>
              <a:t>由政府提供的社会福利，资金来源于税收，领取需满足年龄、居住年限及收入资产测试。</a:t>
            </a:r>
            <a:endParaRPr lang="en-US" sz="1100"/>
          </a:p>
        </p:txBody>
      </p:sp>
      <p:cxnSp>
        <p:nvCxnSpPr>
          <p:cNvPr name="Connector 7" id="7"/>
          <p:cNvCxnSpPr/>
          <p:nvPr/>
        </p:nvCxnSpPr>
        <p:spPr>
          <a:xfrm rot="-8594" flipH="false" flipV="false">
            <a:off x="1016008" y="3549650"/>
            <a:ext cx="5080000" cy="12700"/>
          </a:xfrm>
          <a:prstGeom prst="straightConnector1">
            <a:avLst/>
          </a:prstGeom>
          <a:solidFill>
            <a:srgbClr val="DEE0E3">
              <a:alpha val="100000"/>
            </a:srgbClr>
          </a:solidFill>
          <a:ln w="12700" cmpd="sng" cap="flat">
            <a:solidFill>
              <a:srgbClr val="FFFFFF">
                <a:alpha val="20000"/>
              </a:srgbClr>
            </a:solidFill>
            <a:prstDash val="dash"/>
            <a:round/>
            <a:headEnd type="none" w="med" len="med"/>
            <a:tailEnd type="none" w="med" len="med"/>
          </a:ln>
        </p:spPr>
      </p:cxn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937000"/>
            <a:ext cx="355600" cy="355600"/>
          </a:xfrm>
          <a:prstGeom prst="rect">
            <a:avLst/>
          </a:prstGeom>
        </p:spPr>
      </p:pic>
      <p:sp>
        <p:nvSpPr>
          <p:cNvPr name="AutoShape 9" id="9"/>
          <p:cNvSpPr/>
          <p:nvPr/>
        </p:nvSpPr>
        <p:spPr>
          <a:xfrm rot="0" flipH="false" flipV="false">
            <a:off x="1524000" y="3962400"/>
            <a:ext cx="4572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D700"/>
                </a:solidFill>
                <a:latin typeface="Noto Sans SC"/>
                <a:ea typeface="Noto Sans SC"/>
                <a:cs typeface="Noto Sans SC"/>
                <a:sym typeface="Noto Sans SC"/>
              </a:rPr>
              <a:t>超级年金 (Superannuation)</a:t>
            </a:r>
            <a:endParaRPr lang="en-US" sz="1100"/>
          </a:p>
        </p:txBody>
      </p:sp>
      <p:sp>
        <p:nvSpPr>
          <p:cNvPr name="AutoShape 10" id="10"/>
          <p:cNvSpPr/>
          <p:nvPr/>
        </p:nvSpPr>
        <p:spPr>
          <a:xfrm rot="0" flipH="false" flipV="false">
            <a:off x="1524000" y="4445000"/>
            <a:ext cx="4572000" cy="8382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E5E7EB"/>
                </a:solidFill>
                <a:latin typeface="Noto Sans SC"/>
                <a:ea typeface="Noto Sans SC"/>
                <a:cs typeface="Noto Sans SC"/>
                <a:sym typeface="Noto Sans SC"/>
              </a:rPr>
              <a:t>强制储蓄计划，资金来自雇主和个人缴纳，作为个人资产，达到法定年龄后可灵活提取。</a:t>
            </a:r>
            <a:endParaRPr lang="en-US" sz="1100"/>
          </a:p>
        </p:txBody>
      </p:sp>
      <p:cxnSp>
        <p:nvCxnSpPr>
          <p:cNvPr name="Connector 11" id="11"/>
          <p:cNvCxnSpPr/>
          <p:nvPr/>
        </p:nvCxnSpPr>
        <p:spPr>
          <a:xfrm rot="5386777" flipH="false" flipV="false">
            <a:off x="4953000" y="3676662"/>
            <a:ext cx="330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0A1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8890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000">
                <a:solidFill>
                  <a:srgbClr val="FFFFFF"/>
                </a:solidFill>
                <a:latin typeface="Noto Sans SC"/>
                <a:ea typeface="Noto Sans SC"/>
                <a:cs typeface="Noto Sans SC"/>
                <a:sym typeface="Noto Sans SC"/>
              </a:rPr>
              <a:t>政府养老金 (Age Pension)</a:t>
            </a:r>
            <a:endParaRPr lang="en-US" sz="1100"/>
          </a:p>
        </p:txBody>
      </p:sp>
      <p:cxnSp>
        <p:nvCxnSpPr>
          <p:cNvPr name="Connector 3" id="3"/>
          <p:cNvCxnSpPr/>
          <p:nvPr/>
        </p:nvCxnSpPr>
        <p:spPr>
          <a:xfrm rot="-4297" flipH="false" flipV="false">
            <a:off x="1016004" y="1517650"/>
            <a:ext cx="10160000" cy="12700"/>
          </a:xfrm>
          <a:prstGeom prst="straightConnector1">
            <a:avLst/>
          </a:prstGeom>
          <a:solidFill>
            <a:srgbClr val="DEE0E3">
              <a:alpha val="100000"/>
            </a:srgbClr>
          </a:solidFill>
          <a:ln w="12700" cmpd="sng" cap="flat">
            <a:solidFill>
              <a:srgbClr val="00FFFF">
                <a:alpha val="30000"/>
              </a:srgbClr>
            </a:solidFill>
            <a:prstDash val="solid"/>
            <a:round/>
            <a:headEnd type="none" w="med" len="med"/>
            <a:tailEnd type="none" w="med" len="med"/>
          </a:ln>
        </p:spPr>
      </p:cxnSp>
      <p:sp>
        <p:nvSpPr>
          <p:cNvPr name="AutoShape 4" id="4"/>
          <p:cNvSpPr/>
          <p:nvPr/>
        </p:nvSpPr>
        <p:spPr>
          <a:xfrm rot="0" flipH="false" flipV="false">
            <a:off x="1016000" y="1778000"/>
            <a:ext cx="10160000" cy="1524000"/>
          </a:xfrm>
          <a:prstGeom prst="rect">
            <a:avLst/>
          </a:prstGeom>
          <a:noFill/>
          <a:ln w="12700" cmpd="sng" cap="flat">
            <a:noFill/>
            <a:prstDash val="solid"/>
            <a:round/>
          </a:ln>
        </p:spPr>
        <p:txBody>
          <a:bodyPr anchor="t" rtlCol="false" anchorCtr="false" vert="horz" wrap="square" lIns="0" rIns="0" tIns="0" bIns="0"/>
          <a:lstStyle/>
          <a:p>
            <a:pPr algn="l" indent="0">
              <a:lnSpc>
                <a:spcPct val="133333"/>
              </a:lnSpc>
              <a:defRPr/>
            </a:pPr>
            <a:r>
              <a:rPr lang="en-US" b="false" i="false" strike="noStrike" u="none" sz="1400">
                <a:solidFill>
                  <a:srgbClr val="E5E7EB"/>
                </a:solidFill>
                <a:latin typeface="Noto Sans SC"/>
                <a:ea typeface="Noto Sans SC"/>
                <a:cs typeface="Noto Sans SC"/>
                <a:sym typeface="Noto Sans SC"/>
              </a:rPr>
              <a:t>政府养老金（Age Pension）是澳洲政府提供的社会福利，旨在为退休后的居民提供基本生活保障。其资金完全来源于政府税收，领取条件包括：年龄达到67岁，在澳洲居住满10年，并且通过收入和资产测试。</a:t>
            </a:r>
            <a:endParaRPr lang="en-US" sz="1100"/>
          </a:p>
        </p:txBody>
      </p:sp>
      <p:sp>
        <p:nvSpPr>
          <p:cNvPr name="AutoShape 5" id="5"/>
          <p:cNvSpPr/>
          <p:nvPr/>
        </p:nvSpPr>
        <p:spPr>
          <a:xfrm rot="0" flipH="false" flipV="false">
            <a:off x="1016000" y="3302000"/>
            <a:ext cx="4826000" cy="1778000"/>
          </a:xfrm>
          <a:prstGeom prst="roundRect">
            <a:avLst>
              <a:gd name="adj" fmla="val 5714"/>
            </a:avLst>
          </a:prstGeom>
          <a:solidFill>
            <a:srgbClr val="1C2A44">
              <a:alpha val="50000"/>
            </a:srgbClr>
          </a:solidFill>
          <a:ln w="12700" cmpd="sng" cap="flat">
            <a:solidFill>
              <a:srgbClr val="00FFFF">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70000" y="3556000"/>
            <a:ext cx="304800" cy="304800"/>
          </a:xfrm>
          <a:prstGeom prst="rect">
            <a:avLst/>
          </a:prstGeom>
        </p:spPr>
      </p:pic>
      <p:sp>
        <p:nvSpPr>
          <p:cNvPr name="AutoShape 7" id="7"/>
          <p:cNvSpPr/>
          <p:nvPr/>
        </p:nvSpPr>
        <p:spPr>
          <a:xfrm rot="0" flipH="false" flipV="false">
            <a:off x="1778000" y="3568700"/>
            <a:ext cx="355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单身人士</a:t>
            </a:r>
            <a:endParaRPr lang="en-US" sz="1100"/>
          </a:p>
        </p:txBody>
      </p:sp>
      <p:sp>
        <p:nvSpPr>
          <p:cNvPr name="AutoShape 8" id="8"/>
          <p:cNvSpPr/>
          <p:nvPr/>
        </p:nvSpPr>
        <p:spPr>
          <a:xfrm rot="0" flipH="false" flipV="false">
            <a:off x="1270000" y="4064000"/>
            <a:ext cx="4318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FFD700"/>
                </a:solidFill>
                <a:latin typeface="Noto Sans SC"/>
                <a:ea typeface="Noto Sans SC"/>
                <a:cs typeface="Noto Sans SC"/>
                <a:sym typeface="Noto Sans SC"/>
              </a:rPr>
              <a:t>1,178.70</a:t>
            </a:r>
            <a:r>
              <a:rPr lang="en-US" b="false" i="false" strike="noStrike" u="none" sz="1400">
                <a:solidFill>
                  <a:srgbClr val="E5E7EB"/>
                </a:solidFill>
                <a:latin typeface="Noto Sans SC"/>
                <a:ea typeface="Noto Sans SC"/>
                <a:cs typeface="Noto Sans SC"/>
                <a:sym typeface="Noto Sans SC"/>
              </a:rPr>
              <a:t>澳元/每两周</a:t>
            </a:r>
            <a:endParaRPr lang="en-US" sz="1100"/>
          </a:p>
        </p:txBody>
      </p:sp>
      <p:sp>
        <p:nvSpPr>
          <p:cNvPr name="AutoShape 9" id="9"/>
          <p:cNvSpPr/>
          <p:nvPr/>
        </p:nvSpPr>
        <p:spPr>
          <a:xfrm rot="0" flipH="false" flipV="false">
            <a:off x="6350000" y="3302000"/>
            <a:ext cx="4826000" cy="1778000"/>
          </a:xfrm>
          <a:prstGeom prst="roundRect">
            <a:avLst>
              <a:gd name="adj" fmla="val 5714"/>
            </a:avLst>
          </a:prstGeom>
          <a:solidFill>
            <a:srgbClr val="1C2A44">
              <a:alpha val="50000"/>
            </a:srgbClr>
          </a:solidFill>
          <a:ln w="12700" cmpd="sng" cap="flat">
            <a:solidFill>
              <a:srgbClr val="00FFFF">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3556000"/>
            <a:ext cx="304800" cy="304800"/>
          </a:xfrm>
          <a:prstGeom prst="rect">
            <a:avLst/>
          </a:prstGeom>
        </p:spPr>
      </p:pic>
      <p:sp>
        <p:nvSpPr>
          <p:cNvPr name="AutoShape 11" id="11"/>
          <p:cNvSpPr/>
          <p:nvPr/>
        </p:nvSpPr>
        <p:spPr>
          <a:xfrm rot="0" flipH="false" flipV="false">
            <a:off x="7112000" y="3568700"/>
            <a:ext cx="355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夫妻合计</a:t>
            </a:r>
            <a:endParaRPr lang="en-US" sz="1100"/>
          </a:p>
        </p:txBody>
      </p:sp>
      <p:sp>
        <p:nvSpPr>
          <p:cNvPr name="AutoShape 12" id="12"/>
          <p:cNvSpPr/>
          <p:nvPr/>
        </p:nvSpPr>
        <p:spPr>
          <a:xfrm rot="0" flipH="false" flipV="false">
            <a:off x="6604000" y="4064000"/>
            <a:ext cx="4318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FFD700"/>
                </a:solidFill>
                <a:latin typeface="Noto Sans SC"/>
                <a:ea typeface="Noto Sans SC"/>
                <a:cs typeface="Noto Sans SC"/>
                <a:sym typeface="Noto Sans SC"/>
              </a:rPr>
              <a:t>1,777.00</a:t>
            </a:r>
            <a:r>
              <a:rPr lang="en-US" b="false" i="false" strike="noStrike" u="none" sz="1400">
                <a:solidFill>
                  <a:srgbClr val="E5E7EB"/>
                </a:solidFill>
                <a:latin typeface="Noto Sans SC"/>
                <a:ea typeface="Noto Sans SC"/>
                <a:cs typeface="Noto Sans SC"/>
                <a:sym typeface="Noto Sans SC"/>
              </a:rPr>
              <a:t>澳元/每两周</a:t>
            </a:r>
            <a:endParaRPr lang="en-US" sz="1100"/>
          </a:p>
        </p:txBody>
      </p:sp>
      <p:cxnSp>
        <p:nvCxnSpPr>
          <p:cNvPr name="Connector 13" id="13"/>
          <p:cNvCxnSpPr/>
          <p:nvPr/>
        </p:nvCxnSpPr>
        <p:spPr>
          <a:xfrm rot="-4297" flipH="false" flipV="false">
            <a:off x="1016004" y="5327650"/>
            <a:ext cx="10160000" cy="12700"/>
          </a:xfrm>
          <a:prstGeom prst="straightConnector1">
            <a:avLst/>
          </a:prstGeom>
          <a:solidFill>
            <a:srgbClr val="DEE0E3">
              <a:alpha val="100000"/>
            </a:srgbClr>
          </a:solidFill>
          <a:ln w="12700" cmpd="sng" cap="flat">
            <a:solidFill>
              <a:srgbClr val="00FFFF">
                <a:alpha val="30000"/>
              </a:srgbClr>
            </a:solidFill>
            <a:prstDash val="dash"/>
            <a:round/>
            <a:headEnd type="none" w="med" len="med"/>
            <a:tailEnd type="none" w="med" len="med"/>
          </a:ln>
        </p:spPr>
      </p:cxn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5588000"/>
            <a:ext cx="203200" cy="203200"/>
          </a:xfrm>
          <a:prstGeom prst="rect">
            <a:avLst/>
          </a:prstGeom>
        </p:spPr>
      </p:pic>
      <p:sp>
        <p:nvSpPr>
          <p:cNvPr name="AutoShape 15" id="15"/>
          <p:cNvSpPr/>
          <p:nvPr/>
        </p:nvSpPr>
        <p:spPr>
          <a:xfrm rot="0" flipH="false" flipV="false">
            <a:off x="1397000" y="5588000"/>
            <a:ext cx="9906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备注：养老金可自由支配，但入住养老院时，其中的85%通常会被自动扣除，用于支付基础日常费用。</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1182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7620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000">
                <a:solidFill>
                  <a:srgbClr val="FFFFFF"/>
                </a:solidFill>
                <a:latin typeface="Noto Sans SC"/>
                <a:ea typeface="Noto Sans SC"/>
                <a:cs typeface="Noto Sans SC"/>
                <a:sym typeface="Noto Sans SC"/>
              </a:rPr>
              <a:t>超级年金 (Superannuation)</a:t>
            </a:r>
            <a:endParaRPr lang="en-US" sz="1100"/>
          </a:p>
        </p:txBody>
      </p:sp>
      <p:cxnSp>
        <p:nvCxnSpPr>
          <p:cNvPr name="Connector 3" id="3"/>
          <p:cNvCxnSpPr/>
          <p:nvPr/>
        </p:nvCxnSpPr>
        <p:spPr>
          <a:xfrm rot="-8594" flipH="false" flipV="false">
            <a:off x="1016008" y="1517650"/>
            <a:ext cx="5080000" cy="12700"/>
          </a:xfrm>
          <a:prstGeom prst="straightConnector1">
            <a:avLst/>
          </a:prstGeom>
          <a:solidFill>
            <a:srgbClr val="DEE0E3">
              <a:alpha val="100000"/>
            </a:srgbClr>
          </a:solidFill>
          <a:ln w="25400" cmpd="sng" cap="flat">
            <a:solidFill>
              <a:srgbClr val="00FFFF">
                <a:alpha val="100000"/>
              </a:srgbClr>
            </a:solidFill>
            <a:prstDash val="solid"/>
            <a:round/>
            <a:headEnd type="none" w="lg" len="lg"/>
            <a:tailEnd type="none" w="lg" len="lg"/>
          </a:ln>
        </p:spPr>
      </p:cxn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905000"/>
            <a:ext cx="304800" cy="304800"/>
          </a:xfrm>
          <a:prstGeom prst="rect">
            <a:avLst/>
          </a:prstGeom>
        </p:spPr>
      </p:pic>
      <p:sp>
        <p:nvSpPr>
          <p:cNvPr name="AutoShape 5" id="5"/>
          <p:cNvSpPr/>
          <p:nvPr/>
        </p:nvSpPr>
        <p:spPr>
          <a:xfrm rot="0" flipH="false" flipV="false">
            <a:off x="1524000" y="19304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强制储蓄计划</a:t>
            </a:r>
            <a:endParaRPr lang="en-US" sz="1100"/>
          </a:p>
        </p:txBody>
      </p:sp>
      <p:sp>
        <p:nvSpPr>
          <p:cNvPr name="AutoShape 6" id="6"/>
          <p:cNvSpPr/>
          <p:nvPr/>
        </p:nvSpPr>
        <p:spPr>
          <a:xfrm rot="0" flipH="false" flipV="false">
            <a:off x="1524000" y="2336800"/>
            <a:ext cx="4826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澳洲的“第二养老金”，是个人为退休生活进行的强制储蓄。</a:t>
            </a:r>
            <a:endParaRPr lang="en-US" sz="1100"/>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175000"/>
            <a:ext cx="304800" cy="304800"/>
          </a:xfrm>
          <a:prstGeom prst="rect">
            <a:avLst/>
          </a:prstGeom>
        </p:spPr>
      </p:pic>
      <p:sp>
        <p:nvSpPr>
          <p:cNvPr name="AutoShape 8" id="8"/>
          <p:cNvSpPr/>
          <p:nvPr/>
        </p:nvSpPr>
        <p:spPr>
          <a:xfrm rot="0" flipH="false" flipV="false">
            <a:off x="1524000" y="32004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资金来源</a:t>
            </a:r>
            <a:endParaRPr lang="en-US" sz="1100"/>
          </a:p>
        </p:txBody>
      </p:sp>
      <p:sp>
        <p:nvSpPr>
          <p:cNvPr name="AutoShape 9" id="9"/>
          <p:cNvSpPr/>
          <p:nvPr/>
        </p:nvSpPr>
        <p:spPr>
          <a:xfrm rot="0" flipH="false" flipV="false">
            <a:off x="1524000" y="3606800"/>
            <a:ext cx="4826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雇主强制缴纳(当前</a:t>
            </a:r>
            <a:r>
              <a:rPr lang="en-US" b="true" i="false" strike="noStrike" u="none" sz="1400">
                <a:solidFill>
                  <a:srgbClr val="FFD700"/>
                </a:solidFill>
                <a:latin typeface="Noto Sans SC"/>
                <a:ea typeface="Noto Sans SC"/>
                <a:cs typeface="Noto Sans SC"/>
                <a:sym typeface="Noto Sans SC"/>
              </a:rPr>
              <a:t>11%</a:t>
            </a:r>
            <a:r>
              <a:rPr lang="en-US" b="false" i="false" strike="noStrike" u="none" sz="1400">
                <a:solidFill>
                  <a:srgbClr val="D1D5DB"/>
                </a:solidFill>
                <a:latin typeface="Noto Sans SC"/>
                <a:ea typeface="Noto Sans SC"/>
                <a:cs typeface="Noto Sans SC"/>
                <a:sym typeface="Noto Sans SC"/>
              </a:rPr>
              <a:t>, 2025年升至</a:t>
            </a:r>
            <a:r>
              <a:rPr lang="en-US" b="true" i="false" strike="noStrike" u="none" sz="1400">
                <a:solidFill>
                  <a:srgbClr val="FFD700"/>
                </a:solidFill>
                <a:latin typeface="Noto Sans SC"/>
                <a:ea typeface="Noto Sans SC"/>
                <a:cs typeface="Noto Sans SC"/>
                <a:sym typeface="Noto Sans SC"/>
              </a:rPr>
              <a:t>12%</a:t>
            </a:r>
            <a:r>
              <a:rPr lang="en-US" b="false" i="false" strike="noStrike" u="none" sz="1400">
                <a:solidFill>
                  <a:srgbClr val="D1D5DB"/>
                </a:solidFill>
                <a:latin typeface="Noto Sans SC"/>
                <a:ea typeface="Noto Sans SC"/>
                <a:cs typeface="Noto Sans SC"/>
                <a:sym typeface="Noto Sans SC"/>
              </a:rPr>
              <a:t>)与个人自愿缴纳。</a:t>
            </a:r>
            <a:endParaRPr lang="en-US" sz="1100"/>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445000"/>
            <a:ext cx="304800" cy="304800"/>
          </a:xfrm>
          <a:prstGeom prst="rect">
            <a:avLst/>
          </a:prstGeom>
        </p:spPr>
      </p:pic>
      <p:sp>
        <p:nvSpPr>
          <p:cNvPr name="AutoShape 11" id="11"/>
          <p:cNvSpPr/>
          <p:nvPr/>
        </p:nvSpPr>
        <p:spPr>
          <a:xfrm rot="0" flipH="false" flipV="false">
            <a:off x="1524000" y="44704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灵活领取</a:t>
            </a:r>
            <a:endParaRPr lang="en-US" sz="1100"/>
          </a:p>
        </p:txBody>
      </p:sp>
      <p:sp>
        <p:nvSpPr>
          <p:cNvPr name="AutoShape 12" id="12"/>
          <p:cNvSpPr/>
          <p:nvPr/>
        </p:nvSpPr>
        <p:spPr>
          <a:xfrm rot="0" flipH="false" flipV="false">
            <a:off x="1524000" y="4876800"/>
            <a:ext cx="4826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退休后可一次性领取，或选择分期领取，如账户养老金。</a:t>
            </a:r>
            <a:endParaRPr lang="en-US" sz="1100"/>
          </a:p>
        </p:txBody>
      </p:sp>
      <p:cxnSp>
        <p:nvCxnSpPr>
          <p:cNvPr name="Connector 13" id="13"/>
          <p:cNvCxnSpPr/>
          <p:nvPr/>
        </p:nvCxnSpPr>
        <p:spPr>
          <a:xfrm rot="5388145" flipH="false" flipV="false">
            <a:off x="4762500" y="3740161"/>
            <a:ext cx="3683000" cy="12700"/>
          </a:xfrm>
          <a:prstGeom prst="straightConnector1">
            <a:avLst/>
          </a:prstGeom>
          <a:solidFill>
            <a:srgbClr val="DEE0E3">
              <a:alpha val="100000"/>
            </a:srgbClr>
          </a:solidFill>
          <a:ln w="12700" cmpd="sng" cap="flat">
            <a:solidFill>
              <a:srgbClr val="00FFFF">
                <a:alpha val="30000"/>
              </a:srgbClr>
            </a:solidFill>
            <a:prstDash val="dash"/>
            <a:round/>
            <a:headEnd type="none" w="med" len="med"/>
            <a:tailEnd type="none" w="med" len="med"/>
          </a:ln>
        </p:spPr>
      </p:cxnSp>
      <p:pic>
        <p:nvPicPr>
          <p:cNvPr name="Picture 14" id="14"/>
          <p:cNvPicPr>
            <a:picLocks noChangeAspect="true"/>
          </p:cNvPicPr>
          <p:nvPr/>
        </p:nvPicPr>
        <p:blipFill>
          <a:blip r:embed="rId8"/>
          <a:srcRect l="0" r="0" t="0" b="0"/>
          <a:stretch>
            <a:fillRect/>
          </a:stretch>
        </p:blipFill>
        <p:spPr>
          <a:xfrm rot="0" flipH="false" flipV="false">
            <a:off x="7112000" y="2286000"/>
            <a:ext cx="4064000" cy="2286000"/>
          </a:xfrm>
          <a:prstGeom prst="roundRect">
            <a:avLst>
              <a:gd name="adj" fmla="val 6666"/>
            </a:avLst>
          </a:prstGeom>
          <a:noFill/>
          <a:ln w="25400" cmpd="sng" cap="flat">
            <a:solidFill>
              <a:srgbClr val="00FFFF">
                <a:alpha val="100000"/>
              </a:srgbClr>
            </a:solidFill>
            <a:prstDash val="solid"/>
            <a:round/>
          </a:ln>
        </p:spPr>
      </p:pic>
      <p:sp>
        <p:nvSpPr>
          <p:cNvPr name="AutoShape 15" id="15"/>
          <p:cNvSpPr/>
          <p:nvPr/>
        </p:nvSpPr>
        <p:spPr>
          <a:xfrm rot="0" flipH="false" flipV="false">
            <a:off x="7112000" y="4699000"/>
            <a:ext cx="4064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D1D5DB"/>
                </a:solidFill>
                <a:latin typeface="Noto Sans SC"/>
                <a:ea typeface="Noto Sans SC"/>
                <a:cs typeface="Noto Sans SC"/>
                <a:sym typeface="Noto Sans SC"/>
              </a:rPr>
              <a:t>个人退休生活的重要经济支柱</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889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Noto Sans SC"/>
                <a:ea typeface="Noto Sans SC"/>
                <a:cs typeface="Noto Sans SC"/>
                <a:sym typeface="Noto Sans SC"/>
              </a:rPr>
              <a:t>进入养老院/居家护理的流程</a:t>
            </a:r>
            <a:endParaRPr lang="en-US" sz="1100"/>
          </a:p>
        </p:txBody>
      </p:sp>
      <p:cxnSp>
        <p:nvCxnSpPr>
          <p:cNvPr name="Connector 3" id="3"/>
          <p:cNvCxnSpPr/>
          <p:nvPr/>
        </p:nvCxnSpPr>
        <p:spPr>
          <a:xfrm rot="-4297" flipH="false" flipV="false">
            <a:off x="1016004" y="1517650"/>
            <a:ext cx="10160000" cy="12700"/>
          </a:xfrm>
          <a:prstGeom prst="straightConnector1">
            <a:avLst/>
          </a:prstGeom>
          <a:solidFill>
            <a:srgbClr val="DEE0E3">
              <a:alpha val="100000"/>
            </a:srgbClr>
          </a:solidFill>
          <a:ln w="12700" cmpd="sng" cap="flat">
            <a:solidFill>
              <a:srgbClr val="00FFFF">
                <a:alpha val="30000"/>
              </a:srgbClr>
            </a:solidFill>
            <a:prstDash val="solid"/>
            <a:round/>
            <a:headEnd type="none" w="med" len="med"/>
            <a:tailEnd type="none" w="med" len="med"/>
          </a:ln>
        </p:spPr>
      </p:cxnSp>
      <p:sp>
        <p:nvSpPr>
          <p:cNvPr name="AutoShape 4" id="4"/>
          <p:cNvSpPr/>
          <p:nvPr/>
        </p:nvSpPr>
        <p:spPr>
          <a:xfrm rot="0" flipH="false" flipV="false">
            <a:off x="1016000" y="1905000"/>
            <a:ext cx="3302000" cy="1778000"/>
          </a:xfrm>
          <a:prstGeom prst="roundRect">
            <a:avLst>
              <a:gd name="adj" fmla="val 5714"/>
            </a:avLst>
          </a:prstGeom>
          <a:solidFill>
            <a:srgbClr val="FFFFFF">
              <a:alpha val="5000"/>
            </a:srgbClr>
          </a:solidFill>
          <a:ln w="12700" cmpd="sng" cap="flat">
            <a:solidFill>
              <a:srgbClr val="00FFFF">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19200" y="2108200"/>
            <a:ext cx="304800" cy="304800"/>
          </a:xfrm>
          <a:prstGeom prst="rect">
            <a:avLst/>
          </a:prstGeom>
        </p:spPr>
      </p:pic>
      <p:sp>
        <p:nvSpPr>
          <p:cNvPr name="AutoShape 6" id="6"/>
          <p:cNvSpPr/>
          <p:nvPr/>
        </p:nvSpPr>
        <p:spPr>
          <a:xfrm rot="0" flipH="false" flipV="false">
            <a:off x="1651000" y="21082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FFFF"/>
                </a:solidFill>
                <a:latin typeface="Noto Sans SC"/>
                <a:ea typeface="Noto Sans SC"/>
                <a:cs typeface="Noto Sans SC"/>
                <a:sym typeface="Noto Sans SC"/>
              </a:rPr>
              <a:t>1. 联系My Aged Care</a:t>
            </a:r>
            <a:endParaRPr lang="en-US" sz="1100"/>
          </a:p>
        </p:txBody>
      </p:sp>
      <p:sp>
        <p:nvSpPr>
          <p:cNvPr name="AutoShape 7" id="7"/>
          <p:cNvSpPr/>
          <p:nvPr/>
        </p:nvSpPr>
        <p:spPr>
          <a:xfrm rot="0" flipH="false" flipV="false">
            <a:off x="1219200" y="2565400"/>
            <a:ext cx="28956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Noto Sans SC"/>
                <a:ea typeface="Noto Sans SC"/>
                <a:cs typeface="Noto Sans SC"/>
                <a:sym typeface="Noto Sans SC"/>
              </a:rPr>
              <a:t>通过电话或官网进行申请。</a:t>
            </a:r>
            <a:endParaRPr lang="en-US" sz="1100"/>
          </a:p>
        </p:txBody>
      </p:sp>
      <p:sp>
        <p:nvSpPr>
          <p:cNvPr name="AutoShape 8" id="8"/>
          <p:cNvSpPr/>
          <p:nvPr/>
        </p:nvSpPr>
        <p:spPr>
          <a:xfrm rot="0" flipH="false" flipV="false">
            <a:off x="4826000" y="1905000"/>
            <a:ext cx="3302000" cy="1778000"/>
          </a:xfrm>
          <a:prstGeom prst="roundRect">
            <a:avLst>
              <a:gd name="adj" fmla="val 5714"/>
            </a:avLst>
          </a:prstGeom>
          <a:solidFill>
            <a:srgbClr val="FFFFFF">
              <a:alpha val="5000"/>
            </a:srgbClr>
          </a:solidFill>
          <a:ln w="12700" cmpd="sng" cap="flat">
            <a:solidFill>
              <a:srgbClr val="00FFFF">
                <a:alpha val="4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029200" y="2108200"/>
            <a:ext cx="304800" cy="304800"/>
          </a:xfrm>
          <a:prstGeom prst="rect">
            <a:avLst/>
          </a:prstGeom>
        </p:spPr>
      </p:pic>
      <p:sp>
        <p:nvSpPr>
          <p:cNvPr name="AutoShape 10" id="10"/>
          <p:cNvSpPr/>
          <p:nvPr/>
        </p:nvSpPr>
        <p:spPr>
          <a:xfrm rot="0" flipH="false" flipV="false">
            <a:off x="5461000" y="21082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FFFF"/>
                </a:solidFill>
                <a:latin typeface="Noto Sans SC"/>
                <a:ea typeface="Noto Sans SC"/>
                <a:cs typeface="Noto Sans SC"/>
                <a:sym typeface="Noto Sans SC"/>
              </a:rPr>
              <a:t>2. 全面评估 (ACAT)</a:t>
            </a:r>
            <a:endParaRPr lang="en-US" sz="1100"/>
          </a:p>
        </p:txBody>
      </p:sp>
      <p:sp>
        <p:nvSpPr>
          <p:cNvPr name="AutoShape 11" id="11"/>
          <p:cNvSpPr/>
          <p:nvPr/>
        </p:nvSpPr>
        <p:spPr>
          <a:xfrm rot="0" flipH="false" flipV="false">
            <a:off x="5029200" y="2565400"/>
            <a:ext cx="28956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Noto Sans SC"/>
                <a:ea typeface="Noto Sans SC"/>
                <a:cs typeface="Noto Sans SC"/>
                <a:sym typeface="Noto Sans SC"/>
              </a:rPr>
              <a:t>专业团队上门评估需求等级与补贴。</a:t>
            </a:r>
            <a:endParaRPr lang="en-US" sz="1100"/>
          </a:p>
        </p:txBody>
      </p:sp>
      <p:sp>
        <p:nvSpPr>
          <p:cNvPr name="AutoShape 12" id="12"/>
          <p:cNvSpPr/>
          <p:nvPr/>
        </p:nvSpPr>
        <p:spPr>
          <a:xfrm rot="0" flipH="false" flipV="false">
            <a:off x="8636000" y="1905000"/>
            <a:ext cx="3302000" cy="1778000"/>
          </a:xfrm>
          <a:prstGeom prst="roundRect">
            <a:avLst>
              <a:gd name="adj" fmla="val 5714"/>
            </a:avLst>
          </a:prstGeom>
          <a:solidFill>
            <a:srgbClr val="FFFFFF">
              <a:alpha val="5000"/>
            </a:srgbClr>
          </a:solidFill>
          <a:ln w="12700" cmpd="sng" cap="flat">
            <a:solidFill>
              <a:srgbClr val="00FFFF">
                <a:alpha val="4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839200" y="2108200"/>
            <a:ext cx="304800" cy="304800"/>
          </a:xfrm>
          <a:prstGeom prst="rect">
            <a:avLst/>
          </a:prstGeom>
        </p:spPr>
      </p:pic>
      <p:sp>
        <p:nvSpPr>
          <p:cNvPr name="AutoShape 14" id="14"/>
          <p:cNvSpPr/>
          <p:nvPr/>
        </p:nvSpPr>
        <p:spPr>
          <a:xfrm rot="0" flipH="false" flipV="false">
            <a:off x="9271000" y="21082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FFFF"/>
                </a:solidFill>
                <a:latin typeface="Noto Sans SC"/>
                <a:ea typeface="Noto Sans SC"/>
                <a:cs typeface="Noto Sans SC"/>
                <a:sym typeface="Noto Sans SC"/>
              </a:rPr>
              <a:t>3. 获得评估结果</a:t>
            </a:r>
            <a:endParaRPr lang="en-US" sz="1100"/>
          </a:p>
        </p:txBody>
      </p:sp>
      <p:sp>
        <p:nvSpPr>
          <p:cNvPr name="AutoShape 15" id="15"/>
          <p:cNvSpPr/>
          <p:nvPr/>
        </p:nvSpPr>
        <p:spPr>
          <a:xfrm rot="0" flipH="false" flipV="false">
            <a:off x="8839200" y="2565400"/>
            <a:ext cx="28956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Noto Sans SC"/>
                <a:ea typeface="Noto Sans SC"/>
                <a:cs typeface="Noto Sans SC"/>
                <a:sym typeface="Noto Sans SC"/>
              </a:rPr>
              <a:t>收到含资格代码的官方评估信。</a:t>
            </a:r>
            <a:endParaRPr lang="en-US" sz="1100"/>
          </a:p>
        </p:txBody>
      </p:sp>
      <p:sp>
        <p:nvSpPr>
          <p:cNvPr name="AutoShape 16" id="16"/>
          <p:cNvSpPr/>
          <p:nvPr/>
        </p:nvSpPr>
        <p:spPr>
          <a:xfrm rot="0" flipH="false" flipV="false">
            <a:off x="1016000" y="3937000"/>
            <a:ext cx="3302000" cy="1778000"/>
          </a:xfrm>
          <a:prstGeom prst="roundRect">
            <a:avLst>
              <a:gd name="adj" fmla="val 5714"/>
            </a:avLst>
          </a:prstGeom>
          <a:solidFill>
            <a:srgbClr val="FFFFFF">
              <a:alpha val="5000"/>
            </a:srgbClr>
          </a:solidFill>
          <a:ln w="12700" cmpd="sng" cap="flat">
            <a:solidFill>
              <a:srgbClr val="00FFFF">
                <a:alpha val="4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219200" y="4140200"/>
            <a:ext cx="304800" cy="304800"/>
          </a:xfrm>
          <a:prstGeom prst="rect">
            <a:avLst/>
          </a:prstGeom>
        </p:spPr>
      </p:pic>
      <p:sp>
        <p:nvSpPr>
          <p:cNvPr name="AutoShape 18" id="18"/>
          <p:cNvSpPr/>
          <p:nvPr/>
        </p:nvSpPr>
        <p:spPr>
          <a:xfrm rot="0" flipH="false" flipV="false">
            <a:off x="1651000" y="41402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FFFF"/>
                </a:solidFill>
                <a:latin typeface="Noto Sans SC"/>
                <a:ea typeface="Noto Sans SC"/>
                <a:cs typeface="Noto Sans SC"/>
                <a:sym typeface="Noto Sans SC"/>
              </a:rPr>
              <a:t>4. 选择服务提供商</a:t>
            </a:r>
            <a:endParaRPr lang="en-US" sz="1100"/>
          </a:p>
        </p:txBody>
      </p:sp>
      <p:sp>
        <p:nvSpPr>
          <p:cNvPr name="AutoShape 19" id="19"/>
          <p:cNvSpPr/>
          <p:nvPr/>
        </p:nvSpPr>
        <p:spPr>
          <a:xfrm rot="0" flipH="false" flipV="false">
            <a:off x="1219200" y="4597400"/>
            <a:ext cx="28956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Noto Sans SC"/>
                <a:ea typeface="Noto Sans SC"/>
                <a:cs typeface="Noto Sans SC"/>
                <a:sym typeface="Noto Sans SC"/>
              </a:rPr>
              <a:t>搜索并联系符合需求的服务商。</a:t>
            </a:r>
            <a:endParaRPr lang="en-US" sz="1100"/>
          </a:p>
        </p:txBody>
      </p:sp>
      <p:sp>
        <p:nvSpPr>
          <p:cNvPr name="AutoShape 20" id="20"/>
          <p:cNvSpPr/>
          <p:nvPr/>
        </p:nvSpPr>
        <p:spPr>
          <a:xfrm rot="0" flipH="false" flipV="false">
            <a:off x="4826000" y="3937000"/>
            <a:ext cx="3302000" cy="1778000"/>
          </a:xfrm>
          <a:prstGeom prst="roundRect">
            <a:avLst>
              <a:gd name="adj" fmla="val 5714"/>
            </a:avLst>
          </a:prstGeom>
          <a:solidFill>
            <a:srgbClr val="FFFFFF">
              <a:alpha val="5000"/>
            </a:srgbClr>
          </a:solidFill>
          <a:ln w="12700" cmpd="sng" cap="flat">
            <a:solidFill>
              <a:srgbClr val="FFD700">
                <a:alpha val="4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5029200" y="4140200"/>
            <a:ext cx="304800" cy="304800"/>
          </a:xfrm>
          <a:prstGeom prst="rect">
            <a:avLst/>
          </a:prstGeom>
        </p:spPr>
      </p:pic>
      <p:sp>
        <p:nvSpPr>
          <p:cNvPr name="AutoShape 22" id="22"/>
          <p:cNvSpPr/>
          <p:nvPr/>
        </p:nvSpPr>
        <p:spPr>
          <a:xfrm rot="0" flipH="false" flipV="false">
            <a:off x="5461000" y="41402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D700"/>
                </a:solidFill>
                <a:latin typeface="Noto Sans SC"/>
                <a:ea typeface="Noto Sans SC"/>
                <a:cs typeface="Noto Sans SC"/>
                <a:sym typeface="Noto Sans SC"/>
              </a:rPr>
              <a:t>5. 财务评估 (养老院必需)</a:t>
            </a:r>
            <a:endParaRPr lang="en-US" sz="1100"/>
          </a:p>
        </p:txBody>
      </p:sp>
      <p:sp>
        <p:nvSpPr>
          <p:cNvPr name="AutoShape 23" id="23"/>
          <p:cNvSpPr/>
          <p:nvPr/>
        </p:nvSpPr>
        <p:spPr>
          <a:xfrm rot="0" flipH="false" flipV="false">
            <a:off x="5029200" y="4597400"/>
            <a:ext cx="28956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Noto Sans SC"/>
                <a:ea typeface="Noto Sans SC"/>
                <a:cs typeface="Noto Sans SC"/>
                <a:sym typeface="Noto Sans SC"/>
              </a:rPr>
              <a:t>提交收入资产信息，确定自付费用。</a:t>
            </a:r>
            <a:endParaRPr lang="en-US" sz="1100"/>
          </a:p>
        </p:txBody>
      </p:sp>
      <p:sp>
        <p:nvSpPr>
          <p:cNvPr name="AutoShape 24" id="24"/>
          <p:cNvSpPr/>
          <p:nvPr/>
        </p:nvSpPr>
        <p:spPr>
          <a:xfrm rot="0" flipH="false" flipV="false">
            <a:off x="8636000" y="3937000"/>
            <a:ext cx="3302000" cy="1778000"/>
          </a:xfrm>
          <a:prstGeom prst="roundRect">
            <a:avLst>
              <a:gd name="adj" fmla="val 5714"/>
            </a:avLst>
          </a:prstGeom>
          <a:solidFill>
            <a:srgbClr val="FFFFFF">
              <a:alpha val="5000"/>
            </a:srgbClr>
          </a:solidFill>
          <a:ln w="12700" cmpd="sng" cap="flat">
            <a:solidFill>
              <a:srgbClr val="00FFFF">
                <a:alpha val="40000"/>
              </a:srgbClr>
            </a:solid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839200" y="4140200"/>
            <a:ext cx="304800" cy="304800"/>
          </a:xfrm>
          <a:prstGeom prst="rect">
            <a:avLst/>
          </a:prstGeom>
        </p:spPr>
      </p:pic>
      <p:sp>
        <p:nvSpPr>
          <p:cNvPr name="AutoShape 26" id="26"/>
          <p:cNvSpPr/>
          <p:nvPr/>
        </p:nvSpPr>
        <p:spPr>
          <a:xfrm rot="0" flipH="false" flipV="false">
            <a:off x="9271000" y="41402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FFFF"/>
                </a:solidFill>
                <a:latin typeface="Noto Sans SC"/>
                <a:ea typeface="Noto Sans SC"/>
                <a:cs typeface="Noto Sans SC"/>
                <a:sym typeface="Noto Sans SC"/>
              </a:rPr>
              <a:t>6. 正式申请与开始</a:t>
            </a:r>
            <a:endParaRPr lang="en-US" sz="1100"/>
          </a:p>
        </p:txBody>
      </p:sp>
      <p:sp>
        <p:nvSpPr>
          <p:cNvPr name="AutoShape 27" id="27"/>
          <p:cNvSpPr/>
          <p:nvPr/>
        </p:nvSpPr>
        <p:spPr>
          <a:xfrm rot="0" flipH="false" flipV="false">
            <a:off x="8839200" y="4597400"/>
            <a:ext cx="28956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Noto Sans SC"/>
                <a:ea typeface="Noto Sans SC"/>
                <a:cs typeface="Noto Sans SC"/>
                <a:sym typeface="Noto Sans SC"/>
              </a:rPr>
              <a:t>签订协议，安排入住或开始服务。</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1182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7620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000">
                <a:solidFill>
                  <a:srgbClr val="FFFFFF"/>
                </a:solidFill>
                <a:latin typeface="Noto Sans SC"/>
                <a:ea typeface="Noto Sans SC"/>
                <a:cs typeface="Noto Sans SC"/>
                <a:sym typeface="Noto Sans SC"/>
              </a:rPr>
              <a:t>超级年金的提取方式</a:t>
            </a:r>
            <a:endParaRPr lang="en-US" sz="1100"/>
          </a:p>
        </p:txBody>
      </p:sp>
      <p:cxnSp>
        <p:nvCxnSpPr>
          <p:cNvPr name="Connector 3" id="3"/>
          <p:cNvCxnSpPr/>
          <p:nvPr/>
        </p:nvCxnSpPr>
        <p:spPr>
          <a:xfrm rot="-4297" flipH="false" flipV="false">
            <a:off x="1016004" y="1517650"/>
            <a:ext cx="10160000" cy="12700"/>
          </a:xfrm>
          <a:prstGeom prst="straightConnector1">
            <a:avLst/>
          </a:prstGeom>
          <a:solidFill>
            <a:srgbClr val="DEE0E3">
              <a:alpha val="100000"/>
            </a:srgbClr>
          </a:solidFill>
          <a:ln w="12700" cmpd="sng" cap="flat">
            <a:solidFill>
              <a:srgbClr val="00FFFF">
                <a:alpha val="30000"/>
              </a:srgbClr>
            </a:solidFill>
            <a:prstDash val="solid"/>
            <a:round/>
            <a:headEnd type="none" w="med" len="med"/>
            <a:tailEnd type="none" w="med" len="med"/>
          </a:ln>
        </p:spPr>
      </p:cxn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905000"/>
            <a:ext cx="457200" cy="457200"/>
          </a:xfrm>
          <a:prstGeom prst="rect">
            <a:avLst/>
          </a:prstGeom>
        </p:spPr>
      </p:pic>
      <p:sp>
        <p:nvSpPr>
          <p:cNvPr name="AutoShape 5" id="5"/>
          <p:cNvSpPr/>
          <p:nvPr/>
        </p:nvSpPr>
        <p:spPr>
          <a:xfrm rot="0" flipH="false" flipV="false">
            <a:off x="1676400" y="1955800"/>
            <a:ext cx="4572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FFFF"/>
                </a:solidFill>
                <a:latin typeface="Noto Sans SC"/>
                <a:ea typeface="Noto Sans SC"/>
                <a:cs typeface="Noto Sans SC"/>
                <a:sym typeface="Noto Sans SC"/>
              </a:rPr>
              <a:t>一次性提取 (Lump Sum)</a:t>
            </a:r>
            <a:endParaRPr lang="en-US" sz="1100"/>
          </a:p>
        </p:txBody>
      </p:sp>
      <p:pic>
        <p:nvPicPr>
          <p:cNvPr name="Picture 6" id="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2667000"/>
            <a:ext cx="203200" cy="203200"/>
          </a:xfrm>
          <a:prstGeom prst="rect">
            <a:avLst/>
          </a:prstGeom>
        </p:spPr>
      </p:pic>
      <p:sp>
        <p:nvSpPr>
          <p:cNvPr name="AutoShape 7" id="7"/>
          <p:cNvSpPr/>
          <p:nvPr/>
        </p:nvSpPr>
        <p:spPr>
          <a:xfrm rot="0" flipH="false" flipV="false">
            <a:off x="1371600" y="2667000"/>
            <a:ext cx="4572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D700"/>
                </a:solidFill>
                <a:latin typeface="Noto Sans SC"/>
                <a:ea typeface="Noto Sans SC"/>
                <a:cs typeface="Noto Sans SC"/>
                <a:sym typeface="Noto Sans SC"/>
              </a:rPr>
              <a:t>适用情况</a:t>
            </a:r>
            <a:endParaRPr lang="en-US" sz="1100"/>
          </a:p>
        </p:txBody>
      </p:sp>
      <p:sp>
        <p:nvSpPr>
          <p:cNvPr name="AutoShape 8" id="8"/>
          <p:cNvSpPr/>
          <p:nvPr/>
        </p:nvSpPr>
        <p:spPr>
          <a:xfrm rot="0" flipH="false" flipV="false">
            <a:off x="1371600" y="3048000"/>
            <a:ext cx="4318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Noto Sans SC"/>
                <a:ea typeface="Noto Sans SC"/>
                <a:cs typeface="Noto Sans SC"/>
                <a:sym typeface="Noto Sans SC"/>
              </a:rPr>
              <a:t>支付大额费用（如养老院押金）或转为其他投资。</a:t>
            </a:r>
            <a:endParaRPr lang="en-US" sz="1100"/>
          </a:p>
        </p:txBody>
      </p:sp>
      <p:pic>
        <p:nvPicPr>
          <p:cNvPr name="Picture 9" id="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3810000"/>
            <a:ext cx="203200" cy="203200"/>
          </a:xfrm>
          <a:prstGeom prst="rect">
            <a:avLst/>
          </a:prstGeom>
        </p:spPr>
      </p:pic>
      <p:sp>
        <p:nvSpPr>
          <p:cNvPr name="AutoShape 10" id="10"/>
          <p:cNvSpPr/>
          <p:nvPr/>
        </p:nvSpPr>
        <p:spPr>
          <a:xfrm rot="0" flipH="false" flipV="false">
            <a:off x="1371600" y="3810000"/>
            <a:ext cx="4572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FFFF"/>
                </a:solidFill>
                <a:latin typeface="Noto Sans SC"/>
                <a:ea typeface="Noto Sans SC"/>
                <a:cs typeface="Noto Sans SC"/>
                <a:sym typeface="Noto Sans SC"/>
              </a:rPr>
              <a:t>优点</a:t>
            </a:r>
            <a:endParaRPr lang="en-US" sz="1100"/>
          </a:p>
        </p:txBody>
      </p:sp>
      <p:sp>
        <p:nvSpPr>
          <p:cNvPr name="AutoShape 11" id="11"/>
          <p:cNvSpPr/>
          <p:nvPr/>
        </p:nvSpPr>
        <p:spPr>
          <a:xfrm rot="0" flipH="false" flipV="false">
            <a:off x="1371600" y="4191000"/>
            <a:ext cx="4318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Noto Sans SC"/>
                <a:ea typeface="Noto Sans SC"/>
                <a:cs typeface="Noto Sans SC"/>
                <a:sym typeface="Noto Sans SC"/>
              </a:rPr>
              <a:t>一次性获得大量资金，灵活应对突发或大额需求。</a:t>
            </a:r>
            <a:endParaRPr lang="en-US" sz="1100"/>
          </a:p>
        </p:txBody>
      </p:sp>
      <p:pic>
        <p:nvPicPr>
          <p:cNvPr name="Picture 12" id="1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4953000"/>
            <a:ext cx="203200" cy="203200"/>
          </a:xfrm>
          <a:prstGeom prst="rect">
            <a:avLst/>
          </a:prstGeom>
        </p:spPr>
      </p:pic>
      <p:sp>
        <p:nvSpPr>
          <p:cNvPr name="AutoShape 13" id="13"/>
          <p:cNvSpPr/>
          <p:nvPr/>
        </p:nvSpPr>
        <p:spPr>
          <a:xfrm rot="0" flipH="false" flipV="false">
            <a:off x="1371600" y="4953000"/>
            <a:ext cx="4572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F4444"/>
                </a:solidFill>
                <a:latin typeface="Noto Sans SC"/>
                <a:ea typeface="Noto Sans SC"/>
                <a:cs typeface="Noto Sans SC"/>
                <a:sym typeface="Noto Sans SC"/>
              </a:rPr>
              <a:t>缺点</a:t>
            </a:r>
            <a:endParaRPr lang="en-US" sz="1100"/>
          </a:p>
        </p:txBody>
      </p:sp>
      <p:sp>
        <p:nvSpPr>
          <p:cNvPr name="AutoShape 14" id="14"/>
          <p:cNvSpPr/>
          <p:nvPr/>
        </p:nvSpPr>
        <p:spPr>
          <a:xfrm rot="0" flipH="false" flipV="false">
            <a:off x="1371600" y="5334000"/>
            <a:ext cx="4318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Noto Sans SC"/>
                <a:ea typeface="Noto Sans SC"/>
                <a:cs typeface="Noto Sans SC"/>
                <a:sym typeface="Noto Sans SC"/>
              </a:rPr>
              <a:t>可能影响长期退休收入，需谨慎规划资金用途。</a:t>
            </a:r>
            <a:endParaRPr lang="en-US" sz="1100"/>
          </a:p>
        </p:txBody>
      </p:sp>
      <p:cxnSp>
        <p:nvCxnSpPr>
          <p:cNvPr name="Connector 15" id="15"/>
          <p:cNvCxnSpPr/>
          <p:nvPr/>
        </p:nvCxnSpPr>
        <p:spPr>
          <a:xfrm rot="5388910" flipH="false" flipV="false">
            <a:off x="4127500" y="3867160"/>
            <a:ext cx="3937000" cy="12700"/>
          </a:xfrm>
          <a:prstGeom prst="straightConnector1">
            <a:avLst/>
          </a:prstGeom>
          <a:solidFill>
            <a:srgbClr val="DEE0E3">
              <a:alpha val="100000"/>
            </a:srgbClr>
          </a:solidFill>
          <a:ln w="12700" cmpd="sng" cap="flat">
            <a:solidFill>
              <a:srgbClr val="FFFFFF">
                <a:alpha val="20000"/>
              </a:srgbClr>
            </a:solidFill>
            <a:prstDash val="dash"/>
            <a:round/>
            <a:headEnd type="none" w="med" len="med"/>
            <a:tailEnd type="none" w="med" len="med"/>
          </a:ln>
        </p:spPr>
      </p:cxnSp>
      <p:pic>
        <p:nvPicPr>
          <p:cNvPr name="Picture 16" id="1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604000" y="1905000"/>
            <a:ext cx="457200" cy="457200"/>
          </a:xfrm>
          <a:prstGeom prst="rect">
            <a:avLst/>
          </a:prstGeom>
        </p:spPr>
      </p:pic>
      <p:sp>
        <p:nvSpPr>
          <p:cNvPr name="AutoShape 17" id="17"/>
          <p:cNvSpPr/>
          <p:nvPr/>
        </p:nvSpPr>
        <p:spPr>
          <a:xfrm rot="0" flipH="false" flipV="false">
            <a:off x="7264400" y="1955800"/>
            <a:ext cx="4572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FFFF"/>
                </a:solidFill>
                <a:latin typeface="Noto Sans SC"/>
                <a:ea typeface="Noto Sans SC"/>
                <a:cs typeface="Noto Sans SC"/>
                <a:sym typeface="Noto Sans SC"/>
              </a:rPr>
              <a:t>分期领取 (Pension)</a:t>
            </a:r>
            <a:endParaRPr lang="en-US" sz="1100"/>
          </a:p>
        </p:txBody>
      </p:sp>
      <p:pic>
        <p:nvPicPr>
          <p:cNvPr name="Picture 18" id="1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2667000"/>
            <a:ext cx="203200" cy="203200"/>
          </a:xfrm>
          <a:prstGeom prst="rect">
            <a:avLst/>
          </a:prstGeom>
        </p:spPr>
      </p:pic>
      <p:sp>
        <p:nvSpPr>
          <p:cNvPr name="AutoShape 19" id="19"/>
          <p:cNvSpPr/>
          <p:nvPr/>
        </p:nvSpPr>
        <p:spPr>
          <a:xfrm rot="0" flipH="false" flipV="false">
            <a:off x="6959600" y="2667000"/>
            <a:ext cx="4572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D700"/>
                </a:solidFill>
                <a:latin typeface="Noto Sans SC"/>
                <a:ea typeface="Noto Sans SC"/>
                <a:cs typeface="Noto Sans SC"/>
                <a:sym typeface="Noto Sans SC"/>
              </a:rPr>
              <a:t>适用情况</a:t>
            </a:r>
            <a:endParaRPr lang="en-US" sz="1100"/>
          </a:p>
        </p:txBody>
      </p:sp>
      <p:sp>
        <p:nvSpPr>
          <p:cNvPr name="AutoShape 20" id="20"/>
          <p:cNvSpPr/>
          <p:nvPr/>
        </p:nvSpPr>
        <p:spPr>
          <a:xfrm rot="0" flipH="false" flipV="false">
            <a:off x="6959600" y="3048000"/>
            <a:ext cx="4318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Noto Sans SC"/>
                <a:ea typeface="Noto Sans SC"/>
                <a:cs typeface="Noto Sans SC"/>
                <a:sym typeface="Noto Sans SC"/>
              </a:rPr>
              <a:t>作为稳定退休收入，支付日常生活及养老开销。</a:t>
            </a:r>
            <a:endParaRPr lang="en-US" sz="1100"/>
          </a:p>
        </p:txBody>
      </p:sp>
      <p:pic>
        <p:nvPicPr>
          <p:cNvPr name="Picture 21" id="2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04000" y="3810000"/>
            <a:ext cx="203200" cy="203200"/>
          </a:xfrm>
          <a:prstGeom prst="rect">
            <a:avLst/>
          </a:prstGeom>
        </p:spPr>
      </p:pic>
      <p:sp>
        <p:nvSpPr>
          <p:cNvPr name="AutoShape 22" id="22"/>
          <p:cNvSpPr/>
          <p:nvPr/>
        </p:nvSpPr>
        <p:spPr>
          <a:xfrm rot="0" flipH="false" flipV="false">
            <a:off x="6959600" y="3810000"/>
            <a:ext cx="4572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FFFF"/>
                </a:solidFill>
                <a:latin typeface="Noto Sans SC"/>
                <a:ea typeface="Noto Sans SC"/>
                <a:cs typeface="Noto Sans SC"/>
                <a:sym typeface="Noto Sans SC"/>
              </a:rPr>
              <a:t>优点</a:t>
            </a:r>
            <a:endParaRPr lang="en-US" sz="1100"/>
          </a:p>
        </p:txBody>
      </p:sp>
      <p:sp>
        <p:nvSpPr>
          <p:cNvPr name="AutoShape 23" id="23"/>
          <p:cNvSpPr/>
          <p:nvPr/>
        </p:nvSpPr>
        <p:spPr>
          <a:xfrm rot="0" flipH="false" flipV="false">
            <a:off x="6959600" y="4191000"/>
            <a:ext cx="4318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Noto Sans SC"/>
                <a:ea typeface="Noto Sans SC"/>
                <a:cs typeface="Noto Sans SC"/>
                <a:sym typeface="Noto Sans SC"/>
              </a:rPr>
              <a:t>提供持续现金流，账户内投资收益免税。</a:t>
            </a:r>
            <a:endParaRPr lang="en-US" sz="1100"/>
          </a:p>
        </p:txBody>
      </p:sp>
      <p:pic>
        <p:nvPicPr>
          <p:cNvPr name="Picture 24" id="2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04000" y="4953000"/>
            <a:ext cx="203200" cy="203200"/>
          </a:xfrm>
          <a:prstGeom prst="rect">
            <a:avLst/>
          </a:prstGeom>
        </p:spPr>
      </p:pic>
      <p:sp>
        <p:nvSpPr>
          <p:cNvPr name="AutoShape 25" id="25"/>
          <p:cNvSpPr/>
          <p:nvPr/>
        </p:nvSpPr>
        <p:spPr>
          <a:xfrm rot="0" flipH="false" flipV="false">
            <a:off x="6959600" y="4953000"/>
            <a:ext cx="4572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F4444"/>
                </a:solidFill>
                <a:latin typeface="Noto Sans SC"/>
                <a:ea typeface="Noto Sans SC"/>
                <a:cs typeface="Noto Sans SC"/>
                <a:sym typeface="Noto Sans SC"/>
              </a:rPr>
              <a:t>缺点</a:t>
            </a:r>
            <a:endParaRPr lang="en-US" sz="1100"/>
          </a:p>
        </p:txBody>
      </p:sp>
      <p:sp>
        <p:nvSpPr>
          <p:cNvPr name="AutoShape 26" id="26"/>
          <p:cNvSpPr/>
          <p:nvPr/>
        </p:nvSpPr>
        <p:spPr>
          <a:xfrm rot="0" flipH="false" flipV="false">
            <a:off x="6959600" y="5334000"/>
            <a:ext cx="4318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Noto Sans SC"/>
                <a:ea typeface="Noto Sans SC"/>
                <a:cs typeface="Noto Sans SC"/>
                <a:sym typeface="Noto Sans SC"/>
              </a:rPr>
              <a:t>每年需按年龄提取最低比例资金，灵活性较低。</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1182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000">
                <a:solidFill>
                  <a:srgbClr val="FFFFFF"/>
                </a:solidFill>
                <a:latin typeface="Noto Sans SC"/>
                <a:ea typeface="Noto Sans SC"/>
                <a:cs typeface="Noto Sans SC"/>
                <a:sym typeface="Noto Sans SC"/>
              </a:rPr>
              <a:t>超级年金在养老院费用支付中的应用</a:t>
            </a:r>
            <a:endParaRPr lang="en-US" sz="1100"/>
          </a:p>
        </p:txBody>
      </p:sp>
      <p:cxnSp>
        <p:nvCxnSpPr>
          <p:cNvPr name="Connector 3" id="3"/>
          <p:cNvCxnSpPr/>
          <p:nvPr/>
        </p:nvCxnSpPr>
        <p:spPr>
          <a:xfrm rot="-4297" flipH="false" flipV="false">
            <a:off x="1016004" y="1581150"/>
            <a:ext cx="10160000" cy="12700"/>
          </a:xfrm>
          <a:prstGeom prst="straightConnector1">
            <a:avLst/>
          </a:prstGeom>
          <a:solidFill>
            <a:srgbClr val="DEE0E3">
              <a:alpha val="100000"/>
            </a:srgbClr>
          </a:solidFill>
          <a:ln w="12700" cmpd="sng" cap="flat">
            <a:solidFill>
              <a:srgbClr val="00FFFF">
                <a:alpha val="40000"/>
              </a:srgbClr>
            </a:solidFill>
            <a:prstDash val="solid"/>
            <a:round/>
            <a:headEnd type="none" w="med" len="med"/>
            <a:tailEnd type="none" w="med" len="med"/>
          </a:ln>
        </p:spPr>
      </p:cxn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032000"/>
            <a:ext cx="355600" cy="355600"/>
          </a:xfrm>
          <a:prstGeom prst="rect">
            <a:avLst/>
          </a:prstGeom>
        </p:spPr>
      </p:pic>
      <p:sp>
        <p:nvSpPr>
          <p:cNvPr name="AutoShape 5" id="5"/>
          <p:cNvSpPr/>
          <p:nvPr/>
        </p:nvSpPr>
        <p:spPr>
          <a:xfrm rot="0" flipH="false" flipV="false">
            <a:off x="1574800" y="20574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FFFF"/>
                </a:solidFill>
                <a:latin typeface="Noto Sans SC"/>
                <a:ea typeface="Noto Sans SC"/>
                <a:cs typeface="Noto Sans SC"/>
                <a:sym typeface="Noto Sans SC"/>
              </a:rPr>
              <a:t>一次性押金 (RAD)</a:t>
            </a:r>
            <a:endParaRPr lang="en-US" sz="1100"/>
          </a:p>
        </p:txBody>
      </p:sp>
      <p:sp>
        <p:nvSpPr>
          <p:cNvPr name="AutoShape 6" id="6"/>
          <p:cNvSpPr/>
          <p:nvPr/>
        </p:nvSpPr>
        <p:spPr>
          <a:xfrm rot="0" flipH="false" flipV="false">
            <a:off x="1574800" y="2438400"/>
            <a:ext cx="4826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Noto Sans SC"/>
                <a:ea typeface="Noto Sans SC"/>
                <a:cs typeface="Noto Sans SC"/>
                <a:sym typeface="Noto Sans SC"/>
              </a:rPr>
              <a:t>支付养老院住宿押金，离开时全额退还，有效锁定床位。</a:t>
            </a:r>
            <a:endParaRPr lang="en-US" sz="1100"/>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251200"/>
            <a:ext cx="355600" cy="355600"/>
          </a:xfrm>
          <a:prstGeom prst="rect">
            <a:avLst/>
          </a:prstGeom>
        </p:spPr>
      </p:pic>
      <p:sp>
        <p:nvSpPr>
          <p:cNvPr name="AutoShape 8" id="8"/>
          <p:cNvSpPr/>
          <p:nvPr/>
        </p:nvSpPr>
        <p:spPr>
          <a:xfrm rot="0" flipH="false" flipV="false">
            <a:off x="1574800" y="32766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FFFF"/>
                </a:solidFill>
                <a:latin typeface="Noto Sans SC"/>
                <a:ea typeface="Noto Sans SC"/>
                <a:cs typeface="Noto Sans SC"/>
                <a:sym typeface="Noto Sans SC"/>
              </a:rPr>
              <a:t>每日住宿费 (DAP)</a:t>
            </a:r>
            <a:endParaRPr lang="en-US" sz="1100"/>
          </a:p>
        </p:txBody>
      </p:sp>
      <p:sp>
        <p:nvSpPr>
          <p:cNvPr name="AutoShape 9" id="9"/>
          <p:cNvSpPr/>
          <p:nvPr/>
        </p:nvSpPr>
        <p:spPr>
          <a:xfrm rot="0" flipH="false" flipV="false">
            <a:off x="1574800" y="3657600"/>
            <a:ext cx="4826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Noto Sans SC"/>
                <a:ea typeface="Noto Sans SC"/>
                <a:cs typeface="Noto Sans SC"/>
                <a:sym typeface="Noto Sans SC"/>
              </a:rPr>
              <a:t>按月支付每日住宿费用，提供更灵活的现金流管理方式。</a:t>
            </a:r>
            <a:endParaRPr lang="en-US" sz="1100"/>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470400"/>
            <a:ext cx="355600" cy="355600"/>
          </a:xfrm>
          <a:prstGeom prst="rect">
            <a:avLst/>
          </a:prstGeom>
        </p:spPr>
      </p:pic>
      <p:sp>
        <p:nvSpPr>
          <p:cNvPr name="AutoShape 11" id="11"/>
          <p:cNvSpPr/>
          <p:nvPr/>
        </p:nvSpPr>
        <p:spPr>
          <a:xfrm rot="0" flipH="false" flipV="false">
            <a:off x="1574800" y="44958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FFFF"/>
                </a:solidFill>
                <a:latin typeface="Noto Sans SC"/>
                <a:ea typeface="Noto Sans SC"/>
                <a:cs typeface="Noto Sans SC"/>
                <a:sym typeface="Noto Sans SC"/>
              </a:rPr>
              <a:t>收入测试护理费</a:t>
            </a:r>
            <a:endParaRPr lang="en-US" sz="1100"/>
          </a:p>
        </p:txBody>
      </p:sp>
      <p:sp>
        <p:nvSpPr>
          <p:cNvPr name="AutoShape 12" id="12"/>
          <p:cNvSpPr/>
          <p:nvPr/>
        </p:nvSpPr>
        <p:spPr>
          <a:xfrm rot="0" flipH="false" flipV="false">
            <a:off x="1574800" y="4876800"/>
            <a:ext cx="4826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Noto Sans SC"/>
                <a:ea typeface="Noto Sans SC"/>
                <a:cs typeface="Noto Sans SC"/>
                <a:sym typeface="Noto Sans SC"/>
              </a:rPr>
              <a:t>覆盖根据个人资产状况评估后需支付的额外护理费用。</a:t>
            </a:r>
            <a:endParaRPr lang="en-US" sz="1100"/>
          </a:p>
        </p:txBody>
      </p:sp>
      <p:cxnSp>
        <p:nvCxnSpPr>
          <p:cNvPr name="Connector 13" id="13"/>
          <p:cNvCxnSpPr/>
          <p:nvPr/>
        </p:nvCxnSpPr>
        <p:spPr>
          <a:xfrm rot="5387267" flipH="false" flipV="false">
            <a:off x="4889500" y="3740162"/>
            <a:ext cx="3429000" cy="12700"/>
          </a:xfrm>
          <a:prstGeom prst="straightConnector1">
            <a:avLst/>
          </a:prstGeom>
          <a:solidFill>
            <a:srgbClr val="DEE0E3">
              <a:alpha val="100000"/>
            </a:srgbClr>
          </a:solidFill>
          <a:ln w="12700" cmpd="sng" cap="flat">
            <a:solidFill>
              <a:srgbClr val="FFFFFF">
                <a:alpha val="20000"/>
              </a:srgbClr>
            </a:solidFill>
            <a:prstDash val="dash"/>
            <a:round/>
            <a:headEnd type="none" w="med" len="med"/>
            <a:tailEnd type="none" w="med" len="med"/>
          </a:ln>
        </p:spPr>
      </p:cxnSp>
      <p:pic>
        <p:nvPicPr>
          <p:cNvPr name="Picture 14" id="14"/>
          <p:cNvPicPr>
            <a:picLocks noChangeAspect="true"/>
          </p:cNvPicPr>
          <p:nvPr/>
        </p:nvPicPr>
        <p:blipFill>
          <a:blip r:embed="rId8"/>
          <a:srcRect l="0" r="0" t="0" b="0"/>
          <a:stretch>
            <a:fillRect/>
          </a:stretch>
        </p:blipFill>
        <p:spPr>
          <a:xfrm rot="0" flipH="false" flipV="false">
            <a:off x="7112000" y="2032000"/>
            <a:ext cx="4064000" cy="2286000"/>
          </a:xfrm>
          <a:prstGeom prst="roundRect">
            <a:avLst>
              <a:gd name="adj" fmla="val 6666"/>
            </a:avLst>
          </a:prstGeom>
          <a:noFill/>
          <a:ln w="25400" cmpd="sng" cap="flat">
            <a:noFill/>
            <a:prstDash val="solid"/>
            <a:round/>
          </a:ln>
        </p:spPr>
      </p:pic>
      <p:sp>
        <p:nvSpPr>
          <p:cNvPr name="AutoShape 15" id="15"/>
          <p:cNvSpPr/>
          <p:nvPr/>
        </p:nvSpPr>
        <p:spPr>
          <a:xfrm rot="0" flipH="false" flipV="false">
            <a:off x="7112000" y="45720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D700"/>
                </a:solidFill>
                <a:latin typeface="Noto Sans SC"/>
                <a:ea typeface="Noto Sans SC"/>
                <a:cs typeface="Noto Sans SC"/>
                <a:sym typeface="Noto Sans SC"/>
              </a:rPr>
              <a:t>灵活规划，提升品质</a:t>
            </a:r>
            <a:endParaRPr lang="en-US" sz="1100"/>
          </a:p>
        </p:txBody>
      </p:sp>
      <p:sp>
        <p:nvSpPr>
          <p:cNvPr name="AutoShape 16" id="16"/>
          <p:cNvSpPr/>
          <p:nvPr/>
        </p:nvSpPr>
        <p:spPr>
          <a:xfrm rot="0" flipH="false" flipV="false">
            <a:off x="7112000" y="4953000"/>
            <a:ext cx="4064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Noto Sans SC"/>
                <a:ea typeface="Noto Sans SC"/>
                <a:cs typeface="Noto Sans SC"/>
                <a:sym typeface="Noto Sans SC"/>
              </a:rPr>
              <a:t>合理规划超级年金提取，有效覆盖各项费用，保障退休生活质量。</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1182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7620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000">
                <a:solidFill>
                  <a:srgbClr val="FFFFFF"/>
                </a:solidFill>
                <a:latin typeface="Noto Sans SC"/>
                <a:ea typeface="Noto Sans SC"/>
                <a:cs typeface="Noto Sans SC"/>
                <a:sym typeface="Noto Sans SC"/>
              </a:rPr>
              <a:t>养老院费用构成</a:t>
            </a:r>
            <a:endParaRPr lang="en-US" sz="1100"/>
          </a:p>
        </p:txBody>
      </p:sp>
      <p:cxnSp>
        <p:nvCxnSpPr>
          <p:cNvPr name="Connector 3" id="3"/>
          <p:cNvCxnSpPr/>
          <p:nvPr/>
        </p:nvCxnSpPr>
        <p:spPr>
          <a:xfrm rot="-4297" flipH="false" flipV="false">
            <a:off x="1016004" y="1517650"/>
            <a:ext cx="10160000" cy="12700"/>
          </a:xfrm>
          <a:prstGeom prst="straightConnector1">
            <a:avLst/>
          </a:prstGeom>
          <a:solidFill>
            <a:srgbClr val="DEE0E3">
              <a:alpha val="100000"/>
            </a:srgbClr>
          </a:solidFill>
          <a:ln w="12700" cmpd="sng" cap="flat">
            <a:solidFill>
              <a:srgbClr val="00FFFF">
                <a:alpha val="30000"/>
              </a:srgbClr>
            </a:solidFill>
            <a:prstDash val="solid"/>
            <a:round/>
            <a:headEnd type="none" w="med" len="med"/>
            <a:tailEnd type="none" w="med" len="med"/>
          </a:ln>
        </p:spPr>
      </p:cxnSp>
      <p:sp>
        <p:nvSpPr>
          <p:cNvPr name="AutoShape 4" id="4"/>
          <p:cNvSpPr/>
          <p:nvPr/>
        </p:nvSpPr>
        <p:spPr>
          <a:xfrm rot="0" flipH="false" flipV="false">
            <a:off x="1016000" y="1905000"/>
            <a:ext cx="4826000" cy="1905000"/>
          </a:xfrm>
          <a:prstGeom prst="roundRect">
            <a:avLst>
              <a:gd name="adj" fmla="val 5333"/>
            </a:avLst>
          </a:prstGeom>
          <a:solidFill>
            <a:srgbClr val="1F2937">
              <a:alpha val="60000"/>
            </a:srgbClr>
          </a:solidFill>
          <a:ln w="12700" cmpd="sng" cap="flat">
            <a:solidFill>
              <a:srgbClr val="00FFFF">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70000" y="2159000"/>
            <a:ext cx="406400" cy="406400"/>
          </a:xfrm>
          <a:prstGeom prst="rect">
            <a:avLst/>
          </a:prstGeom>
        </p:spPr>
      </p:pic>
      <p:sp>
        <p:nvSpPr>
          <p:cNvPr name="AutoShape 6" id="6"/>
          <p:cNvSpPr/>
          <p:nvPr/>
        </p:nvSpPr>
        <p:spPr>
          <a:xfrm rot="0" flipH="false" flipV="false">
            <a:off x="1879600" y="2209800"/>
            <a:ext cx="355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基础日常费用</a:t>
            </a:r>
            <a:endParaRPr lang="en-US" sz="1100"/>
          </a:p>
        </p:txBody>
      </p:sp>
      <p:sp>
        <p:nvSpPr>
          <p:cNvPr name="AutoShape 7" id="7"/>
          <p:cNvSpPr/>
          <p:nvPr/>
        </p:nvSpPr>
        <p:spPr>
          <a:xfrm rot="0" flipH="false" flipV="false">
            <a:off x="1879600" y="2590800"/>
            <a:ext cx="3810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D1D5DB"/>
                </a:solidFill>
                <a:latin typeface="Noto Sans SC"/>
                <a:ea typeface="Noto Sans SC"/>
                <a:cs typeface="Noto Sans SC"/>
                <a:sym typeface="Noto Sans SC"/>
              </a:rPr>
              <a:t>覆盖餐食、清洁、洗衣等基础服务。</a:t>
            </a:r>
            <a:endParaRPr lang="en-US" sz="1100"/>
          </a:p>
        </p:txBody>
      </p:sp>
      <p:sp>
        <p:nvSpPr>
          <p:cNvPr name="AutoShape 8" id="8"/>
          <p:cNvSpPr/>
          <p:nvPr/>
        </p:nvSpPr>
        <p:spPr>
          <a:xfrm rot="0" flipH="false" flipV="false">
            <a:off x="6350000" y="1905000"/>
            <a:ext cx="4826000" cy="1905000"/>
          </a:xfrm>
          <a:prstGeom prst="roundRect">
            <a:avLst>
              <a:gd name="adj" fmla="val 5333"/>
            </a:avLst>
          </a:prstGeom>
          <a:solidFill>
            <a:srgbClr val="1F2937">
              <a:alpha val="60000"/>
            </a:srgbClr>
          </a:solidFill>
          <a:ln w="12700" cmpd="sng" cap="flat">
            <a:solidFill>
              <a:srgbClr val="00FFFF">
                <a:alpha val="4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2159000"/>
            <a:ext cx="406400" cy="406400"/>
          </a:xfrm>
          <a:prstGeom prst="rect">
            <a:avLst/>
          </a:prstGeom>
        </p:spPr>
      </p:pic>
      <p:sp>
        <p:nvSpPr>
          <p:cNvPr name="AutoShape 10" id="10"/>
          <p:cNvSpPr/>
          <p:nvPr/>
        </p:nvSpPr>
        <p:spPr>
          <a:xfrm rot="0" flipH="false" flipV="false">
            <a:off x="7213600" y="2209800"/>
            <a:ext cx="355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收入测试护理费</a:t>
            </a:r>
            <a:endParaRPr lang="en-US" sz="1100"/>
          </a:p>
        </p:txBody>
      </p:sp>
      <p:sp>
        <p:nvSpPr>
          <p:cNvPr name="AutoShape 11" id="11"/>
          <p:cNvSpPr/>
          <p:nvPr/>
        </p:nvSpPr>
        <p:spPr>
          <a:xfrm rot="0" flipH="false" flipV="false">
            <a:off x="7213600" y="2590800"/>
            <a:ext cx="3810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D1D5DB"/>
                </a:solidFill>
                <a:latin typeface="Noto Sans SC"/>
                <a:ea typeface="Noto Sans SC"/>
                <a:cs typeface="Noto Sans SC"/>
                <a:sym typeface="Noto Sans SC"/>
              </a:rPr>
              <a:t>根据个人收入和资产状况而定，有上限。</a:t>
            </a:r>
            <a:endParaRPr lang="en-US" sz="1100"/>
          </a:p>
        </p:txBody>
      </p:sp>
      <p:sp>
        <p:nvSpPr>
          <p:cNvPr name="AutoShape 12" id="12"/>
          <p:cNvSpPr/>
          <p:nvPr/>
        </p:nvSpPr>
        <p:spPr>
          <a:xfrm rot="0" flipH="false" flipV="false">
            <a:off x="1016000" y="4064000"/>
            <a:ext cx="4826000" cy="1905000"/>
          </a:xfrm>
          <a:prstGeom prst="roundRect">
            <a:avLst>
              <a:gd name="adj" fmla="val 5333"/>
            </a:avLst>
          </a:prstGeom>
          <a:solidFill>
            <a:srgbClr val="1F2937">
              <a:alpha val="60000"/>
            </a:srgbClr>
          </a:solidFill>
          <a:ln w="12700" cmpd="sng" cap="flat">
            <a:solidFill>
              <a:srgbClr val="00FFFF">
                <a:alpha val="4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70000" y="4318000"/>
            <a:ext cx="406400" cy="406400"/>
          </a:xfrm>
          <a:prstGeom prst="rect">
            <a:avLst/>
          </a:prstGeom>
        </p:spPr>
      </p:pic>
      <p:sp>
        <p:nvSpPr>
          <p:cNvPr name="AutoShape 14" id="14"/>
          <p:cNvSpPr/>
          <p:nvPr/>
        </p:nvSpPr>
        <p:spPr>
          <a:xfrm rot="0" flipH="false" flipV="false">
            <a:off x="1879600" y="4368800"/>
            <a:ext cx="355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住宿费用</a:t>
            </a:r>
            <a:endParaRPr lang="en-US" sz="1100"/>
          </a:p>
        </p:txBody>
      </p:sp>
      <p:sp>
        <p:nvSpPr>
          <p:cNvPr name="AutoShape 15" id="15"/>
          <p:cNvSpPr/>
          <p:nvPr/>
        </p:nvSpPr>
        <p:spPr>
          <a:xfrm rot="0" flipH="false" flipV="false">
            <a:off x="1879600" y="4749800"/>
            <a:ext cx="3810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D1D5DB"/>
                </a:solidFill>
                <a:latin typeface="Noto Sans SC"/>
                <a:ea typeface="Noto Sans SC"/>
                <a:cs typeface="Noto Sans SC"/>
                <a:sym typeface="Noto Sans SC"/>
              </a:rPr>
              <a:t>可选择一次性押金(RAD)或每日租金(DAP)。</a:t>
            </a:r>
            <a:endParaRPr lang="en-US" sz="1100"/>
          </a:p>
        </p:txBody>
      </p:sp>
      <p:sp>
        <p:nvSpPr>
          <p:cNvPr name="AutoShape 16" id="16"/>
          <p:cNvSpPr/>
          <p:nvPr/>
        </p:nvSpPr>
        <p:spPr>
          <a:xfrm rot="0" flipH="false" flipV="false">
            <a:off x="6350000" y="4064000"/>
            <a:ext cx="4826000" cy="1905000"/>
          </a:xfrm>
          <a:prstGeom prst="roundRect">
            <a:avLst>
              <a:gd name="adj" fmla="val 5333"/>
            </a:avLst>
          </a:prstGeom>
          <a:solidFill>
            <a:srgbClr val="1F2937">
              <a:alpha val="60000"/>
            </a:srgbClr>
          </a:solidFill>
          <a:ln w="12700" cmpd="sng" cap="flat">
            <a:solidFill>
              <a:srgbClr val="00FFFF">
                <a:alpha val="4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04000" y="4318000"/>
            <a:ext cx="406400" cy="406400"/>
          </a:xfrm>
          <a:prstGeom prst="rect">
            <a:avLst/>
          </a:prstGeom>
        </p:spPr>
      </p:pic>
      <p:sp>
        <p:nvSpPr>
          <p:cNvPr name="AutoShape 18" id="18"/>
          <p:cNvSpPr/>
          <p:nvPr/>
        </p:nvSpPr>
        <p:spPr>
          <a:xfrm rot="0" flipH="false" flipV="false">
            <a:off x="7213600" y="4368800"/>
            <a:ext cx="355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可选服务费用</a:t>
            </a:r>
            <a:endParaRPr lang="en-US" sz="1100"/>
          </a:p>
        </p:txBody>
      </p:sp>
      <p:sp>
        <p:nvSpPr>
          <p:cNvPr name="AutoShape 19" id="19"/>
          <p:cNvSpPr/>
          <p:nvPr/>
        </p:nvSpPr>
        <p:spPr>
          <a:xfrm rot="0" flipH="false" flipV="false">
            <a:off x="7213600" y="4749800"/>
            <a:ext cx="3810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D1D5DB"/>
                </a:solidFill>
                <a:latin typeface="Noto Sans SC"/>
                <a:ea typeface="Noto Sans SC"/>
                <a:cs typeface="Noto Sans SC"/>
                <a:sym typeface="Noto Sans SC"/>
              </a:rPr>
              <a:t>如美容、理疗等额外服务，按需购买。</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1182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7620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000">
                <a:solidFill>
                  <a:srgbClr val="FFFFFF"/>
                </a:solidFill>
                <a:latin typeface="Noto Sans SC"/>
                <a:ea typeface="Noto Sans SC"/>
                <a:cs typeface="Noto Sans SC"/>
                <a:sym typeface="Noto Sans SC"/>
              </a:rPr>
              <a:t>案例分析：低收入老人</a:t>
            </a:r>
            <a:endParaRPr lang="en-US" sz="1100"/>
          </a:p>
        </p:txBody>
      </p:sp>
      <p:cxnSp>
        <p:nvCxnSpPr>
          <p:cNvPr name="Connector 3" id="3"/>
          <p:cNvCxnSpPr/>
          <p:nvPr/>
        </p:nvCxnSpPr>
        <p:spPr>
          <a:xfrm rot="-8594" flipH="false" flipV="false">
            <a:off x="1016008" y="1517650"/>
            <a:ext cx="5080000" cy="12700"/>
          </a:xfrm>
          <a:prstGeom prst="straightConnector1">
            <a:avLst/>
          </a:prstGeom>
          <a:solidFill>
            <a:srgbClr val="DEE0E3">
              <a:alpha val="100000"/>
            </a:srgbClr>
          </a:solidFill>
          <a:ln w="25400" cmpd="sng" cap="flat">
            <a:solidFill>
              <a:srgbClr val="00FFFF">
                <a:alpha val="100000"/>
              </a:srgbClr>
            </a:solidFill>
            <a:prstDash val="solid"/>
            <a:round/>
            <a:headEnd type="none" w="lg" len="lg"/>
            <a:tailEnd type="none" w="lg" len="lg"/>
          </a:ln>
        </p:spPr>
      </p:cxnSp>
      <p:sp>
        <p:nvSpPr>
          <p:cNvPr name="AutoShape 4" id="4"/>
          <p:cNvSpPr/>
          <p:nvPr/>
        </p:nvSpPr>
        <p:spPr>
          <a:xfrm rot="0" flipH="false" flipV="false">
            <a:off x="1016000" y="1905000"/>
            <a:ext cx="508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案例一：低收入老人 (老人A)</a:t>
            </a:r>
            <a:endParaRPr lang="en-US" sz="1100"/>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540000"/>
            <a:ext cx="304800" cy="304800"/>
          </a:xfrm>
          <a:prstGeom prst="rect">
            <a:avLst/>
          </a:prstGeom>
        </p:spPr>
      </p:pic>
      <p:sp>
        <p:nvSpPr>
          <p:cNvPr name="AutoShape 6" id="6"/>
          <p:cNvSpPr/>
          <p:nvPr/>
        </p:nvSpPr>
        <p:spPr>
          <a:xfrm rot="0" flipH="false" flipV="false">
            <a:off x="1524000" y="25654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背景信息</a:t>
            </a:r>
            <a:endParaRPr lang="en-US" sz="1100"/>
          </a:p>
        </p:txBody>
      </p:sp>
      <p:sp>
        <p:nvSpPr>
          <p:cNvPr name="AutoShape 7" id="7"/>
          <p:cNvSpPr/>
          <p:nvPr/>
        </p:nvSpPr>
        <p:spPr>
          <a:xfrm rot="0" flipH="false" flipV="false">
            <a:off x="1524000" y="2971800"/>
            <a:ext cx="4572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67岁，单身，有自住房，无Super，无存款，领取全额政府养老金。</a:t>
            </a:r>
            <a:endParaRPr lang="en-US" sz="1100"/>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810000"/>
            <a:ext cx="304800" cy="304800"/>
          </a:xfrm>
          <a:prstGeom prst="rect">
            <a:avLst/>
          </a:prstGeom>
        </p:spPr>
      </p:pic>
      <p:sp>
        <p:nvSpPr>
          <p:cNvPr name="AutoShape 9" id="9"/>
          <p:cNvSpPr/>
          <p:nvPr/>
        </p:nvSpPr>
        <p:spPr>
          <a:xfrm rot="0" flipH="false" flipV="false">
            <a:off x="1524000" y="38354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养老院费用支付</a:t>
            </a:r>
            <a:endParaRPr lang="en-US" sz="1100"/>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524000" y="4318000"/>
            <a:ext cx="203200" cy="203200"/>
          </a:xfrm>
          <a:prstGeom prst="rect">
            <a:avLst/>
          </a:prstGeom>
        </p:spPr>
      </p:pic>
      <p:sp>
        <p:nvSpPr>
          <p:cNvPr name="AutoShape 11" id="11"/>
          <p:cNvSpPr/>
          <p:nvPr/>
        </p:nvSpPr>
        <p:spPr>
          <a:xfrm rot="0" flipH="false" flipV="false">
            <a:off x="1828800" y="4318000"/>
            <a:ext cx="4064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基础日常费：</a:t>
            </a:r>
            <a:r>
              <a:rPr lang="en-US" b="true" i="false" strike="noStrike" u="none" sz="1400">
                <a:solidFill>
                  <a:srgbClr val="FFD700"/>
                </a:solidFill>
                <a:latin typeface="Noto Sans SC"/>
                <a:ea typeface="Noto Sans SC"/>
                <a:cs typeface="Noto Sans SC"/>
                <a:sym typeface="Noto Sans SC"/>
              </a:rPr>
              <a:t>$65.55/天</a:t>
            </a:r>
            <a:r>
              <a:rPr lang="en-US" b="false" i="false" strike="noStrike" u="none" sz="1400">
                <a:solidFill>
                  <a:srgbClr val="D1D5DB"/>
                </a:solidFill>
                <a:latin typeface="Noto Sans SC"/>
                <a:ea typeface="Noto Sans SC"/>
                <a:cs typeface="Noto Sans SC"/>
                <a:sym typeface="Noto Sans SC"/>
              </a:rPr>
              <a:t>(养老金扣除)</a:t>
            </a:r>
            <a:endParaRPr lang="en-US" sz="1100"/>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524000" y="4826000"/>
            <a:ext cx="203200" cy="203200"/>
          </a:xfrm>
          <a:prstGeom prst="rect">
            <a:avLst/>
          </a:prstGeom>
        </p:spPr>
      </p:pic>
      <p:sp>
        <p:nvSpPr>
          <p:cNvPr name="AutoShape 13" id="13"/>
          <p:cNvSpPr/>
          <p:nvPr/>
        </p:nvSpPr>
        <p:spPr>
          <a:xfrm rot="0" flipH="false" flipV="false">
            <a:off x="1828800" y="4826000"/>
            <a:ext cx="4064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收入测试护理费：</a:t>
            </a:r>
            <a:r>
              <a:rPr lang="en-US" b="true" i="false" strike="noStrike" u="none" sz="1400">
                <a:solidFill>
                  <a:srgbClr val="FFD700"/>
                </a:solidFill>
                <a:latin typeface="Noto Sans SC"/>
                <a:ea typeface="Noto Sans SC"/>
                <a:cs typeface="Noto Sans SC"/>
                <a:sym typeface="Noto Sans SC"/>
              </a:rPr>
              <a:t>$0</a:t>
            </a:r>
            <a:r>
              <a:rPr lang="en-US" b="false" i="false" strike="noStrike" u="none" sz="1400">
                <a:solidFill>
                  <a:srgbClr val="D1D5DB"/>
                </a:solidFill>
                <a:latin typeface="Noto Sans SC"/>
                <a:ea typeface="Noto Sans SC"/>
                <a:cs typeface="Noto Sans SC"/>
                <a:sym typeface="Noto Sans SC"/>
              </a:rPr>
              <a:t>(政府全额补贴)</a:t>
            </a:r>
            <a:endParaRPr lang="en-US" sz="1100"/>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524000" y="5334000"/>
            <a:ext cx="203200" cy="203200"/>
          </a:xfrm>
          <a:prstGeom prst="rect">
            <a:avLst/>
          </a:prstGeom>
        </p:spPr>
      </p:pic>
      <p:sp>
        <p:nvSpPr>
          <p:cNvPr name="AutoShape 15" id="15"/>
          <p:cNvSpPr/>
          <p:nvPr/>
        </p:nvSpPr>
        <p:spPr>
          <a:xfrm rot="0" flipH="false" flipV="false">
            <a:off x="1828800" y="5334000"/>
            <a:ext cx="4064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住宿费：</a:t>
            </a:r>
            <a:r>
              <a:rPr lang="en-US" b="true" i="false" strike="noStrike" u="none" sz="1400">
                <a:solidFill>
                  <a:srgbClr val="FFD700"/>
                </a:solidFill>
                <a:latin typeface="Noto Sans SC"/>
                <a:ea typeface="Noto Sans SC"/>
                <a:cs typeface="Noto Sans SC"/>
                <a:sym typeface="Noto Sans SC"/>
              </a:rPr>
              <a:t>$0</a:t>
            </a:r>
            <a:r>
              <a:rPr lang="en-US" b="false" i="false" strike="noStrike" u="none" sz="1400">
                <a:solidFill>
                  <a:srgbClr val="D1D5DB"/>
                </a:solidFill>
                <a:latin typeface="Noto Sans SC"/>
                <a:ea typeface="Noto Sans SC"/>
                <a:cs typeface="Noto Sans SC"/>
                <a:sym typeface="Noto Sans SC"/>
              </a:rPr>
              <a:t>(政府全额补贴)</a:t>
            </a:r>
            <a:endParaRPr lang="en-US" sz="1100"/>
          </a:p>
        </p:txBody>
      </p:sp>
      <p:cxnSp>
        <p:nvCxnSpPr>
          <p:cNvPr name="Connector 16" id="16"/>
          <p:cNvCxnSpPr/>
          <p:nvPr/>
        </p:nvCxnSpPr>
        <p:spPr>
          <a:xfrm rot="5388540" flipH="false" flipV="false">
            <a:off x="4191000" y="3803661"/>
            <a:ext cx="3810000" cy="12700"/>
          </a:xfrm>
          <a:prstGeom prst="straightConnector1">
            <a:avLst/>
          </a:prstGeom>
          <a:solidFill>
            <a:srgbClr val="DEE0E3">
              <a:alpha val="100000"/>
            </a:srgbClr>
          </a:solidFill>
          <a:ln w="12700" cmpd="sng" cap="flat">
            <a:solidFill>
              <a:srgbClr val="00FFFF">
                <a:alpha val="30000"/>
              </a:srgbClr>
            </a:solidFill>
            <a:prstDash val="dash"/>
            <a:round/>
            <a:headEnd type="none" w="med" len="med"/>
            <a:tailEnd type="none" w="med" len="med"/>
          </a:ln>
        </p:spPr>
      </p:cxnSp>
      <p:pic>
        <p:nvPicPr>
          <p:cNvPr name="Picture 17" id="17"/>
          <p:cNvPicPr>
            <a:picLocks noChangeAspect="true"/>
          </p:cNvPicPr>
          <p:nvPr/>
        </p:nvPicPr>
        <p:blipFill>
          <a:blip r:embed="rId8"/>
          <a:srcRect l="0" r="0" t="0" b="0"/>
          <a:stretch>
            <a:fillRect/>
          </a:stretch>
        </p:blipFill>
        <p:spPr>
          <a:xfrm rot="0" flipH="false" flipV="false">
            <a:off x="6604000" y="2540000"/>
            <a:ext cx="4572000" cy="2571750"/>
          </a:xfrm>
          <a:prstGeom prst="roundRect">
            <a:avLst>
              <a:gd name="adj" fmla="val 5925"/>
            </a:avLst>
          </a:prstGeom>
          <a:noFill/>
          <a:ln w="12700" cmpd="sng" cap="flat">
            <a:solidFill>
              <a:srgbClr val="00FFFF">
                <a:alpha val="100000"/>
              </a:srgbClr>
            </a:solidFill>
            <a:prstDash val="solid"/>
            <a:round/>
          </a:ln>
          <a:effectLst>
            <a:outerShdw dir="2700000" dist="0" blurRad="254000" algn="tl" rotWithShape="false">
              <a:srgbClr val="00FFFF">
                <a:alpha val="40000"/>
              </a:srgbClr>
            </a:outerShdw>
          </a:effectLst>
        </p:spPr>
      </p:pic>
      <p:sp>
        <p:nvSpPr>
          <p:cNvPr name="AutoShape 18" id="18"/>
          <p:cNvSpPr/>
          <p:nvPr/>
        </p:nvSpPr>
        <p:spPr>
          <a:xfrm rot="0" flipH="false" flipV="false">
            <a:off x="6604000" y="5334000"/>
            <a:ext cx="4572000" cy="279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D1D5DB"/>
                </a:solidFill>
                <a:latin typeface="Noto Sans SC"/>
                <a:ea typeface="Noto Sans SC"/>
                <a:cs typeface="Noto Sans SC"/>
                <a:sym typeface="Noto Sans SC"/>
              </a:rPr>
              <a:t>每日自付费用，政府承担绝大部分</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1182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7620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Noto Sans SC"/>
                <a:ea typeface="Noto Sans SC"/>
                <a:cs typeface="Noto Sans SC"/>
                <a:sym typeface="Noto Sans SC"/>
              </a:rPr>
              <a:t>案例分析：中等收入老人</a:t>
            </a:r>
            <a:endParaRPr lang="en-US" sz="1100"/>
          </a:p>
        </p:txBody>
      </p:sp>
      <p:cxnSp>
        <p:nvCxnSpPr>
          <p:cNvPr name="Connector 3" id="3"/>
          <p:cNvCxnSpPr/>
          <p:nvPr/>
        </p:nvCxnSpPr>
        <p:spPr>
          <a:xfrm rot="-4297" flipH="false" flipV="false">
            <a:off x="1016004" y="1466850"/>
            <a:ext cx="10160000" cy="12700"/>
          </a:xfrm>
          <a:prstGeom prst="straightConnector1">
            <a:avLst/>
          </a:prstGeom>
          <a:solidFill>
            <a:srgbClr val="DEE0E3">
              <a:alpha val="100000"/>
            </a:srgbClr>
          </a:solidFill>
          <a:ln w="12700" cmpd="sng" cap="flat">
            <a:solidFill>
              <a:srgbClr val="00FFFF">
                <a:alpha val="30000"/>
              </a:srgbClr>
            </a:solidFill>
            <a:prstDash val="solid"/>
            <a:round/>
            <a:headEnd type="none" w="med" len="med"/>
            <a:tailEnd type="none" w="med" len="med"/>
          </a:ln>
        </p:spPr>
      </p:cxnSp>
      <p:sp>
        <p:nvSpPr>
          <p:cNvPr name="AutoShape 4" id="4"/>
          <p:cNvSpPr/>
          <p:nvPr/>
        </p:nvSpPr>
        <p:spPr>
          <a:xfrm rot="0" flipH="false" flipV="false">
            <a:off x="1016000" y="1778000"/>
            <a:ext cx="508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FFFF"/>
                </a:solidFill>
                <a:latin typeface="Noto Sans SC"/>
                <a:ea typeface="Noto Sans SC"/>
                <a:cs typeface="Noto Sans SC"/>
                <a:sym typeface="Noto Sans SC"/>
              </a:rPr>
              <a:t>案例二：中等收入老人 (老人B)</a:t>
            </a:r>
            <a:endParaRPr lang="en-US" sz="1100"/>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336800"/>
            <a:ext cx="254000" cy="254000"/>
          </a:xfrm>
          <a:prstGeom prst="rect">
            <a:avLst/>
          </a:prstGeom>
        </p:spPr>
      </p:pic>
      <p:sp>
        <p:nvSpPr>
          <p:cNvPr name="AutoShape 6" id="6"/>
          <p:cNvSpPr/>
          <p:nvPr/>
        </p:nvSpPr>
        <p:spPr>
          <a:xfrm rot="0" flipH="false" flipV="false">
            <a:off x="1422400" y="2336800"/>
            <a:ext cx="4826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5E7EB"/>
                </a:solidFill>
                <a:latin typeface="Noto Sans SC"/>
                <a:ea typeface="Noto Sans SC"/>
                <a:cs typeface="Noto Sans SC"/>
                <a:sym typeface="Noto Sans SC"/>
              </a:rPr>
              <a:t>背景信息</a:t>
            </a:r>
            <a:endParaRPr lang="en-US" sz="1100"/>
          </a:p>
        </p:txBody>
      </p:sp>
      <p:sp>
        <p:nvSpPr>
          <p:cNvPr name="AutoShape 7" id="7"/>
          <p:cNvSpPr/>
          <p:nvPr/>
        </p:nvSpPr>
        <p:spPr>
          <a:xfrm rot="0" flipH="false" flipV="false">
            <a:off x="1422400" y="2717800"/>
            <a:ext cx="4826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67岁，单身，有自住房，有$200,000 Super，领取部分政府养老金。</a:t>
            </a:r>
            <a:endParaRPr lang="en-US" sz="1100"/>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479800"/>
            <a:ext cx="254000" cy="254000"/>
          </a:xfrm>
          <a:prstGeom prst="rect">
            <a:avLst/>
          </a:prstGeom>
        </p:spPr>
      </p:pic>
      <p:sp>
        <p:nvSpPr>
          <p:cNvPr name="AutoShape 9" id="9"/>
          <p:cNvSpPr/>
          <p:nvPr/>
        </p:nvSpPr>
        <p:spPr>
          <a:xfrm rot="0" flipH="false" flipV="false">
            <a:off x="1422400" y="3479800"/>
            <a:ext cx="4826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5E7EB"/>
                </a:solidFill>
                <a:latin typeface="Noto Sans SC"/>
                <a:ea typeface="Noto Sans SC"/>
                <a:cs typeface="Noto Sans SC"/>
                <a:sym typeface="Noto Sans SC"/>
              </a:rPr>
              <a:t>养老院费用支付</a:t>
            </a:r>
            <a:endParaRPr lang="en-US" sz="1100"/>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422400" y="3962400"/>
            <a:ext cx="203200" cy="203200"/>
          </a:xfrm>
          <a:prstGeom prst="rect">
            <a:avLst/>
          </a:prstGeom>
        </p:spPr>
      </p:pic>
      <p:sp>
        <p:nvSpPr>
          <p:cNvPr name="AutoShape 11" id="11"/>
          <p:cNvSpPr/>
          <p:nvPr/>
        </p:nvSpPr>
        <p:spPr>
          <a:xfrm rot="0" flipH="false" flipV="false">
            <a:off x="1778000" y="3962400"/>
            <a:ext cx="4445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基础日常费：$65.55/天 (养老金扣除)</a:t>
            </a:r>
            <a:endParaRPr lang="en-US" sz="1100"/>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422400" y="4470400"/>
            <a:ext cx="203200" cy="203200"/>
          </a:xfrm>
          <a:prstGeom prst="rect">
            <a:avLst/>
          </a:prstGeom>
        </p:spPr>
      </p:pic>
      <p:sp>
        <p:nvSpPr>
          <p:cNvPr name="AutoShape 13" id="13"/>
          <p:cNvSpPr/>
          <p:nvPr/>
        </p:nvSpPr>
        <p:spPr>
          <a:xfrm rot="0" flipH="false" flipV="false">
            <a:off x="1778000" y="4470400"/>
            <a:ext cx="4445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收入测试护理费：$15-30/天 (自付)</a:t>
            </a:r>
            <a:endParaRPr lang="en-US" sz="1100"/>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422400" y="4978400"/>
            <a:ext cx="203200" cy="203200"/>
          </a:xfrm>
          <a:prstGeom prst="rect">
            <a:avLst/>
          </a:prstGeom>
        </p:spPr>
      </p:pic>
      <p:sp>
        <p:nvSpPr>
          <p:cNvPr name="AutoShape 15" id="15"/>
          <p:cNvSpPr/>
          <p:nvPr/>
        </p:nvSpPr>
        <p:spPr>
          <a:xfrm rot="0" flipH="false" flipV="false">
            <a:off x="1778000" y="4978400"/>
            <a:ext cx="4445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住宿费：$30-50/天 或 $150k-$200k (RAD)</a:t>
            </a:r>
            <a:endParaRPr lang="en-US" sz="1100"/>
          </a:p>
        </p:txBody>
      </p:sp>
      <p:cxnSp>
        <p:nvCxnSpPr>
          <p:cNvPr name="Connector 16" id="16"/>
          <p:cNvCxnSpPr/>
          <p:nvPr/>
        </p:nvCxnSpPr>
        <p:spPr>
          <a:xfrm rot="-8594" flipH="false" flipV="false">
            <a:off x="1016008" y="5480050"/>
            <a:ext cx="5080000" cy="12700"/>
          </a:xfrm>
          <a:prstGeom prst="straightConnector1">
            <a:avLst/>
          </a:prstGeom>
          <a:solidFill>
            <a:srgbClr val="DEE0E3">
              <a:alpha val="100000"/>
            </a:srgbClr>
          </a:solidFill>
          <a:ln w="12700" cmpd="sng" cap="flat">
            <a:solidFill>
              <a:srgbClr val="00FFFF">
                <a:alpha val="20000"/>
              </a:srgbClr>
            </a:solidFill>
            <a:prstDash val="dash"/>
            <a:round/>
            <a:headEnd type="none" w="med" len="med"/>
            <a:tailEnd type="none" w="med" len="med"/>
          </a:ln>
        </p:spPr>
      </p:cxnSp>
      <p:sp>
        <p:nvSpPr>
          <p:cNvPr name="AutoShape 17" id="17"/>
          <p:cNvSpPr/>
          <p:nvPr/>
        </p:nvSpPr>
        <p:spPr>
          <a:xfrm rot="0" flipH="false" flipV="false">
            <a:off x="1016000" y="5689600"/>
            <a:ext cx="508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E5E7EB"/>
                </a:solidFill>
                <a:latin typeface="Noto Sans SC"/>
                <a:ea typeface="Noto Sans SC"/>
                <a:cs typeface="Noto Sans SC"/>
                <a:sym typeface="Noto Sans SC"/>
              </a:rPr>
              <a:t>总计：</a:t>
            </a:r>
            <a:r>
              <a:rPr lang="en-US" b="true" i="false" strike="noStrike" u="none" sz="1400">
                <a:solidFill>
                  <a:srgbClr val="FFD700"/>
                </a:solidFill>
                <a:latin typeface="Noto Sans SC"/>
                <a:ea typeface="Noto Sans SC"/>
                <a:cs typeface="Noto Sans SC"/>
                <a:sym typeface="Noto Sans SC"/>
              </a:rPr>
              <a:t>$110.55 - $145.55/天</a:t>
            </a:r>
            <a:r>
              <a:rPr lang="en-US" b="true" i="false" strike="noStrike" u="none" sz="1400">
                <a:solidFill>
                  <a:srgbClr val="E5E7EB"/>
                </a:solidFill>
                <a:latin typeface="Noto Sans SC"/>
                <a:ea typeface="Noto Sans SC"/>
                <a:cs typeface="Noto Sans SC"/>
                <a:sym typeface="Noto Sans SC"/>
              </a:rPr>
              <a:t>，政府与个人共同承担</a:t>
            </a:r>
            <a:endParaRPr lang="en-US" sz="1100"/>
          </a:p>
        </p:txBody>
      </p:sp>
      <p:cxnSp>
        <p:nvCxnSpPr>
          <p:cNvPr name="Connector 18" id="18"/>
          <p:cNvCxnSpPr/>
          <p:nvPr/>
        </p:nvCxnSpPr>
        <p:spPr>
          <a:xfrm rot="5389582" flipH="false" flipV="false">
            <a:off x="4381500" y="3867160"/>
            <a:ext cx="4191000" cy="12700"/>
          </a:xfrm>
          <a:prstGeom prst="straightConnector1">
            <a:avLst/>
          </a:prstGeom>
          <a:solidFill>
            <a:srgbClr val="DEE0E3">
              <a:alpha val="100000"/>
            </a:srgbClr>
          </a:solidFill>
          <a:ln w="12700" cmpd="sng" cap="flat">
            <a:solidFill>
              <a:srgbClr val="00FFFF">
                <a:alpha val="30000"/>
              </a:srgbClr>
            </a:solidFill>
            <a:prstDash val="solid"/>
            <a:round/>
            <a:headEnd type="none" w="med" len="med"/>
            <a:tailEnd type="none" w="med" len="med"/>
          </a:ln>
        </p:spPr>
      </p:cxnSp>
      <p:pic>
        <p:nvPicPr>
          <p:cNvPr name="Picture 19" id="19"/>
          <p:cNvPicPr>
            <a:picLocks noChangeAspect="true"/>
          </p:cNvPicPr>
          <p:nvPr/>
        </p:nvPicPr>
        <p:blipFill>
          <a:blip r:embed="rId8"/>
          <a:srcRect l="8984" r="8984" t="0" b="0"/>
          <a:stretch>
            <a:fillRect/>
          </a:stretch>
        </p:blipFill>
        <p:spPr>
          <a:xfrm rot="0" flipH="false" flipV="false">
            <a:off x="6858000" y="2286000"/>
            <a:ext cx="4445000" cy="3048000"/>
          </a:xfrm>
          <a:prstGeom prst="roundRect">
            <a:avLst>
              <a:gd name="adj" fmla="val 5000"/>
            </a:avLst>
          </a:prstGeom>
          <a:noFill/>
          <a:ln w="12700" cmpd="sng" cap="flat">
            <a:solidFill>
              <a:srgbClr val="00FFFF">
                <a:alpha val="100000"/>
              </a:srgbClr>
            </a:solidFill>
            <a:prstDash val="solid"/>
            <a:round/>
          </a:ln>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1182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7620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000">
                <a:solidFill>
                  <a:srgbClr val="FFFFFF"/>
                </a:solidFill>
                <a:latin typeface="Noto Sans SC"/>
                <a:ea typeface="Noto Sans SC"/>
                <a:cs typeface="Noto Sans SC"/>
                <a:sym typeface="Noto Sans SC"/>
              </a:rPr>
              <a:t>案例分析：高收入老人</a:t>
            </a:r>
            <a:endParaRPr lang="en-US" sz="1100"/>
          </a:p>
        </p:txBody>
      </p:sp>
      <p:cxnSp>
        <p:nvCxnSpPr>
          <p:cNvPr name="Connector 3" id="3"/>
          <p:cNvCxnSpPr/>
          <p:nvPr/>
        </p:nvCxnSpPr>
        <p:spPr>
          <a:xfrm rot="-4297" flipH="false" flipV="false">
            <a:off x="1016004" y="1517650"/>
            <a:ext cx="10160000" cy="12700"/>
          </a:xfrm>
          <a:prstGeom prst="straightConnector1">
            <a:avLst/>
          </a:prstGeom>
          <a:solidFill>
            <a:srgbClr val="DEE0E3">
              <a:alpha val="100000"/>
            </a:srgbClr>
          </a:solidFill>
          <a:ln w="12700" cmpd="sng" cap="flat">
            <a:solidFill>
              <a:srgbClr val="00FFFF">
                <a:alpha val="30000"/>
              </a:srgbClr>
            </a:solidFill>
            <a:prstDash val="solid"/>
            <a:round/>
            <a:headEnd type="none" w="med" len="med"/>
            <a:tailEnd type="none" w="med" len="med"/>
          </a:ln>
        </p:spPr>
      </p:cxnSp>
      <p:sp>
        <p:nvSpPr>
          <p:cNvPr name="AutoShape 4" id="4"/>
          <p:cNvSpPr/>
          <p:nvPr/>
        </p:nvSpPr>
        <p:spPr>
          <a:xfrm rot="0" flipH="false" flipV="false">
            <a:off x="1016000" y="1905000"/>
            <a:ext cx="533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FFFF"/>
                </a:solidFill>
                <a:latin typeface="Noto Sans SC"/>
                <a:ea typeface="Noto Sans SC"/>
                <a:cs typeface="Noto Sans SC"/>
                <a:sym typeface="Noto Sans SC"/>
              </a:rPr>
              <a:t>案例三：高收入老人 (老人C)</a:t>
            </a:r>
            <a:endParaRPr lang="en-US" sz="1100"/>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540000"/>
            <a:ext cx="304800" cy="304800"/>
          </a:xfrm>
          <a:prstGeom prst="rect">
            <a:avLst/>
          </a:prstGeom>
        </p:spPr>
      </p:pic>
      <p:sp>
        <p:nvSpPr>
          <p:cNvPr name="AutoShape 6" id="6"/>
          <p:cNvSpPr/>
          <p:nvPr/>
        </p:nvSpPr>
        <p:spPr>
          <a:xfrm rot="0" flipH="false" flipV="false">
            <a:off x="1473200" y="25527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5E7EB"/>
                </a:solidFill>
                <a:latin typeface="Noto Sans SC"/>
                <a:ea typeface="Noto Sans SC"/>
                <a:cs typeface="Noto Sans SC"/>
                <a:sym typeface="Noto Sans SC"/>
              </a:rPr>
              <a:t>背景信息</a:t>
            </a:r>
            <a:endParaRPr lang="en-US" sz="1100"/>
          </a:p>
        </p:txBody>
      </p:sp>
      <p:sp>
        <p:nvSpPr>
          <p:cNvPr name="AutoShape 7" id="7"/>
          <p:cNvSpPr/>
          <p:nvPr/>
        </p:nvSpPr>
        <p:spPr>
          <a:xfrm rot="0" flipH="false" flipV="false">
            <a:off x="1473200" y="2921000"/>
            <a:ext cx="4826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67岁单身，有自住房和投资房，$800,000 Super，不领取政府养老金。</a:t>
            </a:r>
            <a:endParaRPr lang="en-US" sz="1100"/>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733800"/>
            <a:ext cx="304800" cy="304800"/>
          </a:xfrm>
          <a:prstGeom prst="rect">
            <a:avLst/>
          </a:prstGeom>
        </p:spPr>
      </p:pic>
      <p:sp>
        <p:nvSpPr>
          <p:cNvPr name="AutoShape 9" id="9"/>
          <p:cNvSpPr/>
          <p:nvPr/>
        </p:nvSpPr>
        <p:spPr>
          <a:xfrm rot="0" flipH="false" flipV="false">
            <a:off x="1473200" y="37465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5E7EB"/>
                </a:solidFill>
                <a:latin typeface="Noto Sans SC"/>
                <a:ea typeface="Noto Sans SC"/>
                <a:cs typeface="Noto Sans SC"/>
                <a:sym typeface="Noto Sans SC"/>
              </a:rPr>
              <a:t>养老院费用支付 (自付)</a:t>
            </a:r>
            <a:endParaRPr lang="en-US" sz="1100"/>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524000" y="4254500"/>
            <a:ext cx="203200" cy="203200"/>
          </a:xfrm>
          <a:prstGeom prst="rect">
            <a:avLst/>
          </a:prstGeom>
        </p:spPr>
      </p:pic>
      <p:sp>
        <p:nvSpPr>
          <p:cNvPr name="AutoShape 11" id="11"/>
          <p:cNvSpPr/>
          <p:nvPr/>
        </p:nvSpPr>
        <p:spPr>
          <a:xfrm rot="0" flipH="false" flipV="false">
            <a:off x="1828800" y="4254500"/>
            <a:ext cx="457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基础日常费：$75/天</a:t>
            </a:r>
            <a:endParaRPr lang="en-US" sz="1100"/>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524000" y="4699000"/>
            <a:ext cx="203200" cy="203200"/>
          </a:xfrm>
          <a:prstGeom prst="rect">
            <a:avLst/>
          </a:prstGeom>
        </p:spPr>
      </p:pic>
      <p:sp>
        <p:nvSpPr>
          <p:cNvPr name="AutoShape 13" id="13"/>
          <p:cNvSpPr/>
          <p:nvPr/>
        </p:nvSpPr>
        <p:spPr>
          <a:xfrm rot="0" flipH="false" flipV="false">
            <a:off x="1828800" y="4699000"/>
            <a:ext cx="457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收入测试护理费：$40-60/天</a:t>
            </a:r>
            <a:endParaRPr lang="en-US" sz="1100"/>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524000" y="5143500"/>
            <a:ext cx="203200" cy="203200"/>
          </a:xfrm>
          <a:prstGeom prst="rect">
            <a:avLst/>
          </a:prstGeom>
        </p:spPr>
      </p:pic>
      <p:sp>
        <p:nvSpPr>
          <p:cNvPr name="AutoShape 15" id="15"/>
          <p:cNvSpPr/>
          <p:nvPr/>
        </p:nvSpPr>
        <p:spPr>
          <a:xfrm rot="0" flipH="false" flipV="false">
            <a:off x="1828800" y="5143500"/>
            <a:ext cx="457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住宿费 (RAD/DAP)：$70-120/天 或 $300k-$550k</a:t>
            </a:r>
            <a:endParaRPr lang="en-US" sz="1100"/>
          </a:p>
        </p:txBody>
      </p:sp>
      <p:cxnSp>
        <p:nvCxnSpPr>
          <p:cNvPr name="Connector 16" id="16"/>
          <p:cNvCxnSpPr/>
          <p:nvPr/>
        </p:nvCxnSpPr>
        <p:spPr>
          <a:xfrm rot="-8185" flipH="false" flipV="false">
            <a:off x="1016008" y="5645150"/>
            <a:ext cx="5334000" cy="12700"/>
          </a:xfrm>
          <a:prstGeom prst="straightConnector1">
            <a:avLst/>
          </a:prstGeom>
          <a:solidFill>
            <a:srgbClr val="DEE0E3">
              <a:alpha val="100000"/>
            </a:srgbClr>
          </a:solidFill>
          <a:ln w="12700" cmpd="sng" cap="flat">
            <a:solidFill>
              <a:srgbClr val="00FFFF">
                <a:alpha val="30000"/>
              </a:srgbClr>
            </a:solidFill>
            <a:prstDash val="dash"/>
            <a:round/>
            <a:headEnd type="none" w="med" len="med"/>
            <a:tailEnd type="none" w="med" len="med"/>
          </a:ln>
        </p:spPr>
      </p:cxnSp>
      <p:sp>
        <p:nvSpPr>
          <p:cNvPr name="AutoShape 17" id="17"/>
          <p:cNvSpPr/>
          <p:nvPr/>
        </p:nvSpPr>
        <p:spPr>
          <a:xfrm rot="0" flipH="false" flipV="false">
            <a:off x="1016000" y="5842000"/>
            <a:ext cx="533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总计：</a:t>
            </a:r>
            <a:r>
              <a:rPr lang="en-US" b="true" i="false" strike="noStrike" u="none" sz="1600">
                <a:solidFill>
                  <a:srgbClr val="FFD700"/>
                </a:solidFill>
                <a:latin typeface="Noto Sans SC"/>
                <a:ea typeface="Noto Sans SC"/>
                <a:cs typeface="Noto Sans SC"/>
                <a:sym typeface="Noto Sans SC"/>
              </a:rPr>
              <a:t>$185 - $255/天 (个人承担全部费用)</a:t>
            </a:r>
            <a:endParaRPr lang="en-US" sz="1100"/>
          </a:p>
        </p:txBody>
      </p:sp>
      <p:cxnSp>
        <p:nvCxnSpPr>
          <p:cNvPr name="Connector 18" id="18"/>
          <p:cNvCxnSpPr/>
          <p:nvPr/>
        </p:nvCxnSpPr>
        <p:spPr>
          <a:xfrm rot="5389582" flipH="false" flipV="false">
            <a:off x="4508500" y="3994160"/>
            <a:ext cx="4191000" cy="12700"/>
          </a:xfrm>
          <a:prstGeom prst="straightConnector1">
            <a:avLst/>
          </a:prstGeom>
          <a:solidFill>
            <a:srgbClr val="DEE0E3">
              <a:alpha val="100000"/>
            </a:srgbClr>
          </a:solidFill>
          <a:ln w="12700" cmpd="sng" cap="flat">
            <a:solidFill>
              <a:srgbClr val="00FFFF">
                <a:alpha val="30000"/>
              </a:srgbClr>
            </a:solidFill>
            <a:prstDash val="solid"/>
            <a:round/>
            <a:headEnd type="none" w="med" len="med"/>
            <a:tailEnd type="none" w="med" len="med"/>
          </a:ln>
        </p:spPr>
      </p:cxnSp>
      <p:pic>
        <p:nvPicPr>
          <p:cNvPr name="Picture 19" id="19"/>
          <p:cNvPicPr>
            <a:picLocks noChangeAspect="true"/>
          </p:cNvPicPr>
          <p:nvPr/>
        </p:nvPicPr>
        <p:blipFill>
          <a:blip r:embed="rId8"/>
          <a:srcRect l="0" r="0" t="65" b="65"/>
          <a:stretch>
            <a:fillRect/>
          </a:stretch>
        </p:blipFill>
        <p:spPr>
          <a:xfrm rot="0" flipH="false" flipV="false">
            <a:off x="6985000" y="2540000"/>
            <a:ext cx="4318000" cy="2425700"/>
          </a:xfrm>
          <a:prstGeom prst="roundRect">
            <a:avLst>
              <a:gd name="adj" fmla="val 6282"/>
            </a:avLst>
          </a:prstGeom>
          <a:noFill/>
          <a:ln w="12700" cmpd="sng" cap="flat">
            <a:solidFill>
              <a:srgbClr val="00FFFF">
                <a:alpha val="100000"/>
              </a:srgbClr>
            </a:solidFill>
            <a:prstDash val="solid"/>
            <a:round/>
          </a:ln>
        </p:spPr>
      </p:pic>
      <p:sp>
        <p:nvSpPr>
          <p:cNvPr name="AutoShape 20" id="20"/>
          <p:cNvSpPr/>
          <p:nvPr/>
        </p:nvSpPr>
        <p:spPr>
          <a:xfrm rot="0" flipH="false" flipV="false">
            <a:off x="6985000" y="5080000"/>
            <a:ext cx="4318000" cy="279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D1D5DB"/>
                </a:solidFill>
                <a:latin typeface="Noto Sans SC"/>
                <a:ea typeface="Noto Sans SC"/>
                <a:cs typeface="Noto Sans SC"/>
                <a:sym typeface="Noto Sans SC"/>
              </a:rPr>
              <a:t>RAD &amp; DAP 费用示意</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1182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7620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Noto Sans SC"/>
                <a:ea typeface="Noto Sans SC"/>
                <a:cs typeface="Noto Sans SC"/>
                <a:sym typeface="Noto Sans SC"/>
              </a:rPr>
              <a:t>不同收入水平老人费用对比</a:t>
            </a:r>
            <a:endParaRPr lang="en-US" sz="1100"/>
          </a:p>
        </p:txBody>
      </p:sp>
      <p:cxnSp>
        <p:nvCxnSpPr>
          <p:cNvPr name="Connector 3" id="3"/>
          <p:cNvCxnSpPr/>
          <p:nvPr/>
        </p:nvCxnSpPr>
        <p:spPr>
          <a:xfrm rot="-4297" flipH="false" flipV="false">
            <a:off x="1016004" y="1517650"/>
            <a:ext cx="10160000" cy="12700"/>
          </a:xfrm>
          <a:prstGeom prst="straightConnector1">
            <a:avLst/>
          </a:prstGeom>
          <a:solidFill>
            <a:srgbClr val="DEE0E3">
              <a:alpha val="100000"/>
            </a:srgbClr>
          </a:solidFill>
          <a:ln w="12700" cmpd="sng" cap="flat">
            <a:solidFill>
              <a:srgbClr val="00FFFF">
                <a:alpha val="30000"/>
              </a:srgbClr>
            </a:solidFill>
            <a:prstDash val="solid"/>
            <a:round/>
            <a:headEnd type="none" w="med" len="med"/>
            <a:tailEnd type="none" w="med" len="med"/>
          </a:ln>
        </p:spPr>
      </p:cxnSp>
      <p:sp>
        <p:nvSpPr>
          <p:cNvPr name="AutoShape 4" id="4"/>
          <p:cNvSpPr/>
          <p:nvPr/>
        </p:nvSpPr>
        <p:spPr>
          <a:xfrm rot="0" flipH="false" flipV="false">
            <a:off x="1016000" y="1905000"/>
            <a:ext cx="3302000" cy="2794000"/>
          </a:xfrm>
          <a:prstGeom prst="roundRect">
            <a:avLst>
              <a:gd name="adj" fmla="val 3636"/>
            </a:avLst>
          </a:prstGeom>
          <a:solidFill>
            <a:srgbClr val="1E293B">
              <a:alpha val="80000"/>
            </a:srgbClr>
          </a:solidFill>
          <a:ln w="12700" cmpd="sng" cap="flat">
            <a:solidFill>
              <a:srgbClr val="00FFFF">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70000" y="2159000"/>
            <a:ext cx="304800" cy="304800"/>
          </a:xfrm>
          <a:prstGeom prst="rect">
            <a:avLst/>
          </a:prstGeom>
        </p:spPr>
      </p:pic>
      <p:sp>
        <p:nvSpPr>
          <p:cNvPr name="AutoShape 6" id="6"/>
          <p:cNvSpPr/>
          <p:nvPr/>
        </p:nvSpPr>
        <p:spPr>
          <a:xfrm rot="0" flipH="false" flipV="false">
            <a:off x="1701800" y="21590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低收入 (A)</a:t>
            </a:r>
            <a:endParaRPr lang="en-US" sz="1100"/>
          </a:p>
        </p:txBody>
      </p:sp>
      <p:cxnSp>
        <p:nvCxnSpPr>
          <p:cNvPr name="Connector 7" id="7"/>
          <p:cNvCxnSpPr/>
          <p:nvPr/>
        </p:nvCxnSpPr>
        <p:spPr>
          <a:xfrm rot="-15626" flipH="false" flipV="false">
            <a:off x="1270014" y="2660650"/>
            <a:ext cx="2794000" cy="12700"/>
          </a:xfrm>
          <a:prstGeom prst="straightConnector1">
            <a:avLst/>
          </a:prstGeom>
          <a:solidFill>
            <a:srgbClr val="DEE0E3">
              <a:alpha val="100000"/>
            </a:srgbClr>
          </a:solidFill>
          <a:ln w="12700" cmpd="sng" cap="flat">
            <a:solidFill>
              <a:srgbClr val="00FFFF">
                <a:alpha val="20000"/>
              </a:srgbClr>
            </a:solidFill>
            <a:prstDash val="dash"/>
            <a:round/>
            <a:headEnd type="none" w="med" len="med"/>
            <a:tailEnd type="none" w="med" len="med"/>
          </a:ln>
        </p:spPr>
      </p:cxnSp>
      <p:sp>
        <p:nvSpPr>
          <p:cNvPr name="AutoShape 8" id="8"/>
          <p:cNvSpPr/>
          <p:nvPr/>
        </p:nvSpPr>
        <p:spPr>
          <a:xfrm rot="0" flipH="false" flipV="false">
            <a:off x="1270000" y="2921000"/>
            <a:ext cx="279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基础日常费：</a:t>
            </a:r>
            <a:r>
              <a:rPr lang="en-US" b="true" i="false" strike="noStrike" u="none" sz="1400">
                <a:solidFill>
                  <a:srgbClr val="00FFFF"/>
                </a:solidFill>
                <a:latin typeface="Noto Sans SC"/>
                <a:ea typeface="Noto Sans SC"/>
                <a:cs typeface="Noto Sans SC"/>
                <a:sym typeface="Noto Sans SC"/>
              </a:rPr>
              <a:t>$65.55 (扣除)</a:t>
            </a:r>
            <a:endParaRPr lang="en-US" sz="1100"/>
          </a:p>
        </p:txBody>
      </p:sp>
      <p:sp>
        <p:nvSpPr>
          <p:cNvPr name="AutoShape 9" id="9"/>
          <p:cNvSpPr/>
          <p:nvPr/>
        </p:nvSpPr>
        <p:spPr>
          <a:xfrm rot="0" flipH="false" flipV="false">
            <a:off x="1270000" y="3429000"/>
            <a:ext cx="279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护理费/住宿费：</a:t>
            </a:r>
            <a:r>
              <a:rPr lang="en-US" b="true" i="false" strike="noStrike" u="none" sz="1400">
                <a:solidFill>
                  <a:srgbClr val="00FFFF"/>
                </a:solidFill>
                <a:latin typeface="Noto Sans SC"/>
                <a:ea typeface="Noto Sans SC"/>
                <a:cs typeface="Noto Sans SC"/>
                <a:sym typeface="Noto Sans SC"/>
              </a:rPr>
              <a:t>$0</a:t>
            </a:r>
            <a:endParaRPr lang="en-US" sz="1100"/>
          </a:p>
        </p:txBody>
      </p:sp>
      <p:sp>
        <p:nvSpPr>
          <p:cNvPr name="AutoShape 10" id="10"/>
          <p:cNvSpPr/>
          <p:nvPr/>
        </p:nvSpPr>
        <p:spPr>
          <a:xfrm rot="0" flipH="false" flipV="false">
            <a:off x="1270000" y="39370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总计/天：</a:t>
            </a:r>
            <a:r>
              <a:rPr lang="en-US" b="true" i="false" strike="noStrike" u="none" sz="1600">
                <a:solidFill>
                  <a:srgbClr val="FFD700"/>
                </a:solidFill>
                <a:latin typeface="Noto Sans SC"/>
                <a:ea typeface="Noto Sans SC"/>
                <a:cs typeface="Noto Sans SC"/>
                <a:sym typeface="Noto Sans SC"/>
              </a:rPr>
              <a:t>$65.55</a:t>
            </a:r>
            <a:endParaRPr lang="en-US" sz="1100"/>
          </a:p>
        </p:txBody>
      </p:sp>
      <p:sp>
        <p:nvSpPr>
          <p:cNvPr name="AutoShape 11" id="11"/>
          <p:cNvSpPr/>
          <p:nvPr/>
        </p:nvSpPr>
        <p:spPr>
          <a:xfrm rot="0" flipH="false" flipV="false">
            <a:off x="4445000" y="1905000"/>
            <a:ext cx="3302000" cy="2794000"/>
          </a:xfrm>
          <a:prstGeom prst="roundRect">
            <a:avLst>
              <a:gd name="adj" fmla="val 3636"/>
            </a:avLst>
          </a:prstGeom>
          <a:solidFill>
            <a:srgbClr val="1E293B">
              <a:alpha val="80000"/>
            </a:srgbClr>
          </a:solidFill>
          <a:ln w="12700" cmpd="sng" cap="flat">
            <a:solidFill>
              <a:srgbClr val="00FFFF">
                <a:alpha val="10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159000"/>
            <a:ext cx="304800" cy="304800"/>
          </a:xfrm>
          <a:prstGeom prst="rect">
            <a:avLst/>
          </a:prstGeom>
        </p:spPr>
      </p:pic>
      <p:sp>
        <p:nvSpPr>
          <p:cNvPr name="AutoShape 13" id="13"/>
          <p:cNvSpPr/>
          <p:nvPr/>
        </p:nvSpPr>
        <p:spPr>
          <a:xfrm rot="0" flipH="false" flipV="false">
            <a:off x="5130800" y="21590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中等收入 (B)</a:t>
            </a:r>
            <a:endParaRPr lang="en-US" sz="1100"/>
          </a:p>
        </p:txBody>
      </p:sp>
      <p:cxnSp>
        <p:nvCxnSpPr>
          <p:cNvPr name="Connector 14" id="14"/>
          <p:cNvCxnSpPr/>
          <p:nvPr/>
        </p:nvCxnSpPr>
        <p:spPr>
          <a:xfrm rot="-15626" flipH="false" flipV="false">
            <a:off x="4699014" y="2660650"/>
            <a:ext cx="2794000" cy="12700"/>
          </a:xfrm>
          <a:prstGeom prst="straightConnector1">
            <a:avLst/>
          </a:prstGeom>
          <a:solidFill>
            <a:srgbClr val="DEE0E3">
              <a:alpha val="100000"/>
            </a:srgbClr>
          </a:solidFill>
          <a:ln w="12700" cmpd="sng" cap="flat">
            <a:solidFill>
              <a:srgbClr val="00FFFF">
                <a:alpha val="20000"/>
              </a:srgbClr>
            </a:solidFill>
            <a:prstDash val="dash"/>
            <a:round/>
            <a:headEnd type="none" w="med" len="med"/>
            <a:tailEnd type="none" w="med" len="med"/>
          </a:ln>
        </p:spPr>
      </p:cxnSp>
      <p:sp>
        <p:nvSpPr>
          <p:cNvPr name="AutoShape 15" id="15"/>
          <p:cNvSpPr/>
          <p:nvPr/>
        </p:nvSpPr>
        <p:spPr>
          <a:xfrm rot="0" flipH="false" flipV="false">
            <a:off x="4699000" y="2921000"/>
            <a:ext cx="279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基础日常费：</a:t>
            </a:r>
            <a:r>
              <a:rPr lang="en-US" b="true" i="false" strike="noStrike" u="none" sz="1400">
                <a:solidFill>
                  <a:srgbClr val="00FFFF"/>
                </a:solidFill>
                <a:latin typeface="Noto Sans SC"/>
                <a:ea typeface="Noto Sans SC"/>
                <a:cs typeface="Noto Sans SC"/>
                <a:sym typeface="Noto Sans SC"/>
              </a:rPr>
              <a:t>$65.55 (扣除)</a:t>
            </a:r>
            <a:endParaRPr lang="en-US" sz="1100"/>
          </a:p>
        </p:txBody>
      </p:sp>
      <p:sp>
        <p:nvSpPr>
          <p:cNvPr name="AutoShape 16" id="16"/>
          <p:cNvSpPr/>
          <p:nvPr/>
        </p:nvSpPr>
        <p:spPr>
          <a:xfrm rot="0" flipH="false" flipV="false">
            <a:off x="4699000" y="3429000"/>
            <a:ext cx="279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自付部分：</a:t>
            </a:r>
            <a:r>
              <a:rPr lang="en-US" b="true" i="false" strike="noStrike" u="none" sz="1400">
                <a:solidFill>
                  <a:srgbClr val="00FFFF"/>
                </a:solidFill>
                <a:latin typeface="Noto Sans SC"/>
                <a:ea typeface="Noto Sans SC"/>
                <a:cs typeface="Noto Sans SC"/>
                <a:sym typeface="Noto Sans SC"/>
              </a:rPr>
              <a:t>$45 - $80</a:t>
            </a:r>
            <a:endParaRPr lang="en-US" sz="1100"/>
          </a:p>
        </p:txBody>
      </p:sp>
      <p:sp>
        <p:nvSpPr>
          <p:cNvPr name="AutoShape 17" id="17"/>
          <p:cNvSpPr/>
          <p:nvPr/>
        </p:nvSpPr>
        <p:spPr>
          <a:xfrm rot="0" flipH="false" flipV="false">
            <a:off x="4699000" y="39370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总计/天：</a:t>
            </a:r>
            <a:r>
              <a:rPr lang="en-US" b="true" i="false" strike="noStrike" u="none" sz="1600">
                <a:solidFill>
                  <a:srgbClr val="FFD700"/>
                </a:solidFill>
                <a:latin typeface="Noto Sans SC"/>
                <a:ea typeface="Noto Sans SC"/>
                <a:cs typeface="Noto Sans SC"/>
                <a:sym typeface="Noto Sans SC"/>
              </a:rPr>
              <a:t>$110.55 - $145.55</a:t>
            </a:r>
            <a:endParaRPr lang="en-US" sz="1100"/>
          </a:p>
        </p:txBody>
      </p:sp>
      <p:sp>
        <p:nvSpPr>
          <p:cNvPr name="AutoShape 18" id="18"/>
          <p:cNvSpPr/>
          <p:nvPr/>
        </p:nvSpPr>
        <p:spPr>
          <a:xfrm rot="0" flipH="false" flipV="false">
            <a:off x="7874000" y="1905000"/>
            <a:ext cx="3302000" cy="2794000"/>
          </a:xfrm>
          <a:prstGeom prst="roundRect">
            <a:avLst>
              <a:gd name="adj" fmla="val 3636"/>
            </a:avLst>
          </a:prstGeom>
          <a:solidFill>
            <a:srgbClr val="1E293B">
              <a:alpha val="80000"/>
            </a:srgbClr>
          </a:solidFill>
          <a:ln w="12700" cmpd="sng" cap="flat">
            <a:solidFill>
              <a:srgbClr val="00FFFF">
                <a:alpha val="10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128000" y="2159000"/>
            <a:ext cx="304800" cy="304800"/>
          </a:xfrm>
          <a:prstGeom prst="rect">
            <a:avLst/>
          </a:prstGeom>
        </p:spPr>
      </p:pic>
      <p:sp>
        <p:nvSpPr>
          <p:cNvPr name="AutoShape 20" id="20"/>
          <p:cNvSpPr/>
          <p:nvPr/>
        </p:nvSpPr>
        <p:spPr>
          <a:xfrm rot="0" flipH="false" flipV="false">
            <a:off x="8559800" y="21590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高收入 (C)</a:t>
            </a:r>
            <a:endParaRPr lang="en-US" sz="1100"/>
          </a:p>
        </p:txBody>
      </p:sp>
      <p:cxnSp>
        <p:nvCxnSpPr>
          <p:cNvPr name="Connector 21" id="21"/>
          <p:cNvCxnSpPr/>
          <p:nvPr/>
        </p:nvCxnSpPr>
        <p:spPr>
          <a:xfrm rot="-15626" flipH="false" flipV="false">
            <a:off x="8128014" y="2660650"/>
            <a:ext cx="2794000" cy="12700"/>
          </a:xfrm>
          <a:prstGeom prst="straightConnector1">
            <a:avLst/>
          </a:prstGeom>
          <a:solidFill>
            <a:srgbClr val="DEE0E3">
              <a:alpha val="100000"/>
            </a:srgbClr>
          </a:solidFill>
          <a:ln w="12700" cmpd="sng" cap="flat">
            <a:solidFill>
              <a:srgbClr val="00FFFF">
                <a:alpha val="20000"/>
              </a:srgbClr>
            </a:solidFill>
            <a:prstDash val="dash"/>
            <a:round/>
            <a:headEnd type="none" w="med" len="med"/>
            <a:tailEnd type="none" w="med" len="med"/>
          </a:ln>
        </p:spPr>
      </p:cxnSp>
      <p:sp>
        <p:nvSpPr>
          <p:cNvPr name="AutoShape 22" id="22"/>
          <p:cNvSpPr/>
          <p:nvPr/>
        </p:nvSpPr>
        <p:spPr>
          <a:xfrm rot="0" flipH="false" flipV="false">
            <a:off x="8128000" y="2921000"/>
            <a:ext cx="279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基础日常费：</a:t>
            </a:r>
            <a:r>
              <a:rPr lang="en-US" b="true" i="false" strike="noStrike" u="none" sz="1400">
                <a:solidFill>
                  <a:srgbClr val="00FFFF"/>
                </a:solidFill>
                <a:latin typeface="Noto Sans SC"/>
                <a:ea typeface="Noto Sans SC"/>
                <a:cs typeface="Noto Sans SC"/>
                <a:sym typeface="Noto Sans SC"/>
              </a:rPr>
              <a:t>$75 (自付)</a:t>
            </a:r>
            <a:endParaRPr lang="en-US" sz="1100"/>
          </a:p>
        </p:txBody>
      </p:sp>
      <p:sp>
        <p:nvSpPr>
          <p:cNvPr name="AutoShape 23" id="23"/>
          <p:cNvSpPr/>
          <p:nvPr/>
        </p:nvSpPr>
        <p:spPr>
          <a:xfrm rot="0" flipH="false" flipV="false">
            <a:off x="8128000" y="3429000"/>
            <a:ext cx="279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护理/住宿费：</a:t>
            </a:r>
            <a:r>
              <a:rPr lang="en-US" b="true" i="false" strike="noStrike" u="none" sz="1400">
                <a:solidFill>
                  <a:srgbClr val="00FFFF"/>
                </a:solidFill>
                <a:latin typeface="Noto Sans SC"/>
                <a:ea typeface="Noto Sans SC"/>
                <a:cs typeface="Noto Sans SC"/>
                <a:sym typeface="Noto Sans SC"/>
              </a:rPr>
              <a:t>$110 - $180</a:t>
            </a:r>
            <a:endParaRPr lang="en-US" sz="1100"/>
          </a:p>
        </p:txBody>
      </p:sp>
      <p:sp>
        <p:nvSpPr>
          <p:cNvPr name="AutoShape 24" id="24"/>
          <p:cNvSpPr/>
          <p:nvPr/>
        </p:nvSpPr>
        <p:spPr>
          <a:xfrm rot="0" flipH="false" flipV="false">
            <a:off x="8128000" y="39370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总计/天：</a:t>
            </a:r>
            <a:r>
              <a:rPr lang="en-US" b="true" i="false" strike="noStrike" u="none" sz="1600">
                <a:solidFill>
                  <a:srgbClr val="FFD700"/>
                </a:solidFill>
                <a:latin typeface="Noto Sans SC"/>
                <a:ea typeface="Noto Sans SC"/>
                <a:cs typeface="Noto Sans SC"/>
                <a:sym typeface="Noto Sans SC"/>
              </a:rPr>
              <a:t>$185 - $255</a:t>
            </a:r>
            <a:endParaRPr lang="en-US" sz="1100"/>
          </a:p>
        </p:txBody>
      </p:sp>
      <p:cxnSp>
        <p:nvCxnSpPr>
          <p:cNvPr name="Connector 25" id="25"/>
          <p:cNvCxnSpPr/>
          <p:nvPr/>
        </p:nvCxnSpPr>
        <p:spPr>
          <a:xfrm rot="-4297" flipH="false" flipV="false">
            <a:off x="1016004" y="4946650"/>
            <a:ext cx="10160000" cy="12700"/>
          </a:xfrm>
          <a:prstGeom prst="straightConnector1">
            <a:avLst/>
          </a:prstGeom>
          <a:solidFill>
            <a:srgbClr val="DEE0E3">
              <a:alpha val="100000"/>
            </a:srgbClr>
          </a:solidFill>
          <a:ln w="12700" cmpd="sng" cap="flat">
            <a:solidFill>
              <a:srgbClr val="00FFFF">
                <a:alpha val="30000"/>
              </a:srgbClr>
            </a:solidFill>
            <a:prstDash val="solid"/>
            <a:round/>
            <a:headEnd type="none" w="med" len="med"/>
            <a:tailEnd type="none" w="med" len="med"/>
          </a:ln>
        </p:spPr>
      </p:cxnSp>
      <p:pic>
        <p:nvPicPr>
          <p:cNvPr name="Picture 26" id="2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5334000"/>
            <a:ext cx="406400" cy="406400"/>
          </a:xfrm>
          <a:prstGeom prst="rect">
            <a:avLst/>
          </a:prstGeom>
        </p:spPr>
      </p:pic>
      <p:sp>
        <p:nvSpPr>
          <p:cNvPr name="AutoShape 27" id="27"/>
          <p:cNvSpPr/>
          <p:nvPr/>
        </p:nvSpPr>
        <p:spPr>
          <a:xfrm rot="0" flipH="false" flipV="false">
            <a:off x="1625600" y="5384800"/>
            <a:ext cx="9652000" cy="6096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D1D5DB"/>
                </a:solidFill>
                <a:latin typeface="Noto Sans SC"/>
                <a:ea typeface="Noto Sans SC"/>
                <a:cs typeface="Noto Sans SC"/>
                <a:sym typeface="Noto Sans SC"/>
              </a:rPr>
              <a:t>收入越低，政府补贴比例越高；收入越高，个人承担费用越多，体现了费用体系的分级保障原则。</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1182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889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000">
                <a:solidFill>
                  <a:srgbClr val="FFFFFF"/>
                </a:solidFill>
                <a:latin typeface="Noto Sans SC"/>
                <a:ea typeface="Noto Sans SC"/>
                <a:cs typeface="Noto Sans SC"/>
                <a:sym typeface="Noto Sans SC"/>
              </a:rPr>
              <a:t>养老金与养老院费用支付总结</a:t>
            </a:r>
            <a:endParaRPr lang="en-US" sz="1100"/>
          </a:p>
        </p:txBody>
      </p:sp>
      <p:cxnSp>
        <p:nvCxnSpPr>
          <p:cNvPr name="Connector 3" id="3"/>
          <p:cNvCxnSpPr/>
          <p:nvPr/>
        </p:nvCxnSpPr>
        <p:spPr>
          <a:xfrm rot="-4297" flipH="false" flipV="false">
            <a:off x="1016004" y="1581150"/>
            <a:ext cx="10160000" cy="12700"/>
          </a:xfrm>
          <a:prstGeom prst="straightConnector1">
            <a:avLst/>
          </a:prstGeom>
          <a:solidFill>
            <a:srgbClr val="DEE0E3">
              <a:alpha val="100000"/>
            </a:srgbClr>
          </a:solidFill>
          <a:ln w="25400" cmpd="sng" cap="flat">
            <a:solidFill>
              <a:srgbClr val="00FFFF">
                <a:alpha val="100000"/>
              </a:srgbClr>
            </a:solidFill>
            <a:prstDash val="solid"/>
            <a:round/>
            <a:headEnd type="none" w="lg" len="lg"/>
            <a:tailEnd type="none" w="lg" len="lg"/>
          </a:ln>
        </p:spPr>
      </p:cxn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032000"/>
            <a:ext cx="304800" cy="304800"/>
          </a:xfrm>
          <a:prstGeom prst="rect">
            <a:avLst/>
          </a:prstGeom>
        </p:spPr>
      </p:pic>
      <p:sp>
        <p:nvSpPr>
          <p:cNvPr name="AutoShape 5" id="5"/>
          <p:cNvSpPr/>
          <p:nvPr/>
        </p:nvSpPr>
        <p:spPr>
          <a:xfrm rot="0" flipH="false" flipV="false">
            <a:off x="1524000" y="20320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养老金是基础</a:t>
            </a:r>
            <a:endParaRPr lang="en-US" sz="1100"/>
          </a:p>
        </p:txBody>
      </p:sp>
      <p:sp>
        <p:nvSpPr>
          <p:cNvPr name="AutoShape 6" id="6"/>
          <p:cNvSpPr/>
          <p:nvPr/>
        </p:nvSpPr>
        <p:spPr>
          <a:xfrm rot="0" flipH="false" flipV="false">
            <a:off x="1524000" y="2413000"/>
            <a:ext cx="4826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D1D5DB"/>
                </a:solidFill>
                <a:latin typeface="Noto Sans SC"/>
                <a:ea typeface="Noto Sans SC"/>
                <a:cs typeface="Noto Sans SC"/>
                <a:sym typeface="Noto Sans SC"/>
              </a:rPr>
              <a:t>政府养老金是低收入老人支付养老院费用的基础保障。</a:t>
            </a:r>
            <a:endParaRPr lang="en-US" sz="1100"/>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3175000"/>
            <a:ext cx="304800" cy="304800"/>
          </a:xfrm>
          <a:prstGeom prst="rect">
            <a:avLst/>
          </a:prstGeom>
        </p:spPr>
      </p:pic>
      <p:sp>
        <p:nvSpPr>
          <p:cNvPr name="AutoShape 8" id="8"/>
          <p:cNvSpPr/>
          <p:nvPr/>
        </p:nvSpPr>
        <p:spPr>
          <a:xfrm rot="0" flipH="false" flipV="false">
            <a:off x="1524000" y="31750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超级年金是补充</a:t>
            </a:r>
            <a:endParaRPr lang="en-US" sz="1100"/>
          </a:p>
        </p:txBody>
      </p:sp>
      <p:sp>
        <p:nvSpPr>
          <p:cNvPr name="AutoShape 9" id="9"/>
          <p:cNvSpPr/>
          <p:nvPr/>
        </p:nvSpPr>
        <p:spPr>
          <a:xfrm rot="0" flipH="false" flipV="false">
            <a:off x="1524000" y="3556000"/>
            <a:ext cx="4826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D1D5DB"/>
                </a:solidFill>
                <a:latin typeface="Noto Sans SC"/>
                <a:ea typeface="Noto Sans SC"/>
                <a:cs typeface="Noto Sans SC"/>
                <a:sym typeface="Noto Sans SC"/>
              </a:rPr>
              <a:t>超级年金为中高收入老人提供重要补充和更大灵活性。</a:t>
            </a:r>
            <a:endParaRPr lang="en-US" sz="1100"/>
          </a:p>
        </p:txBody>
      </p:sp>
      <p:pic>
        <p:nvPicPr>
          <p:cNvPr name="Picture 10" id="10"/>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4318000"/>
            <a:ext cx="304800" cy="304800"/>
          </a:xfrm>
          <a:prstGeom prst="rect">
            <a:avLst/>
          </a:prstGeom>
        </p:spPr>
      </p:pic>
      <p:sp>
        <p:nvSpPr>
          <p:cNvPr name="AutoShape 11" id="11"/>
          <p:cNvSpPr/>
          <p:nvPr/>
        </p:nvSpPr>
        <p:spPr>
          <a:xfrm rot="0" flipH="false" flipV="false">
            <a:off x="1524000" y="43180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费用与收入挂钩</a:t>
            </a:r>
            <a:endParaRPr lang="en-US" sz="1100"/>
          </a:p>
        </p:txBody>
      </p:sp>
      <p:sp>
        <p:nvSpPr>
          <p:cNvPr name="AutoShape 12" id="12"/>
          <p:cNvSpPr/>
          <p:nvPr/>
        </p:nvSpPr>
        <p:spPr>
          <a:xfrm rot="0" flipH="false" flipV="false">
            <a:off x="1524000" y="4699000"/>
            <a:ext cx="4826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D1D5DB"/>
                </a:solidFill>
                <a:latin typeface="Noto Sans SC"/>
                <a:ea typeface="Noto Sans SC"/>
                <a:cs typeface="Noto Sans SC"/>
                <a:sym typeface="Noto Sans SC"/>
              </a:rPr>
              <a:t>个人承担部分与个人的收入和资产状况直接相关。</a:t>
            </a:r>
            <a:endParaRPr lang="en-US" sz="1100"/>
          </a:p>
        </p:txBody>
      </p:sp>
      <p:pic>
        <p:nvPicPr>
          <p:cNvPr name="Picture 13" id="1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5461000"/>
            <a:ext cx="304800" cy="304800"/>
          </a:xfrm>
          <a:prstGeom prst="rect">
            <a:avLst/>
          </a:prstGeom>
        </p:spPr>
      </p:pic>
      <p:sp>
        <p:nvSpPr>
          <p:cNvPr name="AutoShape 14" id="14"/>
          <p:cNvSpPr/>
          <p:nvPr/>
        </p:nvSpPr>
        <p:spPr>
          <a:xfrm rot="0" flipH="false" flipV="false">
            <a:off x="1524000" y="54610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规划是关键</a:t>
            </a:r>
            <a:endParaRPr lang="en-US" sz="1100"/>
          </a:p>
        </p:txBody>
      </p:sp>
      <p:cxnSp>
        <p:nvCxnSpPr>
          <p:cNvPr name="Connector 15" id="15"/>
          <p:cNvCxnSpPr/>
          <p:nvPr/>
        </p:nvCxnSpPr>
        <p:spPr>
          <a:xfrm rot="5388540" flipH="false" flipV="false">
            <a:off x="4699000" y="3930661"/>
            <a:ext cx="3810000" cy="12700"/>
          </a:xfrm>
          <a:prstGeom prst="straightConnector1">
            <a:avLst/>
          </a:prstGeom>
          <a:solidFill>
            <a:srgbClr val="DEE0E3">
              <a:alpha val="100000"/>
            </a:srgbClr>
          </a:solidFill>
          <a:ln w="12700" cmpd="sng" cap="flat">
            <a:solidFill>
              <a:srgbClr val="00FFFF">
                <a:alpha val="30000"/>
              </a:srgbClr>
            </a:solidFill>
            <a:prstDash val="dash"/>
            <a:round/>
            <a:headEnd type="none" w="med" len="med"/>
            <a:tailEnd type="none" w="med" len="med"/>
          </a:ln>
        </p:spPr>
      </p:cxnSp>
      <p:pic>
        <p:nvPicPr>
          <p:cNvPr name="Picture 16" id="16"/>
          <p:cNvPicPr>
            <a:picLocks noChangeAspect="true"/>
          </p:cNvPicPr>
          <p:nvPr/>
        </p:nvPicPr>
        <p:blipFill>
          <a:blip r:embed="rId4"/>
          <a:srcRect l="0" r="0" t="0" b="0"/>
          <a:stretch>
            <a:fillRect/>
          </a:stretch>
        </p:blipFill>
        <p:spPr>
          <a:xfrm rot="0" flipH="false" flipV="false">
            <a:off x="7112000" y="2540000"/>
            <a:ext cx="4064000" cy="2286000"/>
          </a:xfrm>
          <a:prstGeom prst="roundRect">
            <a:avLst>
              <a:gd name="adj" fmla="val 6666"/>
            </a:avLst>
          </a:prstGeom>
          <a:noFill/>
          <a:ln w="25400" cmpd="sng" cap="flat">
            <a:solidFill>
              <a:srgbClr val="FFD700">
                <a:alpha val="100000"/>
              </a:srgbClr>
            </a:solidFill>
            <a:prstDash val="solid"/>
            <a:round/>
          </a:ln>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2286000" y="2413000"/>
            <a:ext cx="7620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6000">
                <a:solidFill>
                  <a:srgbClr val="FFFFFF"/>
                </a:solidFill>
                <a:latin typeface="Noto Sans SC"/>
                <a:ea typeface="Noto Sans SC"/>
                <a:cs typeface="Noto Sans SC"/>
                <a:sym typeface="Noto Sans SC"/>
              </a:rPr>
              <a:t>Q&amp;A</a:t>
            </a:r>
            <a:endParaRPr lang="en-US" sz="1100"/>
          </a:p>
        </p:txBody>
      </p:sp>
      <p:sp>
        <p:nvSpPr>
          <p:cNvPr name="AutoShape 5" id="5"/>
          <p:cNvSpPr/>
          <p:nvPr/>
        </p:nvSpPr>
        <p:spPr>
          <a:xfrm rot="0" flipH="false" flipV="false">
            <a:off x="5334000" y="3619500"/>
            <a:ext cx="1524000" cy="50800"/>
          </a:xfrm>
          <a:prstGeom prst="roundRect">
            <a:avLst>
              <a:gd name="adj" fmla="val 0"/>
            </a:avLst>
          </a:prstGeom>
          <a:solidFill>
            <a:srgbClr val="00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2286000" y="3937000"/>
            <a:ext cx="762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E5E7EB"/>
                </a:solidFill>
                <a:latin typeface="Noto Sans SC"/>
                <a:ea typeface="Noto Sans SC"/>
                <a:cs typeface="Noto Sans SC"/>
                <a:sym typeface="Noto Sans SC"/>
              </a:rPr>
              <a:t>欢迎提问</a:t>
            </a:r>
            <a:endParaRPr lang="en-US" sz="1100"/>
          </a:p>
        </p:txBody>
      </p:sp>
      <p:pic>
        <p:nvPicPr>
          <p:cNvPr name="Picture 7" id="7"/>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